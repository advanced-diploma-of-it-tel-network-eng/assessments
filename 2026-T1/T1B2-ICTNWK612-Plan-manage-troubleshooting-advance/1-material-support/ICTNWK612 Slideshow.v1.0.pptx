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10287000" cx="18288000"/>
  <p:notesSz cx="6858000" cy="9144000"/>
  <p:embeddedFontLst>
    <p:embeddedFont>
      <p:font typeface="Montserrat Light"/>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4" roundtripDataSignature="AMtx7mhOR9qKluVV9f+rXo2IiUPEyDEj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Light-italic.fntdata"/><Relationship Id="rId61" Type="http://schemas.openxmlformats.org/officeDocument/2006/relationships/font" Target="fonts/MontserratLight-bold.fntdata"/><Relationship Id="rId20" Type="http://schemas.openxmlformats.org/officeDocument/2006/relationships/slide" Target="slides/slide15.xml"/><Relationship Id="rId64" Type="http://customschemas.google.com/relationships/presentationmetadata" Target="metadata"/><Relationship Id="rId63" Type="http://schemas.openxmlformats.org/officeDocument/2006/relationships/font" Target="fonts/MontserratLight-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MontserratLight-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2" name="Google Shape;71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 name="Google Shape;829;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 name="Google Shape;84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 name="Google Shape;94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1" name="Google Shape;96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 name="Google Shape;977;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5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5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6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6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6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6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4"/>
          <p:cNvSpPr/>
          <p:nvPr>
            <p:ph idx="2" type="pic"/>
          </p:nvPr>
        </p:nvSpPr>
        <p:spPr>
          <a:xfrm>
            <a:off x="1792288" y="612775"/>
            <a:ext cx="5486400" cy="4114800"/>
          </a:xfrm>
          <a:prstGeom prst="rect">
            <a:avLst/>
          </a:prstGeom>
          <a:noFill/>
          <a:ln>
            <a:noFill/>
          </a:ln>
        </p:spPr>
      </p:sp>
      <p:sp>
        <p:nvSpPr>
          <p:cNvPr id="68" name="Google Shape;68;p6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youtube.com/watch?v=8UZlwhiWKmA"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www.ibm.com/docs/en/i/7.3?topic=communications-common-networking-standards" TargetMode="External"/><Relationship Id="rId4" Type="http://schemas.openxmlformats.org/officeDocument/2006/relationships/hyperlink" Target="https://www.ibm.com/docs/en/i/7.3?topic=networking-concepts" TargetMode="External"/><Relationship Id="rId5" Type="http://schemas.openxmlformats.org/officeDocument/2006/relationships/hyperlink" Target="https://www.imperva.com/learn/application-security/osi-model/" TargetMode="External"/><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blog.gigamon.com/2019/03/21/what-is-network-management/"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varonis.com/blog/network-segmentation/" TargetMode="External"/><Relationship Id="rId4" Type="http://schemas.openxmlformats.org/officeDocument/2006/relationships/hyperlink" Target="https://hitinfrastructure.com/features/how-network-segregation-and-segmentation-can-stop-ransomware-attacks" TargetMode="External"/><Relationship Id="rId5" Type="http://schemas.openxmlformats.org/officeDocument/2006/relationships/hyperlink" Target="https://www.spamtitan.com/web-filtering/network-segmentation-best-practices/" TargetMode="External"/><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solutionsreview.com/network-monitoring/the-8-best-ip-monitoring-tools-for-enterprises-and-it-teams/" TargetMode="Externa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www.tek-tools.com/network/top-network-latency-testing-tools" TargetMode="External"/><Relationship Id="rId4" Type="http://schemas.openxmlformats.org/officeDocument/2006/relationships/hyperlink" Target="https://www.manageengine.com/network-monitoring/network-testing-tools.html" TargetMode="External"/><Relationship Id="rId5" Type="http://schemas.openxmlformats.org/officeDocument/2006/relationships/hyperlink" Target="https://www.exfo.com/en/products/expert-ip-test-tools/" TargetMode="External"/><Relationship Id="rId6"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comparitech.com/net-admin/network-monitoring-tools/" TargetMode="External"/><Relationship Id="rId4" Type="http://schemas.openxmlformats.org/officeDocument/2006/relationships/hyperlink" Target="https://www.guru99.com/best-network-testing-tools.html" TargetMode="External"/><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cisco.com/c/en_au/solutions/automation/what-is-network-monitoring.html#~benefits" TargetMode="Externa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youtube.com/watch?v=NBuVNzbFqW4" TargetMode="Externa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www.cisco.com/c/en/us/support/docs/ios-nx-os-software/ios-software-releases-110/13178-15.html" TargetMode="External"/><Relationship Id="rId4" Type="http://schemas.openxmlformats.org/officeDocument/2006/relationships/hyperlink" Target="https://www.guru99.com/routing-protocol-types.html" TargetMode="External"/><Relationship Id="rId5" Type="http://schemas.openxmlformats.org/officeDocument/2006/relationships/hyperlink" Target="https://www.cloudflare.com/en-au/learning/network-layer/what-is-routing/" TargetMode="Externa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userpages.uni-koblenz.de/~ros/Rechnerorganisation/internetworking.pdf" TargetMode="Externa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hyperlink" Target="https://planetechusa.com/vlan-technology/" TargetMode="Externa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www.cisco.com/en/US/docs/general/Test/dwerblo/broken_guide/pvlans.html#wp1134140" TargetMode="External"/><Relationship Id="rId4" Type="http://schemas.openxmlformats.org/officeDocument/2006/relationships/hyperlink" Target="https://packetlife.net/blog/2010/aug/30/basic-private-vlan-configuration/" TargetMode="External"/><Relationship Id="rId5"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hyperlink" Target="https://www.youtube.com/watch?v=eWtwsX9AS6w" TargetMode="Externa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hyperlink" Target="https://www.thousandeyes.com/learning/glossary/traceroute" TargetMode="External"/><Relationship Id="rId4" Type="http://schemas.openxmlformats.org/officeDocument/2006/relationships/hyperlink" Target="https://getvoip.com/blog/2016/10/19/troubleshooting-voip-connections/" TargetMode="External"/><Relationship Id="rId5"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www.cisco.com/c/en/us/support/docs/lan-switching/ethernet/12006-chapter22.html#topic1" TargetMode="Externa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43B"/>
        </a:solidFill>
      </p:bgPr>
    </p:bg>
    <p:spTree>
      <p:nvGrpSpPr>
        <p:cNvPr id="87" name="Shape 87"/>
        <p:cNvGrpSpPr/>
        <p:nvPr/>
      </p:nvGrpSpPr>
      <p:grpSpPr>
        <a:xfrm>
          <a:off x="0" y="0"/>
          <a:ext cx="0" cy="0"/>
          <a:chOff x="0" y="0"/>
          <a:chExt cx="0" cy="0"/>
        </a:xfrm>
      </p:grpSpPr>
      <p:sp>
        <p:nvSpPr>
          <p:cNvPr id="88" name="Google Shape;88;p1"/>
          <p:cNvSpPr/>
          <p:nvPr/>
        </p:nvSpPr>
        <p:spPr>
          <a:xfrm>
            <a:off x="0" y="8136093"/>
            <a:ext cx="18288000" cy="2150907"/>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
          <p:cNvSpPr txBox="1"/>
          <p:nvPr/>
        </p:nvSpPr>
        <p:spPr>
          <a:xfrm>
            <a:off x="1028700" y="2055092"/>
            <a:ext cx="7120939" cy="925382"/>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6000" u="none" cap="none" strike="noStrike">
                <a:solidFill>
                  <a:schemeClr val="lt1"/>
                </a:solidFill>
                <a:latin typeface="Arial"/>
                <a:ea typeface="Arial"/>
                <a:cs typeface="Arial"/>
                <a:sym typeface="Arial"/>
              </a:rPr>
              <a:t>ICTNWK612</a:t>
            </a:r>
            <a:endParaRPr/>
          </a:p>
        </p:txBody>
      </p:sp>
      <p:grpSp>
        <p:nvGrpSpPr>
          <p:cNvPr id="90" name="Google Shape;90;p1"/>
          <p:cNvGrpSpPr/>
          <p:nvPr/>
        </p:nvGrpSpPr>
        <p:grpSpPr>
          <a:xfrm>
            <a:off x="1028700" y="876300"/>
            <a:ext cx="17590875" cy="227806"/>
            <a:chOff x="0" y="-24217"/>
            <a:chExt cx="23454501" cy="303741"/>
          </a:xfrm>
        </p:grpSpPr>
        <p:sp>
          <p:nvSpPr>
            <p:cNvPr id="91" name="Google Shape;91;p1"/>
            <p:cNvSpPr/>
            <p:nvPr/>
          </p:nvSpPr>
          <p:spPr>
            <a:xfrm>
              <a:off x="0" y="125899"/>
              <a:ext cx="23454501" cy="2772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
            <p:cNvSpPr/>
            <p:nvPr/>
          </p:nvSpPr>
          <p:spPr>
            <a:xfrm>
              <a:off x="0" y="-24217"/>
              <a:ext cx="292033" cy="27952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7770499" y="0"/>
              <a:ext cx="292033" cy="279524"/>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p:nvPr/>
          </p:nvSpPr>
          <p:spPr>
            <a:xfrm>
              <a:off x="15540998" y="0"/>
              <a:ext cx="292033" cy="279524"/>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
          <p:cNvSpPr txBox="1"/>
          <p:nvPr/>
        </p:nvSpPr>
        <p:spPr>
          <a:xfrm>
            <a:off x="2494756" y="3824674"/>
            <a:ext cx="9697244" cy="2438232"/>
          </a:xfrm>
          <a:prstGeom prst="rect">
            <a:avLst/>
          </a:prstGeom>
          <a:noFill/>
          <a:ln>
            <a:noFill/>
          </a:ln>
        </p:spPr>
        <p:txBody>
          <a:bodyPr anchorCtr="0" anchor="t" bIns="0" lIns="0" spcFirstLastPara="1" rIns="0" wrap="square" tIns="0">
            <a:spAutoFit/>
          </a:bodyPr>
          <a:lstStyle/>
          <a:p>
            <a:pPr indent="0" lvl="0" marL="0" marR="0" rtl="0" algn="l">
              <a:lnSpc>
                <a:spcPct val="129500"/>
              </a:lnSpc>
              <a:spcBef>
                <a:spcPts val="0"/>
              </a:spcBef>
              <a:spcAft>
                <a:spcPts val="0"/>
              </a:spcAft>
              <a:buNone/>
            </a:pPr>
            <a:r>
              <a:rPr b="0" i="0" lang="en-US" sz="5000" u="none" cap="none" strike="noStrike">
                <a:solidFill>
                  <a:schemeClr val="lt1"/>
                </a:solidFill>
                <a:latin typeface="Arial"/>
                <a:ea typeface="Arial"/>
                <a:cs typeface="Arial"/>
                <a:sym typeface="Arial"/>
              </a:rPr>
              <a:t>Plan and manage troubleshooting advanced integrated IP networks</a:t>
            </a:r>
            <a:endParaRPr/>
          </a:p>
        </p:txBody>
      </p:sp>
      <p:pic>
        <p:nvPicPr>
          <p:cNvPr descr="A screenshot of a cell phone&#10;&#10;Description automatically generated" id="96" name="Google Shape;96;p1"/>
          <p:cNvPicPr preferRelativeResize="0"/>
          <p:nvPr/>
        </p:nvPicPr>
        <p:blipFill rotWithShape="1">
          <a:blip r:embed="rId3">
            <a:alphaModFix/>
          </a:blip>
          <a:srcRect b="0" l="0" r="0" t="0"/>
          <a:stretch/>
        </p:blipFill>
        <p:spPr>
          <a:xfrm>
            <a:off x="11887200" y="1638300"/>
            <a:ext cx="5404100" cy="5747251"/>
          </a:xfrm>
          <a:prstGeom prst="rect">
            <a:avLst/>
          </a:prstGeom>
          <a:noFill/>
          <a:ln>
            <a:noFill/>
          </a:ln>
        </p:spPr>
      </p:pic>
      <p:pic>
        <p:nvPicPr>
          <p:cNvPr id="97" name="Google Shape;97;p1" title="MIC Logo.png"/>
          <p:cNvPicPr preferRelativeResize="0"/>
          <p:nvPr/>
        </p:nvPicPr>
        <p:blipFill>
          <a:blip r:embed="rId4">
            <a:alphaModFix/>
          </a:blip>
          <a:stretch>
            <a:fillRect/>
          </a:stretch>
        </p:blipFill>
        <p:spPr>
          <a:xfrm>
            <a:off x="13481275" y="8663605"/>
            <a:ext cx="4515927" cy="1095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
          <p:cNvSpPr/>
          <p:nvPr/>
        </p:nvSpPr>
        <p:spPr>
          <a:xfrm>
            <a:off x="0" y="1290497"/>
            <a:ext cx="18288000" cy="8196478"/>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txBox="1"/>
          <p:nvPr/>
        </p:nvSpPr>
        <p:spPr>
          <a:xfrm>
            <a:off x="1044000" y="1866900"/>
            <a:ext cx="16655652" cy="174823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5200" u="none" cap="none" strike="noStrike">
                <a:solidFill>
                  <a:schemeClr val="lt1"/>
                </a:solidFill>
                <a:latin typeface="Arial"/>
                <a:ea typeface="Arial"/>
                <a:cs typeface="Arial"/>
                <a:sym typeface="Arial"/>
              </a:rPr>
              <a:t>Topic 1: Strategies to troubleshoot and monitor advanced integrated IP networks</a:t>
            </a:r>
            <a:endParaRPr/>
          </a:p>
        </p:txBody>
      </p:sp>
      <p:grpSp>
        <p:nvGrpSpPr>
          <p:cNvPr id="105" name="Google Shape;105;p2"/>
          <p:cNvGrpSpPr/>
          <p:nvPr/>
        </p:nvGrpSpPr>
        <p:grpSpPr>
          <a:xfrm>
            <a:off x="1028700" y="495300"/>
            <a:ext cx="17259300" cy="218203"/>
            <a:chOff x="1028700" y="723900"/>
            <a:chExt cx="17259300" cy="218203"/>
          </a:xfrm>
        </p:grpSpPr>
        <p:sp>
          <p:nvSpPr>
            <p:cNvPr id="106" name="Google Shape;106;p2"/>
            <p:cNvSpPr/>
            <p:nvPr/>
          </p:nvSpPr>
          <p:spPr>
            <a:xfrm>
              <a:off x="1044000" y="826884"/>
              <a:ext cx="17244000" cy="20795"/>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1028700" y="72390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6856574" y="73246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12684448" y="73246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200" u="none" cap="none" strike="noStrike">
                <a:solidFill>
                  <a:srgbClr val="00667A"/>
                </a:solidFill>
                <a:latin typeface="Arial"/>
                <a:ea typeface="Arial"/>
                <a:cs typeface="Arial"/>
                <a:sym typeface="Arial"/>
              </a:rPr>
              <a:t>© 2021 </a:t>
            </a:r>
            <a:r>
              <a:rPr lang="en-US" sz="1200">
                <a:solidFill>
                  <a:srgbClr val="00667A"/>
                </a:solidFill>
              </a:rPr>
              <a:t>Milestones International College</a:t>
            </a:r>
            <a:endParaRPr/>
          </a:p>
        </p:txBody>
      </p:sp>
      <p:sp>
        <p:nvSpPr>
          <p:cNvPr id="111" name="Google Shape;111;p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i="0" lang="en-US" sz="1200" u="none" cap="none" strike="noStrike">
                <a:solidFill>
                  <a:srgbClr val="31859C"/>
                </a:solidFill>
                <a:latin typeface="Arial"/>
                <a:ea typeface="Arial"/>
                <a:cs typeface="Arial"/>
                <a:sym typeface="Arial"/>
              </a:rPr>
              <a:t>‹#›</a:t>
            </a:fld>
            <a:endParaRPr b="1" i="0" sz="1200" u="none" cap="none" strike="noStrike">
              <a:solidFill>
                <a:srgbClr val="31859C"/>
              </a:solidFill>
              <a:latin typeface="Arial"/>
              <a:ea typeface="Arial"/>
              <a:cs typeface="Arial"/>
              <a:sym typeface="Arial"/>
            </a:endParaRPr>
          </a:p>
        </p:txBody>
      </p:sp>
      <p:sp>
        <p:nvSpPr>
          <p:cNvPr id="112" name="Google Shape;112;p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pic>
        <p:nvPicPr>
          <p:cNvPr descr="A picture containing text, indoor, electronics, computer&#10;&#10;Description automatically generated" id="113" name="Google Shape;113;p2"/>
          <p:cNvPicPr preferRelativeResize="0"/>
          <p:nvPr/>
        </p:nvPicPr>
        <p:blipFill rotWithShape="1">
          <a:blip r:embed="rId3">
            <a:alphaModFix/>
          </a:blip>
          <a:srcRect b="0" l="0" r="0" t="0"/>
          <a:stretch/>
        </p:blipFill>
        <p:spPr>
          <a:xfrm>
            <a:off x="5718492" y="4509625"/>
            <a:ext cx="6851015" cy="3986675"/>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118" name="Shape 118"/>
        <p:cNvGrpSpPr/>
        <p:nvPr/>
      </p:nvGrpSpPr>
      <p:grpSpPr>
        <a:xfrm>
          <a:off x="0" y="0"/>
          <a:ext cx="0" cy="0"/>
          <a:chOff x="0" y="0"/>
          <a:chExt cx="0" cy="0"/>
        </a:xfrm>
      </p:grpSpPr>
      <p:sp>
        <p:nvSpPr>
          <p:cNvPr id="119" name="Google Shape;119;p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i="0" lang="en-US" sz="3200" u="none" cap="none" strike="noStrike">
                <a:solidFill>
                  <a:schemeClr val="lt1"/>
                </a:solidFill>
                <a:latin typeface="Arial"/>
                <a:ea typeface="Arial"/>
                <a:cs typeface="Arial"/>
                <a:sym typeface="Arial"/>
              </a:rPr>
              <a:t>ACTIVITY: BRAINSTORM </a:t>
            </a:r>
            <a:endParaRPr b="1" i="0" sz="2500" u="none" cap="none" strike="noStrike">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Threats and risks that can occur if an integrated network is not continually tested and monitored.</a:t>
            </a:r>
            <a:endParaRPr/>
          </a:p>
          <a:p>
            <a:pPr indent="0" lvl="0" marL="0" marR="0" rtl="0" algn="l">
              <a:lnSpc>
                <a:spcPct val="114000"/>
              </a:lnSpc>
              <a:spcBef>
                <a:spcPts val="1200"/>
              </a:spcBef>
              <a:spcAft>
                <a:spcPts val="0"/>
              </a:spcAft>
              <a:buNone/>
            </a:pPr>
            <a:r>
              <a:rPr b="0" i="0" lang="en-US" sz="3000" u="none" cap="none" strike="noStrike">
                <a:solidFill>
                  <a:schemeClr val="lt1"/>
                </a:solidFill>
                <a:latin typeface="Arial"/>
                <a:ea typeface="Arial"/>
                <a:cs typeface="Arial"/>
                <a:sym typeface="Arial"/>
              </a:rPr>
              <a:t>Your trainer/assessor will facilitate a discussion.</a:t>
            </a:r>
            <a:endParaRPr/>
          </a:p>
        </p:txBody>
      </p:sp>
      <p:grpSp>
        <p:nvGrpSpPr>
          <p:cNvPr id="121" name="Google Shape;121;p3"/>
          <p:cNvGrpSpPr/>
          <p:nvPr/>
        </p:nvGrpSpPr>
        <p:grpSpPr>
          <a:xfrm>
            <a:off x="1028700" y="495300"/>
            <a:ext cx="17259300" cy="218203"/>
            <a:chOff x="1028700" y="723900"/>
            <a:chExt cx="17259300" cy="218203"/>
          </a:xfrm>
        </p:grpSpPr>
        <p:sp>
          <p:nvSpPr>
            <p:cNvPr id="122" name="Google Shape;122;p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126" name="Google Shape;126;p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127" name="Google Shape;127;p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chemeClr val="lt1"/>
                </a:solidFill>
              </a:rPr>
              <a:t>© 2021 Milestones International College</a:t>
            </a:r>
            <a:endParaRPr sz="1200">
              <a:solidFill>
                <a:schemeClr val="lt1"/>
              </a:solidFill>
            </a:endParaRPr>
          </a:p>
        </p:txBody>
      </p:sp>
      <p:sp>
        <p:nvSpPr>
          <p:cNvPr id="128" name="Google Shape;128;p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
        <p:nvSpPr>
          <p:cNvPr id="129" name="Google Shape;129;p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130" name="Google Shape;130;p3"/>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b="0" i="0" lang="en-US" sz="4600" u="none" cap="none" strike="noStrike">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4"/>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b="0" i="0" lang="en-US" sz="4800" u="none" cap="none" strike="noStrike">
                <a:solidFill>
                  <a:srgbClr val="F4F8F3"/>
                </a:solidFill>
                <a:latin typeface="Montserrat Light"/>
                <a:ea typeface="Montserrat Light"/>
                <a:cs typeface="Montserrat Light"/>
                <a:sym typeface="Montserrat Light"/>
              </a:rPr>
              <a:t>Topic 1: Insert topic title </a:t>
            </a:r>
            <a:endParaRPr/>
          </a:p>
        </p:txBody>
      </p:sp>
      <p:grpSp>
        <p:nvGrpSpPr>
          <p:cNvPr id="136" name="Google Shape;136;p4"/>
          <p:cNvGrpSpPr/>
          <p:nvPr/>
        </p:nvGrpSpPr>
        <p:grpSpPr>
          <a:xfrm>
            <a:off x="1028700" y="446788"/>
            <a:ext cx="17244000" cy="220041"/>
            <a:chOff x="0" y="0"/>
            <a:chExt cx="23454501" cy="293387"/>
          </a:xfrm>
        </p:grpSpPr>
        <p:sp>
          <p:nvSpPr>
            <p:cNvPr id="137" name="Google Shape;137;p4"/>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4"/>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4"/>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143" name="Google Shape;143;p4"/>
          <p:cNvSpPr txBox="1"/>
          <p:nvPr/>
        </p:nvSpPr>
        <p:spPr>
          <a:xfrm>
            <a:off x="1028700" y="1676834"/>
            <a:ext cx="12687300" cy="119750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INTRODUCTION</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Integrated IP networks can include:</a:t>
            </a:r>
            <a:endParaRPr sz="2500">
              <a:solidFill>
                <a:srgbClr val="00667A"/>
              </a:solidFill>
              <a:latin typeface="Arial"/>
              <a:ea typeface="Arial"/>
              <a:cs typeface="Arial"/>
              <a:sym typeface="Arial"/>
            </a:endParaRPr>
          </a:p>
        </p:txBody>
      </p:sp>
      <p:sp>
        <p:nvSpPr>
          <p:cNvPr id="144" name="Google Shape;144;p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u="none">
                <a:solidFill>
                  <a:srgbClr val="31859C"/>
                </a:solidFill>
                <a:latin typeface="Arial"/>
                <a:ea typeface="Arial"/>
                <a:cs typeface="Arial"/>
                <a:sym typeface="Arial"/>
              </a:rPr>
              <a:t>‹#›</a:t>
            </a:fld>
            <a:endParaRPr b="1" sz="1200" u="none">
              <a:solidFill>
                <a:srgbClr val="31859C"/>
              </a:solidFill>
              <a:latin typeface="Arial"/>
              <a:ea typeface="Arial"/>
              <a:cs typeface="Arial"/>
              <a:sym typeface="Arial"/>
            </a:endParaRPr>
          </a:p>
        </p:txBody>
      </p:sp>
      <p:sp>
        <p:nvSpPr>
          <p:cNvPr id="145" name="Google Shape;145;p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200">
                <a:solidFill>
                  <a:srgbClr val="00667A"/>
                </a:solidFill>
              </a:rPr>
              <a:t>© 2021 Milestones International College</a:t>
            </a:r>
            <a:endParaRPr sz="1200">
              <a:solidFill>
                <a:srgbClr val="00667A"/>
              </a:solidFill>
            </a:endParaRPr>
          </a:p>
        </p:txBody>
      </p:sp>
      <p:sp>
        <p:nvSpPr>
          <p:cNvPr id="146" name="Google Shape;146;p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grpSp>
        <p:nvGrpSpPr>
          <p:cNvPr id="147" name="Google Shape;147;p4"/>
          <p:cNvGrpSpPr/>
          <p:nvPr/>
        </p:nvGrpSpPr>
        <p:grpSpPr>
          <a:xfrm>
            <a:off x="2571750" y="4081397"/>
            <a:ext cx="13144499" cy="1085727"/>
            <a:chOff x="0" y="213395"/>
            <a:chExt cx="13144499" cy="1085727"/>
          </a:xfrm>
        </p:grpSpPr>
        <p:sp>
          <p:nvSpPr>
            <p:cNvPr id="148" name="Google Shape;148;p4"/>
            <p:cNvSpPr/>
            <p:nvPr/>
          </p:nvSpPr>
          <p:spPr>
            <a:xfrm>
              <a:off x="0" y="213395"/>
              <a:ext cx="4107656" cy="1085727"/>
            </a:xfrm>
            <a:prstGeom prst="roundRect">
              <a:avLst>
                <a:gd fmla="val 16667" name="adj"/>
              </a:avLst>
            </a:prstGeom>
            <a:solidFill>
              <a:srgbClr val="E7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txBox="1"/>
            <p:nvPr/>
          </p:nvSpPr>
          <p:spPr>
            <a:xfrm>
              <a:off x="53001" y="266396"/>
              <a:ext cx="4001654" cy="979725"/>
            </a:xfrm>
            <a:prstGeom prst="rect">
              <a:avLst/>
            </a:prstGeom>
            <a:noFill/>
            <a:ln>
              <a:noFill/>
            </a:ln>
          </p:spPr>
          <p:txBody>
            <a:bodyPr anchorCtr="0" anchor="ctr" bIns="114300" lIns="114300" spcFirstLastPara="1" rIns="114300" wrap="square" tIns="114300">
              <a:noAutofit/>
            </a:bodyPr>
            <a:lstStyle/>
            <a:p>
              <a:pPr indent="0" lvl="0" marL="0" marR="0" rtl="0" algn="ctr">
                <a:lnSpc>
                  <a:spcPct val="90000"/>
                </a:lnSpc>
                <a:spcBef>
                  <a:spcPts val="0"/>
                </a:spcBef>
                <a:spcAft>
                  <a:spcPts val="0"/>
                </a:spcAft>
                <a:buClr>
                  <a:srgbClr val="00667A"/>
                </a:buClr>
                <a:buSzPts val="3000"/>
                <a:buFont typeface="Arial"/>
                <a:buNone/>
              </a:pPr>
              <a:r>
                <a:rPr lang="en-US" sz="3000">
                  <a:solidFill>
                    <a:srgbClr val="00667A"/>
                  </a:solidFill>
                  <a:latin typeface="Arial"/>
                  <a:ea typeface="Arial"/>
                  <a:cs typeface="Arial"/>
                  <a:sym typeface="Arial"/>
                </a:rPr>
                <a:t>Data</a:t>
              </a:r>
              <a:endParaRPr/>
            </a:p>
          </p:txBody>
        </p:sp>
        <p:sp>
          <p:nvSpPr>
            <p:cNvPr id="150" name="Google Shape;150;p4"/>
            <p:cNvSpPr/>
            <p:nvPr/>
          </p:nvSpPr>
          <p:spPr>
            <a:xfrm>
              <a:off x="4518421" y="213395"/>
              <a:ext cx="4107656" cy="1085727"/>
            </a:xfrm>
            <a:prstGeom prst="roundRect">
              <a:avLst>
                <a:gd fmla="val 16667" name="adj"/>
              </a:avLst>
            </a:prstGeom>
            <a:solidFill>
              <a:srgbClr val="E7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txBox="1"/>
            <p:nvPr/>
          </p:nvSpPr>
          <p:spPr>
            <a:xfrm>
              <a:off x="4571422" y="266396"/>
              <a:ext cx="4001654" cy="979725"/>
            </a:xfrm>
            <a:prstGeom prst="rect">
              <a:avLst/>
            </a:prstGeom>
            <a:noFill/>
            <a:ln>
              <a:noFill/>
            </a:ln>
          </p:spPr>
          <p:txBody>
            <a:bodyPr anchorCtr="0" anchor="ctr" bIns="114300" lIns="114300" spcFirstLastPara="1" rIns="114300" wrap="square" tIns="114300">
              <a:noAutofit/>
            </a:bodyPr>
            <a:lstStyle/>
            <a:p>
              <a:pPr indent="0" lvl="0" marL="0" marR="0" rtl="0" algn="ctr">
                <a:lnSpc>
                  <a:spcPct val="90000"/>
                </a:lnSpc>
                <a:spcBef>
                  <a:spcPts val="0"/>
                </a:spcBef>
                <a:spcAft>
                  <a:spcPts val="0"/>
                </a:spcAft>
                <a:buClr>
                  <a:srgbClr val="00667A"/>
                </a:buClr>
                <a:buSzPts val="3000"/>
                <a:buFont typeface="Arial"/>
                <a:buNone/>
              </a:pPr>
              <a:r>
                <a:rPr lang="en-US" sz="3000">
                  <a:solidFill>
                    <a:srgbClr val="00667A"/>
                  </a:solidFill>
                  <a:latin typeface="Arial"/>
                  <a:ea typeface="Arial"/>
                  <a:cs typeface="Arial"/>
                  <a:sym typeface="Arial"/>
                </a:rPr>
                <a:t>Voice</a:t>
              </a:r>
              <a:endParaRPr/>
            </a:p>
          </p:txBody>
        </p:sp>
        <p:sp>
          <p:nvSpPr>
            <p:cNvPr id="152" name="Google Shape;152;p4"/>
            <p:cNvSpPr/>
            <p:nvPr/>
          </p:nvSpPr>
          <p:spPr>
            <a:xfrm>
              <a:off x="9036843" y="213395"/>
              <a:ext cx="4107656" cy="1085727"/>
            </a:xfrm>
            <a:prstGeom prst="roundRect">
              <a:avLst>
                <a:gd fmla="val 16667" name="adj"/>
              </a:avLst>
            </a:prstGeom>
            <a:solidFill>
              <a:srgbClr val="E7FD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txBox="1"/>
            <p:nvPr/>
          </p:nvSpPr>
          <p:spPr>
            <a:xfrm>
              <a:off x="9089844" y="266396"/>
              <a:ext cx="4001654" cy="979725"/>
            </a:xfrm>
            <a:prstGeom prst="rect">
              <a:avLst/>
            </a:prstGeom>
            <a:noFill/>
            <a:ln>
              <a:noFill/>
            </a:ln>
          </p:spPr>
          <p:txBody>
            <a:bodyPr anchorCtr="0" anchor="ctr" bIns="114300" lIns="114300" spcFirstLastPara="1" rIns="114300" wrap="square" tIns="114300">
              <a:noAutofit/>
            </a:bodyPr>
            <a:lstStyle/>
            <a:p>
              <a:pPr indent="0" lvl="0" marL="0" marR="0" rtl="0" algn="ctr">
                <a:lnSpc>
                  <a:spcPct val="90000"/>
                </a:lnSpc>
                <a:spcBef>
                  <a:spcPts val="0"/>
                </a:spcBef>
                <a:spcAft>
                  <a:spcPts val="0"/>
                </a:spcAft>
                <a:buClr>
                  <a:srgbClr val="00667A"/>
                </a:buClr>
                <a:buSzPts val="3000"/>
                <a:buFont typeface="Arial"/>
                <a:buNone/>
              </a:pPr>
              <a:r>
                <a:rPr lang="en-US" sz="3000">
                  <a:solidFill>
                    <a:srgbClr val="00667A"/>
                  </a:solidFill>
                  <a:latin typeface="Arial"/>
                  <a:ea typeface="Arial"/>
                  <a:cs typeface="Arial"/>
                  <a:sym typeface="Arial"/>
                </a:rPr>
                <a:t>Video</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5"/>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159" name="Google Shape;159;p5"/>
          <p:cNvGrpSpPr/>
          <p:nvPr/>
        </p:nvGrpSpPr>
        <p:grpSpPr>
          <a:xfrm>
            <a:off x="1028700" y="446788"/>
            <a:ext cx="17244000" cy="220041"/>
            <a:chOff x="0" y="0"/>
            <a:chExt cx="23454501" cy="293387"/>
          </a:xfrm>
        </p:grpSpPr>
        <p:sp>
          <p:nvSpPr>
            <p:cNvPr id="160" name="Google Shape;160;p5"/>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5"/>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5"/>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166" name="Google Shape;166;p5"/>
          <p:cNvSpPr txBox="1"/>
          <p:nvPr/>
        </p:nvSpPr>
        <p:spPr>
          <a:xfrm>
            <a:off x="1028700" y="1676834"/>
            <a:ext cx="126873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IP NETWORK TOPOLOGIES, ARCHITECTURES, AND ELEMENTS</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Understanding networks is important to manage network performance. </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There are many types of networks such as LAN, WAN and the Internet. </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The type of network used by a business will depend on the type and size of the business, as well as how data is used. </a:t>
            </a:r>
            <a:endParaRPr/>
          </a:p>
        </p:txBody>
      </p:sp>
      <p:sp>
        <p:nvSpPr>
          <p:cNvPr id="167" name="Google Shape;167;p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168" name="Google Shape;168;p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169" name="Google Shape;169;p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174" name="Shape 174"/>
        <p:cNvGrpSpPr/>
        <p:nvPr/>
      </p:nvGrpSpPr>
      <p:grpSpPr>
        <a:xfrm>
          <a:off x="0" y="0"/>
          <a:ext cx="0" cy="0"/>
          <a:chOff x="0" y="0"/>
          <a:chExt cx="0" cy="0"/>
        </a:xfrm>
      </p:grpSpPr>
      <p:sp>
        <p:nvSpPr>
          <p:cNvPr id="175" name="Google Shape;175;p6"/>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Read about types of networks and topologies.</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Read more on network architecture.</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Read the article explaining the TCP/IP model, layers and protocols used in networking.</a:t>
            </a:r>
            <a:endParaRPr/>
          </a:p>
        </p:txBody>
      </p:sp>
      <p:grpSp>
        <p:nvGrpSpPr>
          <p:cNvPr id="177" name="Google Shape;177;p6"/>
          <p:cNvGrpSpPr/>
          <p:nvPr/>
        </p:nvGrpSpPr>
        <p:grpSpPr>
          <a:xfrm>
            <a:off x="1028700" y="495300"/>
            <a:ext cx="17259300" cy="218203"/>
            <a:chOff x="1028700" y="723900"/>
            <a:chExt cx="17259300" cy="218203"/>
          </a:xfrm>
        </p:grpSpPr>
        <p:sp>
          <p:nvSpPr>
            <p:cNvPr id="178" name="Google Shape;178;p6"/>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182" name="Google Shape;182;p6"/>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183" name="Google Shape;183;p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184" name="Google Shape;184;p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185" name="Google Shape;185;p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186" name="Google Shape;186;p6"/>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191" name="Shape 191"/>
        <p:cNvGrpSpPr/>
        <p:nvPr/>
      </p:nvGrpSpPr>
      <p:grpSpPr>
        <a:xfrm>
          <a:off x="0" y="0"/>
          <a:ext cx="0" cy="0"/>
          <a:chOff x="0" y="0"/>
          <a:chExt cx="0" cy="0"/>
        </a:xfrm>
      </p:grpSpPr>
      <p:sp>
        <p:nvSpPr>
          <p:cNvPr id="192" name="Google Shape;192;p7"/>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WATCH</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Watch the following video explaining mesh networks.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Video: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https://www.youtube.com/watch?v=8UZlwhiWKmA</a:t>
            </a:r>
            <a:r>
              <a:rPr lang="en-US" sz="3000">
                <a:solidFill>
                  <a:schemeClr val="lt1"/>
                </a:solidFill>
                <a:latin typeface="Arial"/>
                <a:ea typeface="Arial"/>
                <a:cs typeface="Arial"/>
                <a:sym typeface="Arial"/>
              </a:rPr>
              <a:t> (01:38)</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Write down any key takeaways. </a:t>
            </a:r>
            <a:endParaRPr/>
          </a:p>
        </p:txBody>
      </p:sp>
      <p:grpSp>
        <p:nvGrpSpPr>
          <p:cNvPr id="194" name="Google Shape;194;p7"/>
          <p:cNvGrpSpPr/>
          <p:nvPr/>
        </p:nvGrpSpPr>
        <p:grpSpPr>
          <a:xfrm>
            <a:off x="1028700" y="495300"/>
            <a:ext cx="17259300" cy="218203"/>
            <a:chOff x="1028700" y="723900"/>
            <a:chExt cx="17259300" cy="218203"/>
          </a:xfrm>
        </p:grpSpPr>
        <p:sp>
          <p:nvSpPr>
            <p:cNvPr id="195" name="Google Shape;195;p7"/>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199" name="Google Shape;199;p7"/>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200" name="Google Shape;200;p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201" name="Google Shape;201;p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02" name="Google Shape;202;p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203" name="Google Shape;203;p7"/>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8"/>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209" name="Google Shape;209;p8"/>
          <p:cNvGrpSpPr/>
          <p:nvPr/>
        </p:nvGrpSpPr>
        <p:grpSpPr>
          <a:xfrm>
            <a:off x="1028700" y="446788"/>
            <a:ext cx="17244000" cy="220041"/>
            <a:chOff x="0" y="0"/>
            <a:chExt cx="23454501" cy="293387"/>
          </a:xfrm>
        </p:grpSpPr>
        <p:sp>
          <p:nvSpPr>
            <p:cNvPr id="210" name="Google Shape;210;p8"/>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 name="Google Shape;214;p8"/>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8"/>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216" name="Google Shape;216;p8"/>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NETWORKING STANDARDS AND PROTOCOLS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Network standards that are related to security for applications include the different layers in the Open System Interconnect (OSI) model it defines a networking framework to implement protocols in seven layers.</a:t>
            </a:r>
            <a:endParaRPr/>
          </a:p>
        </p:txBody>
      </p:sp>
      <p:sp>
        <p:nvSpPr>
          <p:cNvPr id="217" name="Google Shape;217;p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218" name="Google Shape;218;p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219" name="Google Shape;219;p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224" name="Shape 224"/>
        <p:cNvGrpSpPr/>
        <p:nvPr/>
      </p:nvGrpSpPr>
      <p:grpSpPr>
        <a:xfrm>
          <a:off x="0" y="0"/>
          <a:ext cx="0" cy="0"/>
          <a:chOff x="0" y="0"/>
          <a:chExt cx="0" cy="0"/>
        </a:xfrm>
      </p:grpSpPr>
      <p:sp>
        <p:nvSpPr>
          <p:cNvPr id="225" name="Google Shape;225;p9"/>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txBox="1"/>
          <p:nvPr/>
        </p:nvSpPr>
        <p:spPr>
          <a:xfrm>
            <a:off x="2209800" y="1676834"/>
            <a:ext cx="14935200" cy="497084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IBM has produced documentation listing common networking standards relating to both LAN, WAN and VPN networks.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https://www.ibm.com/docs/en/i/7.3?topic=communications-common-networking-standards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4">
                  <a:extLst>
                    <a:ext uri="{A12FA001-AC4F-418D-AE19-62706E023703}">
                      <ahyp:hlinkClr val="tx"/>
                    </a:ext>
                  </a:extLst>
                </a:hlinkClick>
              </a:rPr>
              <a:t>https://www.ibm.com/docs/en/i/7.3?topic=networking-concepts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more about the OSI model.</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5">
                  <a:extLst>
                    <a:ext uri="{A12FA001-AC4F-418D-AE19-62706E023703}">
                      <ahyp:hlinkClr val="tx"/>
                    </a:ext>
                  </a:extLst>
                </a:hlinkClick>
              </a:rPr>
              <a:t>https://www.imperva.com/learn/application-security/osi-model/</a:t>
            </a:r>
            <a:r>
              <a:rPr lang="en-US" sz="3000">
                <a:solidFill>
                  <a:schemeClr val="lt1"/>
                </a:solidFill>
                <a:latin typeface="Arial"/>
                <a:ea typeface="Arial"/>
                <a:cs typeface="Arial"/>
                <a:sym typeface="Arial"/>
              </a:rPr>
              <a:t> </a:t>
            </a:r>
            <a:endParaRPr/>
          </a:p>
        </p:txBody>
      </p:sp>
      <p:grpSp>
        <p:nvGrpSpPr>
          <p:cNvPr id="227" name="Google Shape;227;p9"/>
          <p:cNvGrpSpPr/>
          <p:nvPr/>
        </p:nvGrpSpPr>
        <p:grpSpPr>
          <a:xfrm>
            <a:off x="1028700" y="495300"/>
            <a:ext cx="17259300" cy="218203"/>
            <a:chOff x="1028700" y="723900"/>
            <a:chExt cx="17259300" cy="218203"/>
          </a:xfrm>
        </p:grpSpPr>
        <p:sp>
          <p:nvSpPr>
            <p:cNvPr id="228" name="Google Shape;228;p9"/>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232" name="Google Shape;232;p9"/>
          <p:cNvPicPr preferRelativeResize="0"/>
          <p:nvPr/>
        </p:nvPicPr>
        <p:blipFill rotWithShape="1">
          <a:blip r:embed="rId6">
            <a:alphaModFix/>
          </a:blip>
          <a:srcRect b="0" l="0" r="0" t="0"/>
          <a:stretch/>
        </p:blipFill>
        <p:spPr>
          <a:xfrm flipH="1">
            <a:off x="643741" y="1676834"/>
            <a:ext cx="1207968" cy="1207968"/>
          </a:xfrm>
          <a:prstGeom prst="rect">
            <a:avLst/>
          </a:prstGeom>
          <a:noFill/>
          <a:ln>
            <a:noFill/>
          </a:ln>
        </p:spPr>
      </p:pic>
      <p:sp>
        <p:nvSpPr>
          <p:cNvPr id="233" name="Google Shape;233;p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234" name="Google Shape;234;p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35" name="Google Shape;235;p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236" name="Google Shape;236;p9"/>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0"/>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242" name="Google Shape;242;p10"/>
          <p:cNvGrpSpPr/>
          <p:nvPr/>
        </p:nvGrpSpPr>
        <p:grpSpPr>
          <a:xfrm>
            <a:off x="1028700" y="446788"/>
            <a:ext cx="17244000" cy="220041"/>
            <a:chOff x="0" y="0"/>
            <a:chExt cx="23454501" cy="293387"/>
          </a:xfrm>
        </p:grpSpPr>
        <p:sp>
          <p:nvSpPr>
            <p:cNvPr id="243" name="Google Shape;243;p10"/>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7" name="Google Shape;247;p10"/>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0"/>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249" name="Google Shape;249;p10"/>
          <p:cNvSpPr txBox="1"/>
          <p:nvPr/>
        </p:nvSpPr>
        <p:spPr>
          <a:xfrm>
            <a:off x="1028700" y="1676834"/>
            <a:ext cx="12687300" cy="179113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ADVANCED NETWORK SOLUTIONS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The network solutions chosen for an organisation should be of high performance and scalable. </a:t>
            </a:r>
            <a:endParaRPr/>
          </a:p>
        </p:txBody>
      </p:sp>
      <p:sp>
        <p:nvSpPr>
          <p:cNvPr id="250" name="Google Shape;250;p1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251" name="Google Shape;251;p1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252" name="Google Shape;252;p1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1"/>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258" name="Google Shape;258;p11"/>
          <p:cNvGrpSpPr/>
          <p:nvPr/>
        </p:nvGrpSpPr>
        <p:grpSpPr>
          <a:xfrm>
            <a:off x="1028700" y="446788"/>
            <a:ext cx="17244000" cy="220041"/>
            <a:chOff x="0" y="0"/>
            <a:chExt cx="23454501" cy="293387"/>
          </a:xfrm>
        </p:grpSpPr>
        <p:sp>
          <p:nvSpPr>
            <p:cNvPr id="259" name="Google Shape;259;p11"/>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3" name="Google Shape;263;p11"/>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1"/>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265" name="Google Shape;265;p11"/>
          <p:cNvSpPr txBox="1"/>
          <p:nvPr/>
        </p:nvSpPr>
        <p:spPr>
          <a:xfrm>
            <a:off x="1028700" y="1676834"/>
            <a:ext cx="12687300" cy="345658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OPERATING SYSTEMS</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You may be working with several different operating systems during your working life. </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Each operating system will have its own associated hardware and software used in integrated networking systems, as well as tools, configurations, protocols and networking performance tools.</a:t>
            </a:r>
            <a:endParaRPr/>
          </a:p>
        </p:txBody>
      </p:sp>
      <p:sp>
        <p:nvSpPr>
          <p:cNvPr id="266" name="Google Shape;266;p1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267" name="Google Shape;267;p1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268" name="Google Shape;268;p1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273" name="Shape 273"/>
        <p:cNvGrpSpPr/>
        <p:nvPr/>
      </p:nvGrpSpPr>
      <p:grpSpPr>
        <a:xfrm>
          <a:off x="0" y="0"/>
          <a:ext cx="0" cy="0"/>
          <a:chOff x="0" y="0"/>
          <a:chExt cx="0" cy="0"/>
        </a:xfrm>
      </p:grpSpPr>
      <p:sp>
        <p:nvSpPr>
          <p:cNvPr id="274" name="Google Shape;274;p12"/>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txBox="1"/>
          <p:nvPr/>
        </p:nvSpPr>
        <p:spPr>
          <a:xfrm>
            <a:off x="2209800" y="1676834"/>
            <a:ext cx="149352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For this first activity, provide some background on the network infrastructure that you will be using. Include any available network diagrams, maps and information provided by your trainer/assessor.</a:t>
            </a:r>
            <a:endParaRPr/>
          </a:p>
        </p:txBody>
      </p:sp>
      <p:grpSp>
        <p:nvGrpSpPr>
          <p:cNvPr id="276" name="Google Shape;276;p12"/>
          <p:cNvGrpSpPr/>
          <p:nvPr/>
        </p:nvGrpSpPr>
        <p:grpSpPr>
          <a:xfrm>
            <a:off x="1028700" y="495300"/>
            <a:ext cx="17259300" cy="218203"/>
            <a:chOff x="1028700" y="723900"/>
            <a:chExt cx="17259300" cy="218203"/>
          </a:xfrm>
        </p:grpSpPr>
        <p:sp>
          <p:nvSpPr>
            <p:cNvPr id="277" name="Google Shape;277;p12"/>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281" name="Google Shape;281;p12"/>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282" name="Google Shape;282;p1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283" name="Google Shape;283;p1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284" name="Google Shape;284;p1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285" name="Google Shape;285;p12"/>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3"/>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292" name="Google Shape;292;p13"/>
          <p:cNvGrpSpPr/>
          <p:nvPr/>
        </p:nvGrpSpPr>
        <p:grpSpPr>
          <a:xfrm>
            <a:off x="1028700" y="446788"/>
            <a:ext cx="17244000" cy="220041"/>
            <a:chOff x="0" y="0"/>
            <a:chExt cx="23454501" cy="293387"/>
          </a:xfrm>
        </p:grpSpPr>
        <p:sp>
          <p:nvSpPr>
            <p:cNvPr id="293" name="Google Shape;293;p13"/>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13"/>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3"/>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299" name="Google Shape;299;p13"/>
          <p:cNvSpPr txBox="1"/>
          <p:nvPr/>
        </p:nvSpPr>
        <p:spPr>
          <a:xfrm>
            <a:off x="1028700" y="1676834"/>
            <a:ext cx="12687300" cy="179113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OPTIMISING PERFORMANCE AND RELIABILITY</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To optimise the performance and reliability of an IP network, you can develop a plan to monitor and manage the network. </a:t>
            </a:r>
            <a:endParaRPr/>
          </a:p>
        </p:txBody>
      </p:sp>
      <p:sp>
        <p:nvSpPr>
          <p:cNvPr id="300" name="Google Shape;300;p1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301" name="Google Shape;301;p1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302" name="Google Shape;302;p1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307" name="Shape 307"/>
        <p:cNvGrpSpPr/>
        <p:nvPr/>
      </p:nvGrpSpPr>
      <p:grpSpPr>
        <a:xfrm>
          <a:off x="0" y="0"/>
          <a:ext cx="0" cy="0"/>
          <a:chOff x="0" y="0"/>
          <a:chExt cx="0" cy="0"/>
        </a:xfrm>
      </p:grpSpPr>
      <p:sp>
        <p:nvSpPr>
          <p:cNvPr id="308" name="Google Shape;308;p14"/>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more about the importance of network management here:</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3">
                  <a:extLst>
                    <a:ext uri="{A12FA001-AC4F-418D-AE19-62706E023703}">
                      <ahyp:hlinkClr val="tx"/>
                    </a:ext>
                  </a:extLst>
                </a:hlinkClick>
              </a:rPr>
              <a:t>https://blog.gigamon.com/2019/03/21/what-is-network-management/</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Make notes for future reference. </a:t>
            </a:r>
            <a:endParaRPr/>
          </a:p>
        </p:txBody>
      </p:sp>
      <p:grpSp>
        <p:nvGrpSpPr>
          <p:cNvPr id="310" name="Google Shape;310;p14"/>
          <p:cNvGrpSpPr/>
          <p:nvPr/>
        </p:nvGrpSpPr>
        <p:grpSpPr>
          <a:xfrm>
            <a:off x="1028700" y="495300"/>
            <a:ext cx="17259300" cy="218203"/>
            <a:chOff x="1028700" y="723900"/>
            <a:chExt cx="17259300" cy="218203"/>
          </a:xfrm>
        </p:grpSpPr>
        <p:sp>
          <p:nvSpPr>
            <p:cNvPr id="311" name="Google Shape;311;p14"/>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315" name="Google Shape;315;p14"/>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316" name="Google Shape;316;p1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317" name="Google Shape;317;p1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18" name="Google Shape;318;p1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319" name="Google Shape;319;p14"/>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5"/>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326" name="Google Shape;326;p15"/>
          <p:cNvGrpSpPr/>
          <p:nvPr/>
        </p:nvGrpSpPr>
        <p:grpSpPr>
          <a:xfrm>
            <a:off x="1028700" y="446788"/>
            <a:ext cx="17244000" cy="220041"/>
            <a:chOff x="0" y="0"/>
            <a:chExt cx="23454501" cy="293387"/>
          </a:xfrm>
        </p:grpSpPr>
        <p:sp>
          <p:nvSpPr>
            <p:cNvPr id="327" name="Google Shape;327;p15"/>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 name="Google Shape;331;p15"/>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5"/>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333" name="Google Shape;333;p15"/>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OPTIMISING PERFORMANCE AND RELIABILITY</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An important part of network management is performance management and fault analysis. This is usually carried out by network monitoring software included as part a network management system. </a:t>
            </a:r>
            <a:endParaRPr/>
          </a:p>
        </p:txBody>
      </p:sp>
      <p:sp>
        <p:nvSpPr>
          <p:cNvPr id="334" name="Google Shape;334;p1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335" name="Google Shape;335;p1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336" name="Google Shape;336;p1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343" name="Google Shape;343;p16"/>
          <p:cNvGrpSpPr/>
          <p:nvPr/>
        </p:nvGrpSpPr>
        <p:grpSpPr>
          <a:xfrm>
            <a:off x="1028700" y="446788"/>
            <a:ext cx="17244000" cy="220041"/>
            <a:chOff x="0" y="0"/>
            <a:chExt cx="23454501" cy="293387"/>
          </a:xfrm>
        </p:grpSpPr>
        <p:sp>
          <p:nvSpPr>
            <p:cNvPr id="344" name="Google Shape;344;p16"/>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6"/>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 name="Google Shape;348;p16"/>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6"/>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350" name="Google Shape;350;p16"/>
          <p:cNvSpPr txBox="1"/>
          <p:nvPr/>
        </p:nvSpPr>
        <p:spPr>
          <a:xfrm>
            <a:off x="1028700" y="1676834"/>
            <a:ext cx="12687300" cy="345658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NETWORK SEGMENTS</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Network segmentation is the approach used to divide a network into multiple subnets (sub networks, each acting as its own smaller network).</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When you segment the network, you can better prevent unauthorised users and protect critical assets.</a:t>
            </a:r>
            <a:endParaRPr/>
          </a:p>
        </p:txBody>
      </p:sp>
      <p:sp>
        <p:nvSpPr>
          <p:cNvPr id="351" name="Google Shape;351;p1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352" name="Google Shape;352;p1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353" name="Google Shape;353;p1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358" name="Shape 358"/>
        <p:cNvGrpSpPr/>
        <p:nvPr/>
      </p:nvGrpSpPr>
      <p:grpSpPr>
        <a:xfrm>
          <a:off x="0" y="0"/>
          <a:ext cx="0" cy="0"/>
          <a:chOff x="0" y="0"/>
          <a:chExt cx="0" cy="0"/>
        </a:xfrm>
      </p:grpSpPr>
      <p:sp>
        <p:nvSpPr>
          <p:cNvPr id="359" name="Google Shape;359;p17"/>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7"/>
          <p:cNvSpPr txBox="1"/>
          <p:nvPr/>
        </p:nvSpPr>
        <p:spPr>
          <a:xfrm>
            <a:off x="2209800" y="1676834"/>
            <a:ext cx="14935200" cy="565103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more on network segmentation: </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3">
                  <a:extLst>
                    <a:ext uri="{A12FA001-AC4F-418D-AE19-62706E023703}">
                      <ahyp:hlinkClr val="tx"/>
                    </a:ext>
                  </a:extLst>
                </a:hlinkClick>
              </a:rPr>
              <a:t>https://www.varonis.com/blog/network-segmentation/</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Implementing network segmentation: </a:t>
            </a:r>
            <a:endParaRPr/>
          </a:p>
          <a:p>
            <a:pPr indent="0" lvl="0" marL="0" marR="0" rtl="0" algn="l">
              <a:lnSpc>
                <a:spcPct val="114000"/>
              </a:lnSpc>
              <a:spcBef>
                <a:spcPts val="1200"/>
              </a:spcBef>
              <a:spcAft>
                <a:spcPts val="0"/>
              </a:spcAft>
              <a:buNone/>
            </a:pPr>
            <a:r>
              <a:rPr lang="en-US" sz="3000" u="sng">
                <a:solidFill>
                  <a:schemeClr val="lt1"/>
                </a:solidFill>
                <a:latin typeface="Arial"/>
                <a:ea typeface="Arial"/>
                <a:cs typeface="Arial"/>
                <a:sym typeface="Arial"/>
                <a:hlinkClick r:id="rId4">
                  <a:extLst>
                    <a:ext uri="{A12FA001-AC4F-418D-AE19-62706E023703}">
                      <ahyp:hlinkClr val="tx"/>
                    </a:ext>
                  </a:extLst>
                </a:hlinkClick>
              </a:rPr>
              <a:t>https://hitinfrastructure.com/features/how-network-segregation-and-segmentation-can-stop-ransomware-attacks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some best practices to improve security.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5">
                  <a:extLst>
                    <a:ext uri="{A12FA001-AC4F-418D-AE19-62706E023703}">
                      <ahyp:hlinkClr val="tx"/>
                    </a:ext>
                  </a:extLst>
                </a:hlinkClick>
              </a:rPr>
              <a:t>https://www.spamtitan.com/web-filtering/network-segmentation-best-practices/</a:t>
            </a:r>
            <a:r>
              <a:rPr lang="en-US" sz="3000">
                <a:solidFill>
                  <a:schemeClr val="lt1"/>
                </a:solidFill>
                <a:latin typeface="Arial"/>
                <a:ea typeface="Arial"/>
                <a:cs typeface="Arial"/>
                <a:sym typeface="Arial"/>
              </a:rPr>
              <a:t> </a:t>
            </a:r>
            <a:endParaRPr/>
          </a:p>
        </p:txBody>
      </p:sp>
      <p:grpSp>
        <p:nvGrpSpPr>
          <p:cNvPr id="361" name="Google Shape;361;p17"/>
          <p:cNvGrpSpPr/>
          <p:nvPr/>
        </p:nvGrpSpPr>
        <p:grpSpPr>
          <a:xfrm>
            <a:off x="1028700" y="495300"/>
            <a:ext cx="17259300" cy="218203"/>
            <a:chOff x="1028700" y="723900"/>
            <a:chExt cx="17259300" cy="218203"/>
          </a:xfrm>
        </p:grpSpPr>
        <p:sp>
          <p:nvSpPr>
            <p:cNvPr id="362" name="Google Shape;362;p17"/>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7"/>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7"/>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366" name="Google Shape;366;p17"/>
          <p:cNvPicPr preferRelativeResize="0"/>
          <p:nvPr/>
        </p:nvPicPr>
        <p:blipFill rotWithShape="1">
          <a:blip r:embed="rId6">
            <a:alphaModFix/>
          </a:blip>
          <a:srcRect b="0" l="0" r="0" t="0"/>
          <a:stretch/>
        </p:blipFill>
        <p:spPr>
          <a:xfrm flipH="1">
            <a:off x="643741" y="1676834"/>
            <a:ext cx="1207968" cy="1207968"/>
          </a:xfrm>
          <a:prstGeom prst="rect">
            <a:avLst/>
          </a:prstGeom>
          <a:noFill/>
          <a:ln>
            <a:noFill/>
          </a:ln>
        </p:spPr>
      </p:pic>
      <p:sp>
        <p:nvSpPr>
          <p:cNvPr id="367" name="Google Shape;367;p1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368" name="Google Shape;368;p1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369" name="Google Shape;369;p1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370" name="Google Shape;370;p17"/>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8"/>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377" name="Google Shape;377;p18"/>
          <p:cNvGrpSpPr/>
          <p:nvPr/>
        </p:nvGrpSpPr>
        <p:grpSpPr>
          <a:xfrm>
            <a:off x="1028700" y="446788"/>
            <a:ext cx="17244000" cy="220041"/>
            <a:chOff x="0" y="0"/>
            <a:chExt cx="23454501" cy="293387"/>
          </a:xfrm>
        </p:grpSpPr>
        <p:sp>
          <p:nvSpPr>
            <p:cNvPr id="378" name="Google Shape;378;p18"/>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2" name="Google Shape;382;p18"/>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8"/>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384" name="Google Shape;384;p18"/>
          <p:cNvSpPr txBox="1"/>
          <p:nvPr/>
        </p:nvSpPr>
        <p:spPr>
          <a:xfrm>
            <a:off x="1028700" y="1676834"/>
            <a:ext cx="126873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TESTING SEQUENCES AND SCENARIOS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It is important to plan for testing, including testing sequences and scenarios to address changes in the network, security issues, emergencies impacting business operations, a planned expansion, or possible situations that could occur. </a:t>
            </a:r>
            <a:endParaRPr/>
          </a:p>
        </p:txBody>
      </p:sp>
      <p:sp>
        <p:nvSpPr>
          <p:cNvPr id="385" name="Google Shape;385;p1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386" name="Google Shape;386;p1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387" name="Google Shape;387;p1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9"/>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394" name="Google Shape;394;p19"/>
          <p:cNvGrpSpPr/>
          <p:nvPr/>
        </p:nvGrpSpPr>
        <p:grpSpPr>
          <a:xfrm>
            <a:off x="1028700" y="446788"/>
            <a:ext cx="17244000" cy="220041"/>
            <a:chOff x="0" y="0"/>
            <a:chExt cx="23454501" cy="293387"/>
          </a:xfrm>
        </p:grpSpPr>
        <p:sp>
          <p:nvSpPr>
            <p:cNvPr id="395" name="Google Shape;395;p19"/>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9"/>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19"/>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9"/>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401" name="Google Shape;401;p19"/>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NETWORKING TESTING AND MONITORING TOOLS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“Network performance monitoring is the process of visualising, monitoring, optimising, troubleshooting and reporting on the health and availability of your network as experienced by your users.”</a:t>
            </a:r>
            <a:endParaRPr/>
          </a:p>
        </p:txBody>
      </p:sp>
      <p:sp>
        <p:nvSpPr>
          <p:cNvPr id="402" name="Google Shape;402;p1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403" name="Google Shape;403;p1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404" name="Google Shape;404;p1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409" name="Shape 409"/>
        <p:cNvGrpSpPr/>
        <p:nvPr/>
      </p:nvGrpSpPr>
      <p:grpSpPr>
        <a:xfrm>
          <a:off x="0" y="0"/>
          <a:ext cx="0" cy="0"/>
          <a:chOff x="0" y="0"/>
          <a:chExt cx="0" cy="0"/>
        </a:xfrm>
      </p:grpSpPr>
      <p:sp>
        <p:nvSpPr>
          <p:cNvPr id="410" name="Google Shape;410;p20"/>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0"/>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the following IP monitoring tools.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https://solutionsreview.com/network-monitoring/the-8-best-ip-monitoring-tools-for-enterprises-and-it-teams/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Take any notes to summarise what you have read and keep for future reference.</a:t>
            </a:r>
            <a:endParaRPr/>
          </a:p>
        </p:txBody>
      </p:sp>
      <p:grpSp>
        <p:nvGrpSpPr>
          <p:cNvPr id="412" name="Google Shape;412;p20"/>
          <p:cNvGrpSpPr/>
          <p:nvPr/>
        </p:nvGrpSpPr>
        <p:grpSpPr>
          <a:xfrm>
            <a:off x="1028700" y="495300"/>
            <a:ext cx="17259300" cy="218203"/>
            <a:chOff x="1028700" y="723900"/>
            <a:chExt cx="17259300" cy="218203"/>
          </a:xfrm>
        </p:grpSpPr>
        <p:sp>
          <p:nvSpPr>
            <p:cNvPr id="413" name="Google Shape;413;p20"/>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417" name="Google Shape;417;p20"/>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418" name="Google Shape;418;p2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419" name="Google Shape;419;p2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420" name="Google Shape;420;p2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421" name="Google Shape;421;p20"/>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1"/>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428" name="Google Shape;428;p21"/>
          <p:cNvGrpSpPr/>
          <p:nvPr/>
        </p:nvGrpSpPr>
        <p:grpSpPr>
          <a:xfrm>
            <a:off x="1028700" y="446788"/>
            <a:ext cx="17244000" cy="220041"/>
            <a:chOff x="0" y="0"/>
            <a:chExt cx="23454501" cy="293387"/>
          </a:xfrm>
        </p:grpSpPr>
        <p:sp>
          <p:nvSpPr>
            <p:cNvPr id="429" name="Google Shape;429;p21"/>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1"/>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1"/>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3" name="Google Shape;433;p21"/>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21"/>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1: Strategies to troubleshoot and monitor advanced integrated IP networks</a:t>
            </a:r>
            <a:endParaRPr/>
          </a:p>
        </p:txBody>
      </p:sp>
      <p:sp>
        <p:nvSpPr>
          <p:cNvPr id="435" name="Google Shape;435;p21"/>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NETWORKING TESTING AND MONITORING TOOLS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Network testing tools can also be used to understand the state of the network, ensure that any changes to configurations are correct, detect any attacks and can add toward an overall quality user experience. </a:t>
            </a:r>
            <a:endParaRPr/>
          </a:p>
        </p:txBody>
      </p:sp>
      <p:sp>
        <p:nvSpPr>
          <p:cNvPr id="436" name="Google Shape;436;p2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437" name="Google Shape;437;p2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438" name="Google Shape;438;p2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443" name="Shape 443"/>
        <p:cNvGrpSpPr/>
        <p:nvPr/>
      </p:nvGrpSpPr>
      <p:grpSpPr>
        <a:xfrm>
          <a:off x="0" y="0"/>
          <a:ext cx="0" cy="0"/>
          <a:chOff x="0" y="0"/>
          <a:chExt cx="0" cy="0"/>
        </a:xfrm>
      </p:grpSpPr>
      <p:sp>
        <p:nvSpPr>
          <p:cNvPr id="444" name="Google Shape;444;p22"/>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2"/>
          <p:cNvSpPr txBox="1"/>
          <p:nvPr/>
        </p:nvSpPr>
        <p:spPr>
          <a:xfrm>
            <a:off x="2209800" y="1676834"/>
            <a:ext cx="14935200" cy="512473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the following network latency testing tools.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https://www.tek-tools.com/network/top-network-latency-testing-tools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following website provides a list of network testing tools.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4">
                  <a:extLst>
                    <a:ext uri="{A12FA001-AC4F-418D-AE19-62706E023703}">
                      <ahyp:hlinkClr val="tx"/>
                    </a:ext>
                  </a:extLst>
                </a:hlinkClick>
              </a:rPr>
              <a:t>https://www.manageengine.com/network-monitoring/network-testing-tools.html</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about expert IP test tools from a software provider.</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5">
                  <a:extLst>
                    <a:ext uri="{A12FA001-AC4F-418D-AE19-62706E023703}">
                      <ahyp:hlinkClr val="tx"/>
                    </a:ext>
                  </a:extLst>
                </a:hlinkClick>
              </a:rPr>
              <a:t>https://www.exfo.com/en/products/expert-ip-test-tools/</a:t>
            </a:r>
            <a:r>
              <a:rPr lang="en-US" sz="3000">
                <a:solidFill>
                  <a:schemeClr val="lt1"/>
                </a:solidFill>
                <a:latin typeface="Arial"/>
                <a:ea typeface="Arial"/>
                <a:cs typeface="Arial"/>
                <a:sym typeface="Arial"/>
              </a:rPr>
              <a:t> </a:t>
            </a:r>
            <a:endParaRPr/>
          </a:p>
        </p:txBody>
      </p:sp>
      <p:grpSp>
        <p:nvGrpSpPr>
          <p:cNvPr id="446" name="Google Shape;446;p22"/>
          <p:cNvGrpSpPr/>
          <p:nvPr/>
        </p:nvGrpSpPr>
        <p:grpSpPr>
          <a:xfrm>
            <a:off x="1028700" y="495300"/>
            <a:ext cx="17259300" cy="218203"/>
            <a:chOff x="1028700" y="723900"/>
            <a:chExt cx="17259300" cy="218203"/>
          </a:xfrm>
        </p:grpSpPr>
        <p:sp>
          <p:nvSpPr>
            <p:cNvPr id="447" name="Google Shape;447;p22"/>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2"/>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2"/>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2"/>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451" name="Google Shape;451;p22"/>
          <p:cNvPicPr preferRelativeResize="0"/>
          <p:nvPr/>
        </p:nvPicPr>
        <p:blipFill rotWithShape="1">
          <a:blip r:embed="rId6">
            <a:alphaModFix/>
          </a:blip>
          <a:srcRect b="0" l="0" r="0" t="0"/>
          <a:stretch/>
        </p:blipFill>
        <p:spPr>
          <a:xfrm flipH="1">
            <a:off x="643741" y="1676834"/>
            <a:ext cx="1207968" cy="1207968"/>
          </a:xfrm>
          <a:prstGeom prst="rect">
            <a:avLst/>
          </a:prstGeom>
          <a:noFill/>
          <a:ln>
            <a:noFill/>
          </a:ln>
        </p:spPr>
      </p:pic>
      <p:sp>
        <p:nvSpPr>
          <p:cNvPr id="452" name="Google Shape;452;p2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453" name="Google Shape;453;p2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454" name="Google Shape;454;p2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455" name="Google Shape;455;p22"/>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460" name="Shape 460"/>
        <p:cNvGrpSpPr/>
        <p:nvPr/>
      </p:nvGrpSpPr>
      <p:grpSpPr>
        <a:xfrm>
          <a:off x="0" y="0"/>
          <a:ext cx="0" cy="0"/>
          <a:chOff x="0" y="0"/>
          <a:chExt cx="0" cy="0"/>
        </a:xfrm>
      </p:grpSpPr>
      <p:sp>
        <p:nvSpPr>
          <p:cNvPr id="461" name="Google Shape;461;p2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3"/>
          <p:cNvSpPr txBox="1"/>
          <p:nvPr/>
        </p:nvSpPr>
        <p:spPr>
          <a:xfrm>
            <a:off x="2209800" y="1676834"/>
            <a:ext cx="14935200" cy="444455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the following sites, evaluating different software tools.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Monitoring: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https://www.comparitech.com/net-admin/network-monitoring-tools/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Testing: </a:t>
            </a:r>
            <a:r>
              <a:rPr lang="en-US" sz="3000" u="sng">
                <a:solidFill>
                  <a:schemeClr val="lt1"/>
                </a:solidFill>
                <a:latin typeface="Arial"/>
                <a:ea typeface="Arial"/>
                <a:cs typeface="Arial"/>
                <a:sym typeface="Arial"/>
                <a:hlinkClick r:id="rId4">
                  <a:extLst>
                    <a:ext uri="{A12FA001-AC4F-418D-AE19-62706E023703}">
                      <ahyp:hlinkClr val="tx"/>
                    </a:ext>
                  </a:extLst>
                </a:hlinkClick>
              </a:rPr>
              <a:t>https://www.guru99.com/best-network-testing-tools.html</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Compare two software tools that can be used for monitoring and testing.</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Provide a brief summary of each, a few important specs and a link to the source of information.</a:t>
            </a:r>
            <a:endParaRPr/>
          </a:p>
        </p:txBody>
      </p:sp>
      <p:grpSp>
        <p:nvGrpSpPr>
          <p:cNvPr id="463" name="Google Shape;463;p23"/>
          <p:cNvGrpSpPr/>
          <p:nvPr/>
        </p:nvGrpSpPr>
        <p:grpSpPr>
          <a:xfrm>
            <a:off x="1028700" y="495300"/>
            <a:ext cx="17259300" cy="218203"/>
            <a:chOff x="1028700" y="723900"/>
            <a:chExt cx="17259300" cy="218203"/>
          </a:xfrm>
        </p:grpSpPr>
        <p:sp>
          <p:nvSpPr>
            <p:cNvPr id="464" name="Google Shape;464;p2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468" name="Google Shape;468;p23"/>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469" name="Google Shape;469;p2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470" name="Google Shape;470;p2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471" name="Google Shape;471;p2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472" name="Google Shape;472;p23"/>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477" name="Shape 477"/>
        <p:cNvGrpSpPr/>
        <p:nvPr/>
      </p:nvGrpSpPr>
      <p:grpSpPr>
        <a:xfrm>
          <a:off x="0" y="0"/>
          <a:ext cx="0" cy="0"/>
          <a:chOff x="0" y="0"/>
          <a:chExt cx="0" cy="0"/>
        </a:xfrm>
      </p:grpSpPr>
      <p:sp>
        <p:nvSpPr>
          <p:cNvPr id="478" name="Google Shape;478;p24"/>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4"/>
          <p:cNvSpPr txBox="1"/>
          <p:nvPr/>
        </p:nvSpPr>
        <p:spPr>
          <a:xfrm>
            <a:off x="2209800" y="1676834"/>
            <a:ext cx="14935200" cy="376436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List down what needs to be monitored and tested for the network to optimise its performance and reliability.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How can you segment the network?</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What testing sequences and scenarios could you use?</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Include this information in your portfolio document. </a:t>
            </a:r>
            <a:endParaRPr/>
          </a:p>
        </p:txBody>
      </p:sp>
      <p:grpSp>
        <p:nvGrpSpPr>
          <p:cNvPr id="480" name="Google Shape;480;p24"/>
          <p:cNvGrpSpPr/>
          <p:nvPr/>
        </p:nvGrpSpPr>
        <p:grpSpPr>
          <a:xfrm>
            <a:off x="1028700" y="495300"/>
            <a:ext cx="17259300" cy="218203"/>
            <a:chOff x="1028700" y="723900"/>
            <a:chExt cx="17259300" cy="218203"/>
          </a:xfrm>
        </p:grpSpPr>
        <p:sp>
          <p:nvSpPr>
            <p:cNvPr id="481" name="Google Shape;481;p24"/>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4"/>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4"/>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4"/>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485" name="Google Shape;485;p24"/>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486" name="Google Shape;486;p2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487" name="Google Shape;487;p2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488" name="Google Shape;488;p2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489" name="Google Shape;489;p24"/>
          <p:cNvSpPr txBox="1"/>
          <p:nvPr/>
        </p:nvSpPr>
        <p:spPr>
          <a:xfrm>
            <a:off x="864834" y="7981124"/>
            <a:ext cx="16745495" cy="1435906"/>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1: Strategies to troubleshoot and monitor advanced integrated IP networks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4" name="Shape 494"/>
        <p:cNvGrpSpPr/>
        <p:nvPr/>
      </p:nvGrpSpPr>
      <p:grpSpPr>
        <a:xfrm>
          <a:off x="0" y="0"/>
          <a:ext cx="0" cy="0"/>
          <a:chOff x="0" y="0"/>
          <a:chExt cx="0" cy="0"/>
        </a:xfrm>
      </p:grpSpPr>
      <p:sp>
        <p:nvSpPr>
          <p:cNvPr id="495" name="Google Shape;495;p25"/>
          <p:cNvSpPr/>
          <p:nvPr/>
        </p:nvSpPr>
        <p:spPr>
          <a:xfrm>
            <a:off x="0" y="1290497"/>
            <a:ext cx="18288000" cy="8196478"/>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txBox="1"/>
          <p:nvPr/>
        </p:nvSpPr>
        <p:spPr>
          <a:xfrm>
            <a:off x="1044000" y="1866900"/>
            <a:ext cx="16655652" cy="83599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5200">
                <a:solidFill>
                  <a:schemeClr val="lt1"/>
                </a:solidFill>
                <a:latin typeface="Arial"/>
                <a:ea typeface="Arial"/>
                <a:cs typeface="Arial"/>
                <a:sym typeface="Arial"/>
              </a:rPr>
              <a:t>Topic 2: Troubleshooting strategies</a:t>
            </a:r>
            <a:endParaRPr/>
          </a:p>
        </p:txBody>
      </p:sp>
      <p:grpSp>
        <p:nvGrpSpPr>
          <p:cNvPr id="497" name="Google Shape;497;p25"/>
          <p:cNvGrpSpPr/>
          <p:nvPr/>
        </p:nvGrpSpPr>
        <p:grpSpPr>
          <a:xfrm>
            <a:off x="1028700" y="495300"/>
            <a:ext cx="17259300" cy="218203"/>
            <a:chOff x="1028700" y="723900"/>
            <a:chExt cx="17259300" cy="218203"/>
          </a:xfrm>
        </p:grpSpPr>
        <p:sp>
          <p:nvSpPr>
            <p:cNvPr id="498" name="Google Shape;498;p25"/>
            <p:cNvSpPr/>
            <p:nvPr/>
          </p:nvSpPr>
          <p:spPr>
            <a:xfrm>
              <a:off x="1044000" y="826884"/>
              <a:ext cx="17244000" cy="20795"/>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5"/>
            <p:cNvSpPr/>
            <p:nvPr/>
          </p:nvSpPr>
          <p:spPr>
            <a:xfrm>
              <a:off x="1028700" y="72390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5"/>
            <p:cNvSpPr/>
            <p:nvPr/>
          </p:nvSpPr>
          <p:spPr>
            <a:xfrm>
              <a:off x="6856574" y="73246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5"/>
            <p:cNvSpPr/>
            <p:nvPr/>
          </p:nvSpPr>
          <p:spPr>
            <a:xfrm>
              <a:off x="12684448" y="73246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2" name="Google Shape;502;p2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503" name="Google Shape;503;p2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504" name="Google Shape;504;p2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pic>
        <p:nvPicPr>
          <p:cNvPr descr="A picture containing text, indoor, several&#10;&#10;Description automatically generated" id="505" name="Google Shape;505;p25"/>
          <p:cNvPicPr preferRelativeResize="0"/>
          <p:nvPr/>
        </p:nvPicPr>
        <p:blipFill rotWithShape="1">
          <a:blip r:embed="rId3">
            <a:alphaModFix/>
          </a:blip>
          <a:srcRect b="0" l="0" r="0" t="15463"/>
          <a:stretch/>
        </p:blipFill>
        <p:spPr>
          <a:xfrm>
            <a:off x="5530215" y="3695700"/>
            <a:ext cx="7227570" cy="4582479"/>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510" name="Shape 510"/>
        <p:cNvGrpSpPr/>
        <p:nvPr/>
      </p:nvGrpSpPr>
      <p:grpSpPr>
        <a:xfrm>
          <a:off x="0" y="0"/>
          <a:ext cx="0" cy="0"/>
          <a:chOff x="0" y="0"/>
          <a:chExt cx="0" cy="0"/>
        </a:xfrm>
      </p:grpSpPr>
      <p:sp>
        <p:nvSpPr>
          <p:cNvPr id="511" name="Google Shape;511;p26"/>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6"/>
          <p:cNvSpPr txBox="1"/>
          <p:nvPr/>
        </p:nvSpPr>
        <p:spPr>
          <a:xfrm>
            <a:off x="2209800" y="1676834"/>
            <a:ext cx="14935200" cy="376436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Review networking monitoring in the following article.</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https://www.cisco.com/c/en_au/solutions/automation/what-is-network-monitoring.html#~benefits</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Note down the main benefits.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What are mission critical applications?</a:t>
            </a:r>
            <a:endParaRPr/>
          </a:p>
        </p:txBody>
      </p:sp>
      <p:grpSp>
        <p:nvGrpSpPr>
          <p:cNvPr id="513" name="Google Shape;513;p26"/>
          <p:cNvGrpSpPr/>
          <p:nvPr/>
        </p:nvGrpSpPr>
        <p:grpSpPr>
          <a:xfrm>
            <a:off x="1028700" y="495300"/>
            <a:ext cx="17259300" cy="218203"/>
            <a:chOff x="1028700" y="723900"/>
            <a:chExt cx="17259300" cy="218203"/>
          </a:xfrm>
        </p:grpSpPr>
        <p:sp>
          <p:nvSpPr>
            <p:cNvPr id="514" name="Google Shape;514;p26"/>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6"/>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6"/>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6"/>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518" name="Google Shape;518;p26"/>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519" name="Google Shape;519;p2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520" name="Google Shape;520;p2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521" name="Google Shape;521;p2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522" name="Google Shape;522;p26"/>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6" name="Shape 526"/>
        <p:cNvGrpSpPr/>
        <p:nvPr/>
      </p:nvGrpSpPr>
      <p:grpSpPr>
        <a:xfrm>
          <a:off x="0" y="0"/>
          <a:ext cx="0" cy="0"/>
          <a:chOff x="0" y="0"/>
          <a:chExt cx="0" cy="0"/>
        </a:xfrm>
      </p:grpSpPr>
      <p:sp>
        <p:nvSpPr>
          <p:cNvPr id="527" name="Google Shape;527;p27"/>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528" name="Google Shape;528;p27"/>
          <p:cNvGrpSpPr/>
          <p:nvPr/>
        </p:nvGrpSpPr>
        <p:grpSpPr>
          <a:xfrm>
            <a:off x="1028700" y="446788"/>
            <a:ext cx="17244000" cy="220041"/>
            <a:chOff x="0" y="0"/>
            <a:chExt cx="23454501" cy="293387"/>
          </a:xfrm>
        </p:grpSpPr>
        <p:sp>
          <p:nvSpPr>
            <p:cNvPr id="529" name="Google Shape;529;p27"/>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7"/>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7"/>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7"/>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 name="Google Shape;533;p27"/>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27"/>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Troubleshooting strategies</a:t>
            </a:r>
            <a:endParaRPr/>
          </a:p>
        </p:txBody>
      </p:sp>
      <p:sp>
        <p:nvSpPr>
          <p:cNvPr id="535" name="Google Shape;535;p27"/>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STRATEGIES FOR NETWORK MONITORING STRUCTURE</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We have talked about monitoring and managing the IP network, but you need to implement strategies for the network monitoring structure to be effective.</a:t>
            </a:r>
            <a:endParaRPr/>
          </a:p>
        </p:txBody>
      </p:sp>
      <p:sp>
        <p:nvSpPr>
          <p:cNvPr id="536" name="Google Shape;536;p2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537" name="Google Shape;537;p2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538" name="Google Shape;538;p2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543" name="Shape 543"/>
        <p:cNvGrpSpPr/>
        <p:nvPr/>
      </p:nvGrpSpPr>
      <p:grpSpPr>
        <a:xfrm>
          <a:off x="0" y="0"/>
          <a:ext cx="0" cy="0"/>
          <a:chOff x="0" y="0"/>
          <a:chExt cx="0" cy="0"/>
        </a:xfrm>
      </p:grpSpPr>
      <p:sp>
        <p:nvSpPr>
          <p:cNvPr id="544" name="Google Shape;544;p28"/>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8"/>
          <p:cNvSpPr txBox="1"/>
          <p:nvPr/>
        </p:nvSpPr>
        <p:spPr>
          <a:xfrm>
            <a:off x="2209800" y="1676834"/>
            <a:ext cx="14935200" cy="323806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RESEARCH AND DISCUSS</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Research best practices, tools and techniques used for a network monitoring strategy.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Write these down in a professionally structured and presented document.</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Discuss with your trainer/assessor and submit for further feedback.</a:t>
            </a:r>
            <a:endParaRPr/>
          </a:p>
          <a:p>
            <a:pPr indent="0" lvl="0" marL="0" marR="0" rtl="0" algn="l">
              <a:lnSpc>
                <a:spcPct val="114000"/>
              </a:lnSpc>
              <a:spcBef>
                <a:spcPts val="1200"/>
              </a:spcBef>
              <a:spcAft>
                <a:spcPts val="0"/>
              </a:spcAft>
              <a:buNone/>
            </a:pPr>
            <a:r>
              <a:t/>
            </a:r>
            <a:endParaRPr sz="3000">
              <a:solidFill>
                <a:schemeClr val="lt1"/>
              </a:solidFill>
              <a:latin typeface="Arial"/>
              <a:ea typeface="Arial"/>
              <a:cs typeface="Arial"/>
              <a:sym typeface="Arial"/>
            </a:endParaRPr>
          </a:p>
        </p:txBody>
      </p:sp>
      <p:grpSp>
        <p:nvGrpSpPr>
          <p:cNvPr id="546" name="Google Shape;546;p28"/>
          <p:cNvGrpSpPr/>
          <p:nvPr/>
        </p:nvGrpSpPr>
        <p:grpSpPr>
          <a:xfrm>
            <a:off x="1028700" y="495300"/>
            <a:ext cx="17259300" cy="218203"/>
            <a:chOff x="1028700" y="723900"/>
            <a:chExt cx="17259300" cy="218203"/>
          </a:xfrm>
        </p:grpSpPr>
        <p:sp>
          <p:nvSpPr>
            <p:cNvPr id="547" name="Google Shape;547;p28"/>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8"/>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8"/>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8"/>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551" name="Google Shape;551;p28"/>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552" name="Google Shape;552;p2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553" name="Google Shape;553;p2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554" name="Google Shape;554;p2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555" name="Google Shape;555;p28"/>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9"/>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562" name="Google Shape;562;p29"/>
          <p:cNvGrpSpPr/>
          <p:nvPr/>
        </p:nvGrpSpPr>
        <p:grpSpPr>
          <a:xfrm>
            <a:off x="1028700" y="446788"/>
            <a:ext cx="17244000" cy="220041"/>
            <a:chOff x="0" y="0"/>
            <a:chExt cx="23454501" cy="293387"/>
          </a:xfrm>
        </p:grpSpPr>
        <p:sp>
          <p:nvSpPr>
            <p:cNvPr id="563" name="Google Shape;563;p29"/>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9"/>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9"/>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9"/>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7" name="Google Shape;567;p29"/>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29"/>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Troubleshooting strategies</a:t>
            </a:r>
            <a:endParaRPr/>
          </a:p>
        </p:txBody>
      </p:sp>
      <p:sp>
        <p:nvSpPr>
          <p:cNvPr id="569" name="Google Shape;569;p29"/>
          <p:cNvSpPr txBox="1"/>
          <p:nvPr/>
        </p:nvSpPr>
        <p:spPr>
          <a:xfrm>
            <a:off x="1028700" y="1676834"/>
            <a:ext cx="12687300" cy="228517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INTERNETWORK OPERATING SYSTEM (IOS) DEVICE MAINTENANCE PLAN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An internetwork is a collection of individual networks, connected by devices, to function as a singular larger network. </a:t>
            </a:r>
            <a:endParaRPr/>
          </a:p>
        </p:txBody>
      </p:sp>
      <p:sp>
        <p:nvSpPr>
          <p:cNvPr id="570" name="Google Shape;570;p2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571" name="Google Shape;571;p2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572" name="Google Shape;572;p2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577" name="Shape 577"/>
        <p:cNvGrpSpPr/>
        <p:nvPr/>
      </p:nvGrpSpPr>
      <p:grpSpPr>
        <a:xfrm>
          <a:off x="0" y="0"/>
          <a:ext cx="0" cy="0"/>
          <a:chOff x="0" y="0"/>
          <a:chExt cx="0" cy="0"/>
        </a:xfrm>
      </p:grpSpPr>
      <p:sp>
        <p:nvSpPr>
          <p:cNvPr id="578" name="Google Shape;578;p30"/>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0"/>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WATCH</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Watch this short video explaining the Cisco Internetwork Operating System.</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Video: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https://www.youtube.com/watch?v=NBuVNzbFqW4</a:t>
            </a:r>
            <a:r>
              <a:rPr lang="en-US" sz="3000">
                <a:solidFill>
                  <a:schemeClr val="lt1"/>
                </a:solidFill>
                <a:latin typeface="Arial"/>
                <a:ea typeface="Arial"/>
                <a:cs typeface="Arial"/>
                <a:sym typeface="Arial"/>
              </a:rPr>
              <a:t> (03:02)</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Write down any key takeaways.</a:t>
            </a:r>
            <a:endParaRPr/>
          </a:p>
        </p:txBody>
      </p:sp>
      <p:grpSp>
        <p:nvGrpSpPr>
          <p:cNvPr id="580" name="Google Shape;580;p30"/>
          <p:cNvGrpSpPr/>
          <p:nvPr/>
        </p:nvGrpSpPr>
        <p:grpSpPr>
          <a:xfrm>
            <a:off x="1028700" y="495300"/>
            <a:ext cx="17259300" cy="218203"/>
            <a:chOff x="1028700" y="723900"/>
            <a:chExt cx="17259300" cy="218203"/>
          </a:xfrm>
        </p:grpSpPr>
        <p:sp>
          <p:nvSpPr>
            <p:cNvPr id="581" name="Google Shape;581;p30"/>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0"/>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0"/>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0"/>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585" name="Google Shape;585;p30"/>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586" name="Google Shape;586;p3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587" name="Google Shape;587;p3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588" name="Google Shape;588;p3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589" name="Google Shape;589;p30"/>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1"/>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596" name="Google Shape;596;p31"/>
          <p:cNvGrpSpPr/>
          <p:nvPr/>
        </p:nvGrpSpPr>
        <p:grpSpPr>
          <a:xfrm>
            <a:off x="1028700" y="446788"/>
            <a:ext cx="17244000" cy="220041"/>
            <a:chOff x="0" y="0"/>
            <a:chExt cx="23454501" cy="293387"/>
          </a:xfrm>
        </p:grpSpPr>
        <p:sp>
          <p:nvSpPr>
            <p:cNvPr id="597" name="Google Shape;597;p31"/>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1"/>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1"/>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1"/>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1" name="Google Shape;601;p31"/>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31"/>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Troubleshooting strategies</a:t>
            </a:r>
            <a:endParaRPr/>
          </a:p>
        </p:txBody>
      </p:sp>
      <p:sp>
        <p:nvSpPr>
          <p:cNvPr id="603" name="Google Shape;603;p31"/>
          <p:cNvSpPr txBox="1"/>
          <p:nvPr/>
        </p:nvSpPr>
        <p:spPr>
          <a:xfrm>
            <a:off x="1028700" y="1676834"/>
            <a:ext cx="12687300" cy="5005922"/>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INTERNETWORK OPERATING SYSTEM (IOS) DEVICE MAINTENANCE PLAN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The routers typically run in three operating environments:</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ROM monitor</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Boot ROM</a:t>
            </a:r>
            <a:endParaRPr/>
          </a:p>
          <a:p>
            <a:pPr indent="-457200" lvl="0" marL="457200" marR="0" rtl="0" algn="l">
              <a:lnSpc>
                <a:spcPct val="114000"/>
              </a:lnSpc>
              <a:spcBef>
                <a:spcPts val="1200"/>
              </a:spcBef>
              <a:spcAft>
                <a:spcPts val="0"/>
              </a:spcAft>
              <a:buClr>
                <a:srgbClr val="00667A"/>
              </a:buClr>
              <a:buSzPts val="3000"/>
              <a:buFont typeface="Arial"/>
              <a:buChar char="•"/>
            </a:pPr>
            <a:r>
              <a:rPr lang="en-US" sz="3000">
                <a:solidFill>
                  <a:srgbClr val="00667A"/>
                </a:solidFill>
                <a:latin typeface="Arial"/>
                <a:ea typeface="Arial"/>
                <a:cs typeface="Arial"/>
                <a:sym typeface="Arial"/>
              </a:rPr>
              <a:t>Cisco IOS.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A maintenance plan should cover tasks that are going to support keeping systems running effectively. </a:t>
            </a:r>
            <a:endParaRPr/>
          </a:p>
        </p:txBody>
      </p:sp>
      <p:sp>
        <p:nvSpPr>
          <p:cNvPr id="604" name="Google Shape;604;p3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605" name="Google Shape;605;p3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606" name="Google Shape;606;p3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11" name="Shape 611"/>
        <p:cNvGrpSpPr/>
        <p:nvPr/>
      </p:nvGrpSpPr>
      <p:grpSpPr>
        <a:xfrm>
          <a:off x="0" y="0"/>
          <a:ext cx="0" cy="0"/>
          <a:chOff x="0" y="0"/>
          <a:chExt cx="0" cy="0"/>
        </a:xfrm>
      </p:grpSpPr>
      <p:sp>
        <p:nvSpPr>
          <p:cNvPr id="612" name="Google Shape;612;p32"/>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2"/>
          <p:cNvSpPr txBox="1"/>
          <p:nvPr/>
        </p:nvSpPr>
        <p:spPr>
          <a:xfrm>
            <a:off x="2209800" y="1676834"/>
            <a:ext cx="14935200" cy="512473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more on CISCO’s Internetwork Operating System (Cisco IOS).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https://www.cisco.com/c/en/us/support/docs/ios-nx-os-software/ios-software-releases-110/13178-15.html</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the following article on further information on routing protocols.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4">
                  <a:extLst>
                    <a:ext uri="{A12FA001-AC4F-418D-AE19-62706E023703}">
                      <ahyp:hlinkClr val="tx"/>
                    </a:ext>
                  </a:extLst>
                </a:hlinkClick>
              </a:rPr>
              <a:t>https://www.guru99.com/routing-protocol-types.html</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following website provides information on router operation and routing.</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5">
                  <a:extLst>
                    <a:ext uri="{A12FA001-AC4F-418D-AE19-62706E023703}">
                      <ahyp:hlinkClr val="tx"/>
                    </a:ext>
                  </a:extLst>
                </a:hlinkClick>
              </a:rPr>
              <a:t>https://www.cloudflare.com/en-au/learning/network-layer/what-is-routing/</a:t>
            </a:r>
            <a:r>
              <a:rPr lang="en-US" sz="3000">
                <a:solidFill>
                  <a:schemeClr val="lt1"/>
                </a:solidFill>
                <a:latin typeface="Arial"/>
                <a:ea typeface="Arial"/>
                <a:cs typeface="Arial"/>
                <a:sym typeface="Arial"/>
              </a:rPr>
              <a:t> </a:t>
            </a:r>
            <a:endParaRPr/>
          </a:p>
        </p:txBody>
      </p:sp>
      <p:grpSp>
        <p:nvGrpSpPr>
          <p:cNvPr id="614" name="Google Shape;614;p32"/>
          <p:cNvGrpSpPr/>
          <p:nvPr/>
        </p:nvGrpSpPr>
        <p:grpSpPr>
          <a:xfrm>
            <a:off x="1028700" y="495300"/>
            <a:ext cx="17259300" cy="218203"/>
            <a:chOff x="1028700" y="723900"/>
            <a:chExt cx="17259300" cy="218203"/>
          </a:xfrm>
        </p:grpSpPr>
        <p:sp>
          <p:nvSpPr>
            <p:cNvPr id="615" name="Google Shape;615;p32"/>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2"/>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2"/>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2"/>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619" name="Google Shape;619;p32"/>
          <p:cNvPicPr preferRelativeResize="0"/>
          <p:nvPr/>
        </p:nvPicPr>
        <p:blipFill rotWithShape="1">
          <a:blip r:embed="rId6">
            <a:alphaModFix/>
          </a:blip>
          <a:srcRect b="0" l="0" r="0" t="0"/>
          <a:stretch/>
        </p:blipFill>
        <p:spPr>
          <a:xfrm flipH="1">
            <a:off x="643741" y="1676834"/>
            <a:ext cx="1207968" cy="1207968"/>
          </a:xfrm>
          <a:prstGeom prst="rect">
            <a:avLst/>
          </a:prstGeom>
          <a:noFill/>
          <a:ln>
            <a:noFill/>
          </a:ln>
        </p:spPr>
      </p:pic>
      <p:sp>
        <p:nvSpPr>
          <p:cNvPr id="620" name="Google Shape;620;p3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621" name="Google Shape;621;p3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622" name="Google Shape;622;p3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623" name="Google Shape;623;p32"/>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28" name="Shape 628"/>
        <p:cNvGrpSpPr/>
        <p:nvPr/>
      </p:nvGrpSpPr>
      <p:grpSpPr>
        <a:xfrm>
          <a:off x="0" y="0"/>
          <a:ext cx="0" cy="0"/>
          <a:chOff x="0" y="0"/>
          <a:chExt cx="0" cy="0"/>
        </a:xfrm>
      </p:grpSpPr>
      <p:sp>
        <p:nvSpPr>
          <p:cNvPr id="629" name="Google Shape;629;p3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3"/>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Produce a routine internetwork operating system (IOS) device maintenance plan for one device.</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List the routing protocols and router configurations for one device.</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Include this information in your portfolio document. </a:t>
            </a:r>
            <a:endParaRPr/>
          </a:p>
        </p:txBody>
      </p:sp>
      <p:grpSp>
        <p:nvGrpSpPr>
          <p:cNvPr id="631" name="Google Shape;631;p33"/>
          <p:cNvGrpSpPr/>
          <p:nvPr/>
        </p:nvGrpSpPr>
        <p:grpSpPr>
          <a:xfrm>
            <a:off x="1028700" y="495300"/>
            <a:ext cx="17259300" cy="218203"/>
            <a:chOff x="1028700" y="723900"/>
            <a:chExt cx="17259300" cy="218203"/>
          </a:xfrm>
        </p:grpSpPr>
        <p:sp>
          <p:nvSpPr>
            <p:cNvPr id="632" name="Google Shape;632;p3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636" name="Google Shape;636;p33"/>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637" name="Google Shape;637;p3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638" name="Google Shape;638;p3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639" name="Google Shape;639;p3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640" name="Google Shape;640;p33"/>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34"/>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647" name="Google Shape;647;p34"/>
          <p:cNvGrpSpPr/>
          <p:nvPr/>
        </p:nvGrpSpPr>
        <p:grpSpPr>
          <a:xfrm>
            <a:off x="1028700" y="446788"/>
            <a:ext cx="17244000" cy="220041"/>
            <a:chOff x="0" y="0"/>
            <a:chExt cx="23454501" cy="293387"/>
          </a:xfrm>
        </p:grpSpPr>
        <p:sp>
          <p:nvSpPr>
            <p:cNvPr id="648" name="Google Shape;648;p34"/>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4"/>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4"/>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4"/>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2" name="Google Shape;652;p34"/>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34"/>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Troubleshooting strategies</a:t>
            </a:r>
            <a:endParaRPr/>
          </a:p>
        </p:txBody>
      </p:sp>
      <p:sp>
        <p:nvSpPr>
          <p:cNvPr id="654" name="Google Shape;654;p34"/>
          <p:cNvSpPr txBox="1"/>
          <p:nvPr/>
        </p:nvSpPr>
        <p:spPr>
          <a:xfrm>
            <a:off x="1028700" y="1676834"/>
            <a:ext cx="12687300" cy="17238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ISOLATING SUB-OPTIMAL INTERNETWORK OPERATIONS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The OSI model can be used to troubleshoot and isolate internetwork operations that are performing at a sub-optimal level. </a:t>
            </a:r>
            <a:endParaRPr/>
          </a:p>
        </p:txBody>
      </p:sp>
      <p:sp>
        <p:nvSpPr>
          <p:cNvPr id="655" name="Google Shape;655;p3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656" name="Google Shape;656;p3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657" name="Google Shape;657;p3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62" name="Shape 662"/>
        <p:cNvGrpSpPr/>
        <p:nvPr/>
      </p:nvGrpSpPr>
      <p:grpSpPr>
        <a:xfrm>
          <a:off x="0" y="0"/>
          <a:ext cx="0" cy="0"/>
          <a:chOff x="0" y="0"/>
          <a:chExt cx="0" cy="0"/>
        </a:xfrm>
      </p:grpSpPr>
      <p:sp>
        <p:nvSpPr>
          <p:cNvPr id="663" name="Google Shape;663;p35"/>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5"/>
          <p:cNvSpPr txBox="1"/>
          <p:nvPr/>
        </p:nvSpPr>
        <p:spPr>
          <a:xfrm>
            <a:off x="2209800" y="1676834"/>
            <a:ext cx="14935200" cy="3610476"/>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following overview provides some background information on internetworking technology, the Open Systems Interconnection (OSI) model and its protocols.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https://userpages.uni-koblenz.de/~ros/Rechnerorganisation/internetworking.pdf</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Take any notes to summarise what you have read and keep for future reference.</a:t>
            </a:r>
            <a:endParaRPr/>
          </a:p>
        </p:txBody>
      </p:sp>
      <p:grpSp>
        <p:nvGrpSpPr>
          <p:cNvPr id="665" name="Google Shape;665;p35"/>
          <p:cNvGrpSpPr/>
          <p:nvPr/>
        </p:nvGrpSpPr>
        <p:grpSpPr>
          <a:xfrm>
            <a:off x="1028700" y="495300"/>
            <a:ext cx="17259300" cy="218203"/>
            <a:chOff x="1028700" y="723900"/>
            <a:chExt cx="17259300" cy="218203"/>
          </a:xfrm>
        </p:grpSpPr>
        <p:sp>
          <p:nvSpPr>
            <p:cNvPr id="666" name="Google Shape;666;p35"/>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5"/>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5"/>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5"/>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670" name="Google Shape;670;p35"/>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671" name="Google Shape;671;p3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672" name="Google Shape;672;p3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673" name="Google Shape;673;p3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674" name="Google Shape;674;p35"/>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3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681" name="Google Shape;681;p36"/>
          <p:cNvGrpSpPr/>
          <p:nvPr/>
        </p:nvGrpSpPr>
        <p:grpSpPr>
          <a:xfrm>
            <a:off x="1028700" y="446788"/>
            <a:ext cx="17244000" cy="220041"/>
            <a:chOff x="0" y="0"/>
            <a:chExt cx="23454501" cy="293387"/>
          </a:xfrm>
        </p:grpSpPr>
        <p:sp>
          <p:nvSpPr>
            <p:cNvPr id="682" name="Google Shape;682;p36"/>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6"/>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6"/>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6"/>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36"/>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36"/>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Troubleshooting strategies</a:t>
            </a:r>
            <a:endParaRPr/>
          </a:p>
        </p:txBody>
      </p:sp>
      <p:sp>
        <p:nvSpPr>
          <p:cNvPr id="688" name="Google Shape;688;p36"/>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PLANNING FOR MISSION CRITICAL APPLICATIONS </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Mission-critical applications are those which are essential for an organisation, if they fail, or are interrupted it could be detrimental as business operations can be significantly impacted.</a:t>
            </a:r>
            <a:endParaRPr/>
          </a:p>
        </p:txBody>
      </p:sp>
      <p:sp>
        <p:nvSpPr>
          <p:cNvPr id="689" name="Google Shape;689;p3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690" name="Google Shape;690;p3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691" name="Google Shape;691;p3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696" name="Shape 696"/>
        <p:cNvGrpSpPr/>
        <p:nvPr/>
      </p:nvGrpSpPr>
      <p:grpSpPr>
        <a:xfrm>
          <a:off x="0" y="0"/>
          <a:ext cx="0" cy="0"/>
          <a:chOff x="0" y="0"/>
          <a:chExt cx="0" cy="0"/>
        </a:xfrm>
      </p:grpSpPr>
      <p:sp>
        <p:nvSpPr>
          <p:cNvPr id="697" name="Google Shape;697;p37"/>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7"/>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b="1" sz="2500">
              <a:solidFill>
                <a:schemeClr val="lt1"/>
              </a:solidFill>
              <a:latin typeface="Arial"/>
              <a:ea typeface="Arial"/>
              <a:cs typeface="Arial"/>
              <a:sym typeface="Arial"/>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List the mission critical applications.</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Produce an outline plan that could be used for troubleshooting and monitoring security issues related to one IOS service for related mission critical applications.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Include this information in your portfolio document. </a:t>
            </a:r>
            <a:endParaRPr/>
          </a:p>
        </p:txBody>
      </p:sp>
      <p:grpSp>
        <p:nvGrpSpPr>
          <p:cNvPr id="699" name="Google Shape;699;p37"/>
          <p:cNvGrpSpPr/>
          <p:nvPr/>
        </p:nvGrpSpPr>
        <p:grpSpPr>
          <a:xfrm>
            <a:off x="1028700" y="495300"/>
            <a:ext cx="17259300" cy="218203"/>
            <a:chOff x="1028700" y="723900"/>
            <a:chExt cx="17259300" cy="218203"/>
          </a:xfrm>
        </p:grpSpPr>
        <p:sp>
          <p:nvSpPr>
            <p:cNvPr id="700" name="Google Shape;700;p37"/>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7"/>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7"/>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7"/>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704" name="Google Shape;704;p37"/>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05" name="Google Shape;705;p3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706" name="Google Shape;706;p3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707" name="Google Shape;707;p3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708" name="Google Shape;708;p37"/>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38"/>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715" name="Google Shape;715;p38"/>
          <p:cNvGrpSpPr/>
          <p:nvPr/>
        </p:nvGrpSpPr>
        <p:grpSpPr>
          <a:xfrm>
            <a:off x="1028700" y="446788"/>
            <a:ext cx="17244000" cy="220041"/>
            <a:chOff x="0" y="0"/>
            <a:chExt cx="23454501" cy="293387"/>
          </a:xfrm>
        </p:grpSpPr>
        <p:sp>
          <p:nvSpPr>
            <p:cNvPr id="716" name="Google Shape;716;p38"/>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8"/>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8"/>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8"/>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0" name="Google Shape;720;p38"/>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38"/>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2: Troubleshooting strategies</a:t>
            </a:r>
            <a:endParaRPr/>
          </a:p>
        </p:txBody>
      </p:sp>
      <p:sp>
        <p:nvSpPr>
          <p:cNvPr id="722" name="Google Shape;722;p38"/>
          <p:cNvSpPr txBox="1"/>
          <p:nvPr/>
        </p:nvSpPr>
        <p:spPr>
          <a:xfrm>
            <a:off x="1028700" y="1676834"/>
            <a:ext cx="12687300" cy="2285177"/>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INTERNET PROTOCOL VERSION 6 (IPV6) AND VERSION 4 (IPV4) INTEROPERABILITY</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The two versions of internet protocols commonly used today are Internet Protocol version 4 (IPv4) and Internet Protocol version 6 (IPv6). </a:t>
            </a:r>
            <a:endParaRPr/>
          </a:p>
        </p:txBody>
      </p:sp>
      <p:sp>
        <p:nvSpPr>
          <p:cNvPr id="723" name="Google Shape;723;p3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724" name="Google Shape;724;p3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725" name="Google Shape;725;p3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730" name="Shape 730"/>
        <p:cNvGrpSpPr/>
        <p:nvPr/>
      </p:nvGrpSpPr>
      <p:grpSpPr>
        <a:xfrm>
          <a:off x="0" y="0"/>
          <a:ext cx="0" cy="0"/>
          <a:chOff x="0" y="0"/>
          <a:chExt cx="0" cy="0"/>
        </a:xfrm>
      </p:grpSpPr>
      <p:sp>
        <p:nvSpPr>
          <p:cNvPr id="731" name="Google Shape;731;p39"/>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9"/>
          <p:cNvSpPr txBox="1"/>
          <p:nvPr/>
        </p:nvSpPr>
        <p:spPr>
          <a:xfrm>
            <a:off x="2209800" y="1676834"/>
            <a:ext cx="14935200" cy="172380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the websites for further information on troubleshooting and monitoring IPv6 and IPv4.</a:t>
            </a:r>
            <a:endParaRPr/>
          </a:p>
        </p:txBody>
      </p:sp>
      <p:grpSp>
        <p:nvGrpSpPr>
          <p:cNvPr id="733" name="Google Shape;733;p39"/>
          <p:cNvGrpSpPr/>
          <p:nvPr/>
        </p:nvGrpSpPr>
        <p:grpSpPr>
          <a:xfrm>
            <a:off x="1028700" y="495300"/>
            <a:ext cx="17259300" cy="218203"/>
            <a:chOff x="1028700" y="723900"/>
            <a:chExt cx="17259300" cy="218203"/>
          </a:xfrm>
        </p:grpSpPr>
        <p:sp>
          <p:nvSpPr>
            <p:cNvPr id="734" name="Google Shape;734;p39"/>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9"/>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9"/>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9"/>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738" name="Google Shape;738;p39"/>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39" name="Google Shape;739;p3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740" name="Google Shape;740;p3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741" name="Google Shape;741;p3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742" name="Google Shape;742;p39"/>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747" name="Shape 747"/>
        <p:cNvGrpSpPr/>
        <p:nvPr/>
      </p:nvGrpSpPr>
      <p:grpSpPr>
        <a:xfrm>
          <a:off x="0" y="0"/>
          <a:ext cx="0" cy="0"/>
          <a:chOff x="0" y="0"/>
          <a:chExt cx="0" cy="0"/>
        </a:xfrm>
      </p:grpSpPr>
      <p:sp>
        <p:nvSpPr>
          <p:cNvPr id="748" name="Google Shape;748;p40"/>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0"/>
          <p:cNvSpPr txBox="1"/>
          <p:nvPr/>
        </p:nvSpPr>
        <p:spPr>
          <a:xfrm>
            <a:off x="2209800" y="1676834"/>
            <a:ext cx="14935200" cy="240399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Outline a plan that could be used for troubleshooting and monitoring internet protocol version 6 (IPv6) and version 4 (IPv4) interoperability.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Include this information in your portfolio document.</a:t>
            </a:r>
            <a:endParaRPr/>
          </a:p>
        </p:txBody>
      </p:sp>
      <p:grpSp>
        <p:nvGrpSpPr>
          <p:cNvPr id="750" name="Google Shape;750;p40"/>
          <p:cNvGrpSpPr/>
          <p:nvPr/>
        </p:nvGrpSpPr>
        <p:grpSpPr>
          <a:xfrm>
            <a:off x="1028700" y="495300"/>
            <a:ext cx="17259300" cy="218203"/>
            <a:chOff x="1028700" y="723900"/>
            <a:chExt cx="17259300" cy="218203"/>
          </a:xfrm>
        </p:grpSpPr>
        <p:sp>
          <p:nvSpPr>
            <p:cNvPr id="751" name="Google Shape;751;p40"/>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0"/>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0"/>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0"/>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755" name="Google Shape;755;p40"/>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56" name="Google Shape;756;p4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757" name="Google Shape;757;p4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758" name="Google Shape;758;p4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759" name="Google Shape;759;p40"/>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2: Troubleshooting strategies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4" name="Shape 764"/>
        <p:cNvGrpSpPr/>
        <p:nvPr/>
      </p:nvGrpSpPr>
      <p:grpSpPr>
        <a:xfrm>
          <a:off x="0" y="0"/>
          <a:ext cx="0" cy="0"/>
          <a:chOff x="0" y="0"/>
          <a:chExt cx="0" cy="0"/>
        </a:xfrm>
      </p:grpSpPr>
      <p:sp>
        <p:nvSpPr>
          <p:cNvPr id="765" name="Google Shape;765;p41"/>
          <p:cNvSpPr/>
          <p:nvPr/>
        </p:nvSpPr>
        <p:spPr>
          <a:xfrm>
            <a:off x="0" y="1290497"/>
            <a:ext cx="18288000" cy="8196478"/>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1"/>
          <p:cNvSpPr txBox="1"/>
          <p:nvPr/>
        </p:nvSpPr>
        <p:spPr>
          <a:xfrm>
            <a:off x="1044000" y="1866900"/>
            <a:ext cx="16655652" cy="83599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5200">
                <a:solidFill>
                  <a:schemeClr val="lt1"/>
                </a:solidFill>
                <a:latin typeface="Arial"/>
                <a:ea typeface="Arial"/>
                <a:cs typeface="Arial"/>
                <a:sym typeface="Arial"/>
              </a:rPr>
              <a:t>Topic 3: Testing</a:t>
            </a:r>
            <a:endParaRPr/>
          </a:p>
        </p:txBody>
      </p:sp>
      <p:grpSp>
        <p:nvGrpSpPr>
          <p:cNvPr id="767" name="Google Shape;767;p41"/>
          <p:cNvGrpSpPr/>
          <p:nvPr/>
        </p:nvGrpSpPr>
        <p:grpSpPr>
          <a:xfrm>
            <a:off x="1028700" y="495300"/>
            <a:ext cx="17259300" cy="218203"/>
            <a:chOff x="1028700" y="723900"/>
            <a:chExt cx="17259300" cy="218203"/>
          </a:xfrm>
        </p:grpSpPr>
        <p:sp>
          <p:nvSpPr>
            <p:cNvPr id="768" name="Google Shape;768;p41"/>
            <p:cNvSpPr/>
            <p:nvPr/>
          </p:nvSpPr>
          <p:spPr>
            <a:xfrm>
              <a:off x="1044000" y="826884"/>
              <a:ext cx="17244000" cy="20795"/>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1"/>
            <p:cNvSpPr/>
            <p:nvPr/>
          </p:nvSpPr>
          <p:spPr>
            <a:xfrm>
              <a:off x="1028700" y="72390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1"/>
            <p:cNvSpPr/>
            <p:nvPr/>
          </p:nvSpPr>
          <p:spPr>
            <a:xfrm>
              <a:off x="6856574" y="73246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1"/>
            <p:cNvSpPr/>
            <p:nvPr/>
          </p:nvSpPr>
          <p:spPr>
            <a:xfrm>
              <a:off x="12684448" y="732460"/>
              <a:ext cx="219025" cy="209643"/>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2" name="Google Shape;772;p4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773" name="Google Shape;773;p4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774" name="Google Shape;774;p4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pic>
        <p:nvPicPr>
          <p:cNvPr descr="A circuit board&#10;&#10;Description automatically generated" id="775" name="Google Shape;775;p41"/>
          <p:cNvPicPr preferRelativeResize="0"/>
          <p:nvPr/>
        </p:nvPicPr>
        <p:blipFill rotWithShape="1">
          <a:blip r:embed="rId3">
            <a:alphaModFix/>
          </a:blip>
          <a:srcRect b="0" l="0" r="0" t="0"/>
          <a:stretch/>
        </p:blipFill>
        <p:spPr>
          <a:xfrm>
            <a:off x="5670867" y="3639106"/>
            <a:ext cx="6946265" cy="4628594"/>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780" name="Shape 780"/>
        <p:cNvGrpSpPr/>
        <p:nvPr/>
      </p:nvGrpSpPr>
      <p:grpSpPr>
        <a:xfrm>
          <a:off x="0" y="0"/>
          <a:ext cx="0" cy="0"/>
          <a:chOff x="0" y="0"/>
          <a:chExt cx="0" cy="0"/>
        </a:xfrm>
      </p:grpSpPr>
      <p:sp>
        <p:nvSpPr>
          <p:cNvPr id="781" name="Google Shape;781;p42"/>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2"/>
          <p:cNvSpPr txBox="1"/>
          <p:nvPr/>
        </p:nvSpPr>
        <p:spPr>
          <a:xfrm>
            <a:off x="2209800" y="1676834"/>
            <a:ext cx="14935200" cy="187769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BRAINSTORM</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List all areas of a network that you would need to test for performance and reliability.</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Your trainer/assessor will facilitate a discussion.</a:t>
            </a:r>
            <a:endParaRPr/>
          </a:p>
        </p:txBody>
      </p:sp>
      <p:grpSp>
        <p:nvGrpSpPr>
          <p:cNvPr id="783" name="Google Shape;783;p42"/>
          <p:cNvGrpSpPr/>
          <p:nvPr/>
        </p:nvGrpSpPr>
        <p:grpSpPr>
          <a:xfrm>
            <a:off x="1028700" y="495300"/>
            <a:ext cx="17259300" cy="218203"/>
            <a:chOff x="1028700" y="723900"/>
            <a:chExt cx="17259300" cy="218203"/>
          </a:xfrm>
        </p:grpSpPr>
        <p:sp>
          <p:nvSpPr>
            <p:cNvPr id="784" name="Google Shape;784;p42"/>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2"/>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2"/>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2"/>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788" name="Google Shape;788;p42"/>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789" name="Google Shape;789;p4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790" name="Google Shape;790;p4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791" name="Google Shape;791;p4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792" name="Google Shape;792;p42"/>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6" name="Shape 796"/>
        <p:cNvGrpSpPr/>
        <p:nvPr/>
      </p:nvGrpSpPr>
      <p:grpSpPr>
        <a:xfrm>
          <a:off x="0" y="0"/>
          <a:ext cx="0" cy="0"/>
          <a:chOff x="0" y="0"/>
          <a:chExt cx="0" cy="0"/>
        </a:xfrm>
      </p:grpSpPr>
      <p:sp>
        <p:nvSpPr>
          <p:cNvPr id="797" name="Google Shape;797;p43"/>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798" name="Google Shape;798;p43"/>
          <p:cNvGrpSpPr/>
          <p:nvPr/>
        </p:nvGrpSpPr>
        <p:grpSpPr>
          <a:xfrm>
            <a:off x="1028700" y="446788"/>
            <a:ext cx="17244000" cy="220041"/>
            <a:chOff x="0" y="0"/>
            <a:chExt cx="23454501" cy="293387"/>
          </a:xfrm>
        </p:grpSpPr>
        <p:sp>
          <p:nvSpPr>
            <p:cNvPr id="799" name="Google Shape;799;p43"/>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3"/>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3"/>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43"/>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3" name="Google Shape;803;p43"/>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43"/>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Testing</a:t>
            </a:r>
            <a:endParaRPr/>
          </a:p>
        </p:txBody>
      </p:sp>
      <p:sp>
        <p:nvSpPr>
          <p:cNvPr id="805" name="Google Shape;805;p43"/>
          <p:cNvSpPr txBox="1"/>
          <p:nvPr/>
        </p:nvSpPr>
        <p:spPr>
          <a:xfrm>
            <a:off x="1028700" y="1676834"/>
            <a:ext cx="12687300" cy="277640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TESTING VLAN SOLUTIONS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In today’s current technological climate, virtualisation is a common approach to lowering costs, creating more optimised solutions, moving to more sustainable practices, increasing efficiency and productivity, managing cybercrime and is a platform for using cloud services.</a:t>
            </a:r>
            <a:endParaRPr/>
          </a:p>
        </p:txBody>
      </p:sp>
      <p:sp>
        <p:nvSpPr>
          <p:cNvPr id="806" name="Google Shape;806;p4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807" name="Google Shape;807;p4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808" name="Google Shape;808;p4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813" name="Shape 813"/>
        <p:cNvGrpSpPr/>
        <p:nvPr/>
      </p:nvGrpSpPr>
      <p:grpSpPr>
        <a:xfrm>
          <a:off x="0" y="0"/>
          <a:ext cx="0" cy="0"/>
          <a:chOff x="0" y="0"/>
          <a:chExt cx="0" cy="0"/>
        </a:xfrm>
      </p:grpSpPr>
      <p:sp>
        <p:nvSpPr>
          <p:cNvPr id="814" name="Google Shape;814;p44"/>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44"/>
          <p:cNvSpPr txBox="1"/>
          <p:nvPr/>
        </p:nvSpPr>
        <p:spPr>
          <a:xfrm>
            <a:off x="2209800" y="1676834"/>
            <a:ext cx="14935200" cy="376436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Firstly, read more about VLAN technologies.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https://planetechusa.com/vlan-technology/</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Draw a diagram to represent a VLAN segment, include different device connections.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Check with your trainer/assessor, what VLAN technologies are used at the college you are studying?</a:t>
            </a:r>
            <a:endParaRPr/>
          </a:p>
        </p:txBody>
      </p:sp>
      <p:grpSp>
        <p:nvGrpSpPr>
          <p:cNvPr id="816" name="Google Shape;816;p44"/>
          <p:cNvGrpSpPr/>
          <p:nvPr/>
        </p:nvGrpSpPr>
        <p:grpSpPr>
          <a:xfrm>
            <a:off x="1028700" y="495300"/>
            <a:ext cx="17259300" cy="218203"/>
            <a:chOff x="1028700" y="723900"/>
            <a:chExt cx="17259300" cy="218203"/>
          </a:xfrm>
        </p:grpSpPr>
        <p:sp>
          <p:nvSpPr>
            <p:cNvPr id="817" name="Google Shape;817;p44"/>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4"/>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4"/>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4"/>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821" name="Google Shape;821;p44"/>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822" name="Google Shape;822;p4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823" name="Google Shape;823;p4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824" name="Google Shape;824;p4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825" name="Google Shape;825;p44"/>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830" name="Shape 830"/>
        <p:cNvGrpSpPr/>
        <p:nvPr/>
      </p:nvGrpSpPr>
      <p:grpSpPr>
        <a:xfrm>
          <a:off x="0" y="0"/>
          <a:ext cx="0" cy="0"/>
          <a:chOff x="0" y="0"/>
          <a:chExt cx="0" cy="0"/>
        </a:xfrm>
      </p:grpSpPr>
      <p:sp>
        <p:nvSpPr>
          <p:cNvPr id="831" name="Google Shape;831;p45"/>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5"/>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The provided article provides an explanation of switch-to-switch connectivity.</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The provided article discusses configuring, verifying and troubleshooting a VLAN for Cisco. </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The provided is an example of loop prevention for VLAN based solution.</a:t>
            </a:r>
            <a:endParaRPr/>
          </a:p>
        </p:txBody>
      </p:sp>
      <p:grpSp>
        <p:nvGrpSpPr>
          <p:cNvPr id="833" name="Google Shape;833;p45"/>
          <p:cNvGrpSpPr/>
          <p:nvPr/>
        </p:nvGrpSpPr>
        <p:grpSpPr>
          <a:xfrm>
            <a:off x="1028700" y="495300"/>
            <a:ext cx="17259300" cy="218203"/>
            <a:chOff x="1028700" y="723900"/>
            <a:chExt cx="17259300" cy="218203"/>
          </a:xfrm>
        </p:grpSpPr>
        <p:sp>
          <p:nvSpPr>
            <p:cNvPr id="834" name="Google Shape;834;p45"/>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5"/>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5"/>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5"/>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838" name="Google Shape;838;p45"/>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839" name="Google Shape;839;p45"/>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840" name="Google Shape;840;p45"/>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841" name="Google Shape;841;p45"/>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842" name="Google Shape;842;p45"/>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46"/>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848" name="Google Shape;848;p46"/>
          <p:cNvGrpSpPr/>
          <p:nvPr/>
        </p:nvGrpSpPr>
        <p:grpSpPr>
          <a:xfrm>
            <a:off x="1028700" y="446788"/>
            <a:ext cx="17244000" cy="220041"/>
            <a:chOff x="0" y="0"/>
            <a:chExt cx="23454501" cy="293387"/>
          </a:xfrm>
        </p:grpSpPr>
        <p:sp>
          <p:nvSpPr>
            <p:cNvPr id="849" name="Google Shape;849;p46"/>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6"/>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6"/>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6"/>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3" name="Google Shape;853;p46"/>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4" name="Google Shape;854;p46"/>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Testing</a:t>
            </a:r>
            <a:endParaRPr/>
          </a:p>
        </p:txBody>
      </p:sp>
      <p:sp>
        <p:nvSpPr>
          <p:cNvPr id="855" name="Google Shape;855;p46"/>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TESTING PRIVATE VLANS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Otherwise known as port isolation, private VLANs segments a VLAN domain into two or more subdomains. Each is defined by a primary and secondary VLAN. </a:t>
            </a:r>
            <a:endParaRPr/>
          </a:p>
        </p:txBody>
      </p:sp>
      <p:sp>
        <p:nvSpPr>
          <p:cNvPr id="856" name="Google Shape;856;p46"/>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857" name="Google Shape;857;p46"/>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858" name="Google Shape;858;p46"/>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863" name="Shape 863"/>
        <p:cNvGrpSpPr/>
        <p:nvPr/>
      </p:nvGrpSpPr>
      <p:grpSpPr>
        <a:xfrm>
          <a:off x="0" y="0"/>
          <a:ext cx="0" cy="0"/>
          <a:chOff x="0" y="0"/>
          <a:chExt cx="0" cy="0"/>
        </a:xfrm>
      </p:grpSpPr>
      <p:sp>
        <p:nvSpPr>
          <p:cNvPr id="864" name="Google Shape;864;p47"/>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7"/>
          <p:cNvSpPr txBox="1"/>
          <p:nvPr/>
        </p:nvSpPr>
        <p:spPr>
          <a:xfrm>
            <a:off x="2209800" y="1676834"/>
            <a:ext cx="14935200" cy="4290662"/>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Read more on private VLANS from Cisco.</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https://www.cisco.com/en/US/docs/general/Test/dwerblo/broken_guide/pvlans.html#wp1134140</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The following article provides a good overview of configuring private VLANS.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4">
                  <a:extLst>
                    <a:ext uri="{A12FA001-AC4F-418D-AE19-62706E023703}">
                      <ahyp:hlinkClr val="tx"/>
                    </a:ext>
                  </a:extLst>
                </a:hlinkClick>
              </a:rPr>
              <a:t>https://packetlife.net/blog/2010/aug/30/basic-private-vlan-configuration/</a:t>
            </a:r>
            <a:r>
              <a:rPr lang="en-US" sz="3000">
                <a:solidFill>
                  <a:schemeClr val="lt1"/>
                </a:solidFill>
                <a:latin typeface="Arial"/>
                <a:ea typeface="Arial"/>
                <a:cs typeface="Arial"/>
                <a:sym typeface="Arial"/>
              </a:rPr>
              <a:t> </a:t>
            </a:r>
            <a:endParaRPr/>
          </a:p>
        </p:txBody>
      </p:sp>
      <p:grpSp>
        <p:nvGrpSpPr>
          <p:cNvPr id="866" name="Google Shape;866;p47"/>
          <p:cNvGrpSpPr/>
          <p:nvPr/>
        </p:nvGrpSpPr>
        <p:grpSpPr>
          <a:xfrm>
            <a:off x="1028700" y="495300"/>
            <a:ext cx="17259300" cy="218203"/>
            <a:chOff x="1028700" y="723900"/>
            <a:chExt cx="17259300" cy="218203"/>
          </a:xfrm>
        </p:grpSpPr>
        <p:sp>
          <p:nvSpPr>
            <p:cNvPr id="867" name="Google Shape;867;p47"/>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7"/>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7"/>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7"/>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871" name="Google Shape;871;p47"/>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872" name="Google Shape;872;p47"/>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873" name="Google Shape;873;p47"/>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874" name="Google Shape;874;p47"/>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875" name="Google Shape;875;p47"/>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48"/>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881" name="Google Shape;881;p48"/>
          <p:cNvGrpSpPr/>
          <p:nvPr/>
        </p:nvGrpSpPr>
        <p:grpSpPr>
          <a:xfrm>
            <a:off x="1028700" y="446788"/>
            <a:ext cx="17244000" cy="220041"/>
            <a:chOff x="0" y="0"/>
            <a:chExt cx="23454501" cy="293387"/>
          </a:xfrm>
        </p:grpSpPr>
        <p:sp>
          <p:nvSpPr>
            <p:cNvPr id="882" name="Google Shape;882;p48"/>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8"/>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8"/>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8"/>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6" name="Google Shape;886;p48"/>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 name="Google Shape;887;p48"/>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Testing</a:t>
            </a:r>
            <a:endParaRPr/>
          </a:p>
        </p:txBody>
      </p:sp>
      <p:sp>
        <p:nvSpPr>
          <p:cNvPr id="888" name="Google Shape;888;p48"/>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TEST SWITCH VIRTUAL INTERFACES (SVI)</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A switch virtual interface (SVI) is the logical interface that is configured on a layer 3 switch; where SVI has no physical interface, providing layer 3 processing of packets from all switch ports associated with the VLAN.</a:t>
            </a:r>
            <a:endParaRPr/>
          </a:p>
        </p:txBody>
      </p:sp>
      <p:sp>
        <p:nvSpPr>
          <p:cNvPr id="889" name="Google Shape;889;p48"/>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890" name="Google Shape;890;p48"/>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891" name="Google Shape;891;p48"/>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896" name="Shape 896"/>
        <p:cNvGrpSpPr/>
        <p:nvPr/>
      </p:nvGrpSpPr>
      <p:grpSpPr>
        <a:xfrm>
          <a:off x="0" y="0"/>
          <a:ext cx="0" cy="0"/>
          <a:chOff x="0" y="0"/>
          <a:chExt cx="0" cy="0"/>
        </a:xfrm>
      </p:grpSpPr>
      <p:sp>
        <p:nvSpPr>
          <p:cNvPr id="897" name="Google Shape;897;p49"/>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9"/>
          <p:cNvSpPr txBox="1"/>
          <p:nvPr/>
        </p:nvSpPr>
        <p:spPr>
          <a:xfrm>
            <a:off x="2209800" y="1676834"/>
            <a:ext cx="14935200" cy="255788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WATCH</a:t>
            </a:r>
            <a:endParaRPr b="1" sz="2500">
              <a:solidFill>
                <a:schemeClr val="lt1"/>
              </a:solidFill>
              <a:latin typeface="Arial"/>
              <a:ea typeface="Arial"/>
              <a:cs typeface="Arial"/>
              <a:sym typeface="Arial"/>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Watch the following video on switch virtual interfaces.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Video: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https://www.youtube.com/watch?v=eWtwsX9AS6w</a:t>
            </a:r>
            <a:r>
              <a:rPr lang="en-US" sz="3000">
                <a:solidFill>
                  <a:schemeClr val="lt1"/>
                </a:solidFill>
                <a:latin typeface="Arial"/>
                <a:ea typeface="Arial"/>
                <a:cs typeface="Arial"/>
                <a:sym typeface="Arial"/>
              </a:rPr>
              <a:t> (01:38)</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Take down any key takeaways.</a:t>
            </a:r>
            <a:endParaRPr/>
          </a:p>
        </p:txBody>
      </p:sp>
      <p:grpSp>
        <p:nvGrpSpPr>
          <p:cNvPr id="899" name="Google Shape;899;p49"/>
          <p:cNvGrpSpPr/>
          <p:nvPr/>
        </p:nvGrpSpPr>
        <p:grpSpPr>
          <a:xfrm>
            <a:off x="1028700" y="495300"/>
            <a:ext cx="17259300" cy="218203"/>
            <a:chOff x="1028700" y="723900"/>
            <a:chExt cx="17259300" cy="218203"/>
          </a:xfrm>
        </p:grpSpPr>
        <p:sp>
          <p:nvSpPr>
            <p:cNvPr id="900" name="Google Shape;900;p49"/>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9"/>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9"/>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9"/>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904" name="Google Shape;904;p49"/>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905" name="Google Shape;905;p49"/>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906" name="Google Shape;906;p49"/>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907" name="Google Shape;907;p49"/>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908" name="Google Shape;908;p49"/>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50"/>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914" name="Google Shape;914;p50"/>
          <p:cNvGrpSpPr/>
          <p:nvPr/>
        </p:nvGrpSpPr>
        <p:grpSpPr>
          <a:xfrm>
            <a:off x="1028700" y="446788"/>
            <a:ext cx="17244000" cy="220041"/>
            <a:chOff x="0" y="0"/>
            <a:chExt cx="23454501" cy="293387"/>
          </a:xfrm>
        </p:grpSpPr>
        <p:sp>
          <p:nvSpPr>
            <p:cNvPr id="915" name="Google Shape;915;p50"/>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0"/>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0"/>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50"/>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9" name="Google Shape;919;p50"/>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50"/>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Testing</a:t>
            </a:r>
            <a:endParaRPr/>
          </a:p>
        </p:txBody>
      </p:sp>
      <p:sp>
        <p:nvSpPr>
          <p:cNvPr id="921" name="Google Shape;921;p50"/>
          <p:cNvSpPr txBox="1"/>
          <p:nvPr/>
        </p:nvSpPr>
        <p:spPr>
          <a:xfrm>
            <a:off x="1028700" y="1676834"/>
            <a:ext cx="12687300" cy="179113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TEST SWITCH SUPPORT OF ADVANCED SERVICES</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It is important that you test switch support of advanced services such as for video, VoIP or wireless connection.</a:t>
            </a:r>
            <a:endParaRPr/>
          </a:p>
        </p:txBody>
      </p:sp>
      <p:sp>
        <p:nvSpPr>
          <p:cNvPr id="922" name="Google Shape;922;p50"/>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923" name="Google Shape;923;p50"/>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924" name="Google Shape;924;p50"/>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929" name="Shape 929"/>
        <p:cNvGrpSpPr/>
        <p:nvPr/>
      </p:nvGrpSpPr>
      <p:grpSpPr>
        <a:xfrm>
          <a:off x="0" y="0"/>
          <a:ext cx="0" cy="0"/>
          <a:chOff x="0" y="0"/>
          <a:chExt cx="0" cy="0"/>
        </a:xfrm>
      </p:grpSpPr>
      <p:sp>
        <p:nvSpPr>
          <p:cNvPr id="930" name="Google Shape;930;p51"/>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51"/>
          <p:cNvSpPr txBox="1"/>
          <p:nvPr/>
        </p:nvSpPr>
        <p:spPr>
          <a:xfrm>
            <a:off x="2209800" y="1676834"/>
            <a:ext cx="14935200" cy="376436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This article explains traceroute for response delays and loops presented across switched nodes.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https://www.thousandeyes.com/learning/glossary/traceroute</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Here is a simple guide to troubleshooting common VoIP connection issues.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4">
                  <a:extLst>
                    <a:ext uri="{A12FA001-AC4F-418D-AE19-62706E023703}">
                      <ahyp:hlinkClr val="tx"/>
                    </a:ext>
                  </a:extLst>
                </a:hlinkClick>
              </a:rPr>
              <a:t>https://getvoip.com/blog/2016/10/19/troubleshooting-voip-connections/</a:t>
            </a:r>
            <a:r>
              <a:rPr lang="en-US" sz="3000">
                <a:solidFill>
                  <a:schemeClr val="lt1"/>
                </a:solidFill>
                <a:latin typeface="Arial"/>
                <a:ea typeface="Arial"/>
                <a:cs typeface="Arial"/>
                <a:sym typeface="Arial"/>
              </a:rPr>
              <a:t> </a:t>
            </a:r>
            <a:endParaRPr/>
          </a:p>
        </p:txBody>
      </p:sp>
      <p:grpSp>
        <p:nvGrpSpPr>
          <p:cNvPr id="932" name="Google Shape;932;p51"/>
          <p:cNvGrpSpPr/>
          <p:nvPr/>
        </p:nvGrpSpPr>
        <p:grpSpPr>
          <a:xfrm>
            <a:off x="1028700" y="495300"/>
            <a:ext cx="17259300" cy="218203"/>
            <a:chOff x="1028700" y="723900"/>
            <a:chExt cx="17259300" cy="218203"/>
          </a:xfrm>
        </p:grpSpPr>
        <p:sp>
          <p:nvSpPr>
            <p:cNvPr id="933" name="Google Shape;933;p51"/>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1"/>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51"/>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51"/>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937" name="Google Shape;937;p51"/>
          <p:cNvPicPr preferRelativeResize="0"/>
          <p:nvPr/>
        </p:nvPicPr>
        <p:blipFill rotWithShape="1">
          <a:blip r:embed="rId5">
            <a:alphaModFix/>
          </a:blip>
          <a:srcRect b="0" l="0" r="0" t="0"/>
          <a:stretch/>
        </p:blipFill>
        <p:spPr>
          <a:xfrm flipH="1">
            <a:off x="643741" y="1676834"/>
            <a:ext cx="1207968" cy="1207968"/>
          </a:xfrm>
          <a:prstGeom prst="rect">
            <a:avLst/>
          </a:prstGeom>
          <a:noFill/>
          <a:ln>
            <a:noFill/>
          </a:ln>
        </p:spPr>
      </p:pic>
      <p:sp>
        <p:nvSpPr>
          <p:cNvPr id="938" name="Google Shape;938;p51"/>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939" name="Google Shape;939;p51"/>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940" name="Google Shape;940;p51"/>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941" name="Google Shape;941;p51"/>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52"/>
          <p:cNvSpPr txBox="1"/>
          <p:nvPr/>
        </p:nvSpPr>
        <p:spPr>
          <a:xfrm>
            <a:off x="5603551" y="8746411"/>
            <a:ext cx="11716295" cy="717197"/>
          </a:xfrm>
          <a:prstGeom prst="rect">
            <a:avLst/>
          </a:prstGeom>
          <a:noFill/>
          <a:ln>
            <a:noFill/>
          </a:ln>
        </p:spPr>
        <p:txBody>
          <a:bodyPr anchorCtr="0" anchor="t" bIns="0" lIns="0" spcFirstLastPara="1" rIns="0" wrap="square" tIns="0">
            <a:spAutoFit/>
          </a:bodyPr>
          <a:lstStyle/>
          <a:p>
            <a:pPr indent="0" lvl="0" marL="0" marR="0" rtl="0" algn="r">
              <a:lnSpc>
                <a:spcPct val="119979"/>
              </a:lnSpc>
              <a:spcBef>
                <a:spcPts val="0"/>
              </a:spcBef>
              <a:spcAft>
                <a:spcPts val="0"/>
              </a:spcAft>
              <a:buNone/>
            </a:pPr>
            <a:r>
              <a:rPr lang="en-US" sz="4800">
                <a:solidFill>
                  <a:srgbClr val="F4F8F3"/>
                </a:solidFill>
                <a:latin typeface="Montserrat Light"/>
                <a:ea typeface="Montserrat Light"/>
                <a:cs typeface="Montserrat Light"/>
                <a:sym typeface="Montserrat Light"/>
              </a:rPr>
              <a:t>Topic 1: Insert topic title </a:t>
            </a:r>
            <a:endParaRPr/>
          </a:p>
        </p:txBody>
      </p:sp>
      <p:grpSp>
        <p:nvGrpSpPr>
          <p:cNvPr id="947" name="Google Shape;947;p52"/>
          <p:cNvGrpSpPr/>
          <p:nvPr/>
        </p:nvGrpSpPr>
        <p:grpSpPr>
          <a:xfrm>
            <a:off x="1028700" y="446788"/>
            <a:ext cx="17244000" cy="220041"/>
            <a:chOff x="0" y="0"/>
            <a:chExt cx="23454501" cy="293387"/>
          </a:xfrm>
        </p:grpSpPr>
        <p:sp>
          <p:nvSpPr>
            <p:cNvPr id="948" name="Google Shape;948;p52"/>
            <p:cNvSpPr/>
            <p:nvPr/>
          </p:nvSpPr>
          <p:spPr>
            <a:xfrm>
              <a:off x="0" y="125899"/>
              <a:ext cx="23454501" cy="27726"/>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2"/>
            <p:cNvSpPr/>
            <p:nvPr/>
          </p:nvSpPr>
          <p:spPr>
            <a:xfrm>
              <a:off x="0" y="13863"/>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2"/>
            <p:cNvSpPr/>
            <p:nvPr/>
          </p:nvSpPr>
          <p:spPr>
            <a:xfrm>
              <a:off x="7770499"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2"/>
            <p:cNvSpPr/>
            <p:nvPr/>
          </p:nvSpPr>
          <p:spPr>
            <a:xfrm>
              <a:off x="15540998" y="0"/>
              <a:ext cx="292033" cy="279524"/>
            </a:xfrm>
            <a:prstGeom prst="rect">
              <a:avLst/>
            </a:prstGeom>
            <a:solidFill>
              <a:srgbClr val="00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2" name="Google Shape;952;p52"/>
          <p:cNvSpPr/>
          <p:nvPr/>
        </p:nvSpPr>
        <p:spPr>
          <a:xfrm>
            <a:off x="0" y="7886700"/>
            <a:ext cx="18288000" cy="1621070"/>
          </a:xfrm>
          <a:prstGeom prst="rect">
            <a:avLst/>
          </a:prstGeom>
          <a:solidFill>
            <a:srgbClr val="00667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3" name="Google Shape;953;p52"/>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chemeClr val="lt1"/>
                </a:solidFill>
                <a:latin typeface="Arial"/>
                <a:ea typeface="Arial"/>
                <a:cs typeface="Arial"/>
                <a:sym typeface="Arial"/>
              </a:rPr>
              <a:t>Topic 3: Testing</a:t>
            </a:r>
            <a:endParaRPr/>
          </a:p>
        </p:txBody>
      </p:sp>
      <p:sp>
        <p:nvSpPr>
          <p:cNvPr id="954" name="Google Shape;954;p52"/>
          <p:cNvSpPr txBox="1"/>
          <p:nvPr/>
        </p:nvSpPr>
        <p:spPr>
          <a:xfrm>
            <a:off x="1028700" y="1676834"/>
            <a:ext cx="12687300" cy="225010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rgbClr val="00667A"/>
                </a:solidFill>
                <a:latin typeface="Arial"/>
                <a:ea typeface="Arial"/>
                <a:cs typeface="Arial"/>
                <a:sym typeface="Arial"/>
              </a:rPr>
              <a:t>TROUBLESHOOT SWITCH CONFIGURATION</a:t>
            </a:r>
            <a:endParaRPr/>
          </a:p>
          <a:p>
            <a:pPr indent="0" lvl="0" marL="0" marR="0" rtl="0" algn="l">
              <a:lnSpc>
                <a:spcPct val="114000"/>
              </a:lnSpc>
              <a:spcBef>
                <a:spcPts val="1200"/>
              </a:spcBef>
              <a:spcAft>
                <a:spcPts val="0"/>
              </a:spcAft>
              <a:buNone/>
            </a:pPr>
            <a:r>
              <a:rPr lang="en-US" sz="3000">
                <a:solidFill>
                  <a:srgbClr val="00667A"/>
                </a:solidFill>
                <a:latin typeface="Arial"/>
                <a:ea typeface="Arial"/>
                <a:cs typeface="Arial"/>
                <a:sym typeface="Arial"/>
              </a:rPr>
              <a:t>It is important that you keep hold of all documented configurations when you first set up switches. If things go wrong, then you have a point of reference and at least an idea of what was done previously. </a:t>
            </a:r>
            <a:endParaRPr/>
          </a:p>
        </p:txBody>
      </p:sp>
      <p:sp>
        <p:nvSpPr>
          <p:cNvPr id="955" name="Google Shape;955;p52"/>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1" lang="en-US" sz="1200">
                <a:solidFill>
                  <a:srgbClr val="31859C"/>
                </a:solidFill>
                <a:latin typeface="Arial"/>
                <a:ea typeface="Arial"/>
                <a:cs typeface="Arial"/>
                <a:sym typeface="Arial"/>
              </a:rPr>
              <a:t>‹#›</a:t>
            </a:fld>
            <a:endParaRPr b="1" sz="1200">
              <a:solidFill>
                <a:srgbClr val="31859C"/>
              </a:solidFill>
              <a:latin typeface="Arial"/>
              <a:ea typeface="Arial"/>
              <a:cs typeface="Arial"/>
              <a:sym typeface="Arial"/>
            </a:endParaRPr>
          </a:p>
        </p:txBody>
      </p:sp>
      <p:sp>
        <p:nvSpPr>
          <p:cNvPr id="956" name="Google Shape;956;p52"/>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rgbClr val="00667A"/>
                </a:solidFill>
              </a:rPr>
              <a:t>© 2021 Milestones International College</a:t>
            </a:r>
            <a:endParaRPr/>
          </a:p>
        </p:txBody>
      </p:sp>
      <p:sp>
        <p:nvSpPr>
          <p:cNvPr id="957" name="Google Shape;957;p52"/>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rgbClr val="00667A"/>
                </a:solidFill>
                <a:latin typeface="Arial"/>
                <a:ea typeface="Arial"/>
                <a:cs typeface="Arial"/>
                <a:sym typeface="Arial"/>
              </a:rPr>
              <a:t>ICTNWK612 </a:t>
            </a:r>
            <a:r>
              <a:rPr lang="en-US">
                <a:solidFill>
                  <a:srgbClr val="00667A"/>
                </a:solidFill>
                <a:latin typeface="Arial"/>
                <a:ea typeface="Arial"/>
                <a:cs typeface="Arial"/>
                <a:sym typeface="Arial"/>
              </a:rPr>
              <a:t>Plan and manage troubleshooting advanced integrated IP networks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962" name="Shape 962"/>
        <p:cNvGrpSpPr/>
        <p:nvPr/>
      </p:nvGrpSpPr>
      <p:grpSpPr>
        <a:xfrm>
          <a:off x="0" y="0"/>
          <a:ext cx="0" cy="0"/>
          <a:chOff x="0" y="0"/>
          <a:chExt cx="0" cy="0"/>
        </a:xfrm>
      </p:grpSpPr>
      <p:sp>
        <p:nvSpPr>
          <p:cNvPr id="963" name="Google Shape;963;p53"/>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3"/>
          <p:cNvSpPr txBox="1"/>
          <p:nvPr/>
        </p:nvSpPr>
        <p:spPr>
          <a:xfrm>
            <a:off x="2209800" y="1676834"/>
            <a:ext cx="14935200" cy="413677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READ</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Follow the Cisco troubleshooting LAN switching environments to gain further understanding of troubleshooting switch configurations.</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Website: </a:t>
            </a:r>
            <a:r>
              <a:rPr lang="en-US" sz="3000" u="sng">
                <a:solidFill>
                  <a:schemeClr val="lt1"/>
                </a:solidFill>
                <a:latin typeface="Arial"/>
                <a:ea typeface="Arial"/>
                <a:cs typeface="Arial"/>
                <a:sym typeface="Arial"/>
                <a:hlinkClick r:id="rId3">
                  <a:extLst>
                    <a:ext uri="{A12FA001-AC4F-418D-AE19-62706E023703}">
                      <ahyp:hlinkClr val="tx"/>
                    </a:ext>
                  </a:extLst>
                </a:hlinkClick>
              </a:rPr>
              <a:t>https://www.cisco.com/c/en/us/support/docs/lan-switching/ethernet/12006-chapter22.html#topic1</a:t>
            </a:r>
            <a:r>
              <a:rPr lang="en-US" sz="3000">
                <a:solidFill>
                  <a:schemeClr val="lt1"/>
                </a:solidFill>
                <a:latin typeface="Arial"/>
                <a:ea typeface="Arial"/>
                <a:cs typeface="Arial"/>
                <a:sym typeface="Arial"/>
              </a:rPr>
              <a:t> </a:t>
            </a:r>
            <a:endParaRPr/>
          </a:p>
          <a:p>
            <a:pPr indent="0" lvl="0" marL="0" marR="0" rtl="0" algn="l">
              <a:lnSpc>
                <a:spcPct val="114000"/>
              </a:lnSpc>
              <a:spcBef>
                <a:spcPts val="1200"/>
              </a:spcBef>
              <a:spcAft>
                <a:spcPts val="0"/>
              </a:spcAft>
              <a:buNone/>
            </a:pPr>
            <a:r>
              <a:rPr lang="en-US" sz="3000">
                <a:solidFill>
                  <a:schemeClr val="lt1"/>
                </a:solidFill>
                <a:latin typeface="Arial"/>
                <a:ea typeface="Arial"/>
                <a:cs typeface="Arial"/>
                <a:sym typeface="Arial"/>
              </a:rPr>
              <a:t>Write any notes on key information or to summarise what you have read. Keep the link for future reference.</a:t>
            </a:r>
            <a:endParaRPr/>
          </a:p>
        </p:txBody>
      </p:sp>
      <p:grpSp>
        <p:nvGrpSpPr>
          <p:cNvPr id="965" name="Google Shape;965;p53"/>
          <p:cNvGrpSpPr/>
          <p:nvPr/>
        </p:nvGrpSpPr>
        <p:grpSpPr>
          <a:xfrm>
            <a:off x="1028700" y="495300"/>
            <a:ext cx="17259300" cy="218203"/>
            <a:chOff x="1028700" y="723900"/>
            <a:chExt cx="17259300" cy="218203"/>
          </a:xfrm>
        </p:grpSpPr>
        <p:sp>
          <p:nvSpPr>
            <p:cNvPr id="966" name="Google Shape;966;p53"/>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3"/>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3"/>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3"/>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970" name="Google Shape;970;p53"/>
          <p:cNvPicPr preferRelativeResize="0"/>
          <p:nvPr/>
        </p:nvPicPr>
        <p:blipFill rotWithShape="1">
          <a:blip r:embed="rId4">
            <a:alphaModFix/>
          </a:blip>
          <a:srcRect b="0" l="0" r="0" t="0"/>
          <a:stretch/>
        </p:blipFill>
        <p:spPr>
          <a:xfrm flipH="1">
            <a:off x="643741" y="1676834"/>
            <a:ext cx="1207968" cy="1207968"/>
          </a:xfrm>
          <a:prstGeom prst="rect">
            <a:avLst/>
          </a:prstGeom>
          <a:noFill/>
          <a:ln>
            <a:noFill/>
          </a:ln>
        </p:spPr>
      </p:pic>
      <p:sp>
        <p:nvSpPr>
          <p:cNvPr id="971" name="Google Shape;971;p53"/>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972" name="Google Shape;972;p53"/>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973" name="Google Shape;973;p53"/>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974" name="Google Shape;974;p53"/>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67A"/>
        </a:solidFill>
      </p:bgPr>
    </p:bg>
    <p:spTree>
      <p:nvGrpSpPr>
        <p:cNvPr id="979" name="Shape 979"/>
        <p:cNvGrpSpPr/>
        <p:nvPr/>
      </p:nvGrpSpPr>
      <p:grpSpPr>
        <a:xfrm>
          <a:off x="0" y="0"/>
          <a:ext cx="0" cy="0"/>
          <a:chOff x="0" y="0"/>
          <a:chExt cx="0" cy="0"/>
        </a:xfrm>
      </p:grpSpPr>
      <p:sp>
        <p:nvSpPr>
          <p:cNvPr id="980" name="Google Shape;980;p54"/>
          <p:cNvSpPr/>
          <p:nvPr/>
        </p:nvSpPr>
        <p:spPr>
          <a:xfrm>
            <a:off x="0" y="7886700"/>
            <a:ext cx="18288000" cy="16210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54"/>
          <p:cNvSpPr txBox="1"/>
          <p:nvPr/>
        </p:nvSpPr>
        <p:spPr>
          <a:xfrm>
            <a:off x="2209800" y="1676834"/>
            <a:ext cx="14935200" cy="30841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1" lang="en-US" sz="3200">
                <a:solidFill>
                  <a:schemeClr val="lt1"/>
                </a:solidFill>
                <a:latin typeface="Arial"/>
                <a:ea typeface="Arial"/>
                <a:cs typeface="Arial"/>
                <a:sym typeface="Arial"/>
              </a:rPr>
              <a:t>ACTIVITY: DEVELOP</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Create a test plan.</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Write a procedure that you could use to troubleshoot switch configuration for one device.</a:t>
            </a:r>
            <a:endParaRPr/>
          </a:p>
          <a:p>
            <a:pPr indent="-457200" lvl="0" marL="457200" marR="0" rtl="0" algn="l">
              <a:lnSpc>
                <a:spcPct val="114000"/>
              </a:lnSpc>
              <a:spcBef>
                <a:spcPts val="1200"/>
              </a:spcBef>
              <a:spcAft>
                <a:spcPts val="0"/>
              </a:spcAft>
              <a:buClr>
                <a:schemeClr val="lt1"/>
              </a:buClr>
              <a:buSzPts val="3000"/>
              <a:buFont typeface="Arial"/>
              <a:buChar char="•"/>
            </a:pPr>
            <a:r>
              <a:rPr lang="en-US" sz="3000">
                <a:solidFill>
                  <a:schemeClr val="lt1"/>
                </a:solidFill>
                <a:latin typeface="Arial"/>
                <a:ea typeface="Arial"/>
                <a:cs typeface="Arial"/>
                <a:sym typeface="Arial"/>
              </a:rPr>
              <a:t>Seek feedback and support from your trainer/assessor. </a:t>
            </a:r>
            <a:endParaRPr sz="3000">
              <a:solidFill>
                <a:schemeClr val="lt1"/>
              </a:solidFill>
              <a:latin typeface="Arial"/>
              <a:ea typeface="Arial"/>
              <a:cs typeface="Arial"/>
              <a:sym typeface="Arial"/>
            </a:endParaRPr>
          </a:p>
        </p:txBody>
      </p:sp>
      <p:grpSp>
        <p:nvGrpSpPr>
          <p:cNvPr id="982" name="Google Shape;982;p54"/>
          <p:cNvGrpSpPr/>
          <p:nvPr/>
        </p:nvGrpSpPr>
        <p:grpSpPr>
          <a:xfrm>
            <a:off x="1028700" y="495300"/>
            <a:ext cx="17259300" cy="218203"/>
            <a:chOff x="1028700" y="723900"/>
            <a:chExt cx="17259300" cy="218203"/>
          </a:xfrm>
        </p:grpSpPr>
        <p:sp>
          <p:nvSpPr>
            <p:cNvPr id="983" name="Google Shape;983;p54"/>
            <p:cNvSpPr/>
            <p:nvPr/>
          </p:nvSpPr>
          <p:spPr>
            <a:xfrm>
              <a:off x="1044000" y="826884"/>
              <a:ext cx="17244000" cy="20795"/>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4"/>
            <p:cNvSpPr/>
            <p:nvPr/>
          </p:nvSpPr>
          <p:spPr>
            <a:xfrm>
              <a:off x="1028700" y="72390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4"/>
            <p:cNvSpPr/>
            <p:nvPr/>
          </p:nvSpPr>
          <p:spPr>
            <a:xfrm>
              <a:off x="6856574"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4"/>
            <p:cNvSpPr/>
            <p:nvPr/>
          </p:nvSpPr>
          <p:spPr>
            <a:xfrm>
              <a:off x="12684448" y="732460"/>
              <a:ext cx="219025" cy="209643"/>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ad with gears" id="987" name="Google Shape;987;p54"/>
          <p:cNvPicPr preferRelativeResize="0"/>
          <p:nvPr/>
        </p:nvPicPr>
        <p:blipFill rotWithShape="1">
          <a:blip r:embed="rId3">
            <a:alphaModFix/>
          </a:blip>
          <a:srcRect b="0" l="0" r="0" t="0"/>
          <a:stretch/>
        </p:blipFill>
        <p:spPr>
          <a:xfrm flipH="1">
            <a:off x="643741" y="1676834"/>
            <a:ext cx="1207968" cy="1207968"/>
          </a:xfrm>
          <a:prstGeom prst="rect">
            <a:avLst/>
          </a:prstGeom>
          <a:noFill/>
          <a:ln>
            <a:noFill/>
          </a:ln>
        </p:spPr>
      </p:pic>
      <p:sp>
        <p:nvSpPr>
          <p:cNvPr id="988" name="Google Shape;988;p54"/>
          <p:cNvSpPr txBox="1"/>
          <p:nvPr/>
        </p:nvSpPr>
        <p:spPr>
          <a:xfrm>
            <a:off x="15163800" y="9715499"/>
            <a:ext cx="2895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n-US" sz="1200">
                <a:solidFill>
                  <a:schemeClr val="lt1"/>
                </a:solidFill>
              </a:rPr>
              <a:t>© 2021 Milestones International College</a:t>
            </a:r>
            <a:endParaRPr>
              <a:solidFill>
                <a:schemeClr val="lt1"/>
              </a:solidFill>
            </a:endParaRPr>
          </a:p>
        </p:txBody>
      </p:sp>
      <p:sp>
        <p:nvSpPr>
          <p:cNvPr id="989" name="Google Shape;989;p54"/>
          <p:cNvSpPr txBox="1"/>
          <p:nvPr/>
        </p:nvSpPr>
        <p:spPr>
          <a:xfrm>
            <a:off x="17526000" y="164563"/>
            <a:ext cx="478452" cy="34785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990" name="Google Shape;990;p54"/>
          <p:cNvSpPr txBox="1"/>
          <p:nvPr>
            <p:ph idx="11" type="ftr"/>
          </p:nvPr>
        </p:nvSpPr>
        <p:spPr>
          <a:xfrm>
            <a:off x="533400" y="9715499"/>
            <a:ext cx="6019800" cy="4428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lt1"/>
                </a:solidFill>
                <a:latin typeface="Arial"/>
                <a:ea typeface="Arial"/>
                <a:cs typeface="Arial"/>
                <a:sym typeface="Arial"/>
              </a:rPr>
              <a:t>ICTNWK612 </a:t>
            </a:r>
            <a:r>
              <a:rPr lang="en-US">
                <a:solidFill>
                  <a:schemeClr val="lt1"/>
                </a:solidFill>
                <a:latin typeface="Arial"/>
                <a:ea typeface="Arial"/>
                <a:cs typeface="Arial"/>
                <a:sym typeface="Arial"/>
              </a:rPr>
              <a:t>Plan and manage troubleshooting advanced integrated IP networks</a:t>
            </a:r>
            <a:endParaRPr/>
          </a:p>
        </p:txBody>
      </p:sp>
      <p:sp>
        <p:nvSpPr>
          <p:cNvPr id="991" name="Google Shape;991;p54"/>
          <p:cNvSpPr txBox="1"/>
          <p:nvPr/>
        </p:nvSpPr>
        <p:spPr>
          <a:xfrm>
            <a:off x="957268" y="8351178"/>
            <a:ext cx="16745495" cy="692113"/>
          </a:xfrm>
          <a:prstGeom prst="rect">
            <a:avLst/>
          </a:prstGeom>
          <a:noFill/>
          <a:ln>
            <a:noFill/>
          </a:ln>
        </p:spPr>
        <p:txBody>
          <a:bodyPr anchorCtr="0" anchor="t" bIns="0" lIns="0" spcFirstLastPara="1" rIns="0" wrap="square" tIns="0">
            <a:spAutoFit/>
          </a:bodyPr>
          <a:lstStyle/>
          <a:p>
            <a:pPr indent="0" lvl="0" marL="0" marR="0" rtl="0" algn="r">
              <a:lnSpc>
                <a:spcPct val="125195"/>
              </a:lnSpc>
              <a:spcBef>
                <a:spcPts val="0"/>
              </a:spcBef>
              <a:spcAft>
                <a:spcPts val="0"/>
              </a:spcAft>
              <a:buNone/>
            </a:pPr>
            <a:r>
              <a:rPr lang="en-US" sz="4600">
                <a:solidFill>
                  <a:srgbClr val="00667A"/>
                </a:solidFill>
                <a:latin typeface="Arial"/>
                <a:ea typeface="Arial"/>
                <a:cs typeface="Arial"/>
                <a:sym typeface="Arial"/>
              </a:rPr>
              <a:t>Topic 3: Testing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FD0F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Heidi Schwager</dc:creator>
</cp:coreProperties>
</file>