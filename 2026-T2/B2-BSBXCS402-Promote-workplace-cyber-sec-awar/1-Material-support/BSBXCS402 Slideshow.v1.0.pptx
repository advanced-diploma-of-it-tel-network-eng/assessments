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35"/>
  </p:notesMasterIdLst>
  <p:sldIdLst>
    <p:sldId id="256" r:id="rId2"/>
    <p:sldId id="264" r:id="rId3"/>
    <p:sldId id="479" r:id="rId4"/>
    <p:sldId id="480" r:id="rId5"/>
    <p:sldId id="481" r:id="rId6"/>
    <p:sldId id="482" r:id="rId7"/>
    <p:sldId id="483" r:id="rId8"/>
    <p:sldId id="484" r:id="rId9"/>
    <p:sldId id="485" r:id="rId10"/>
    <p:sldId id="486" r:id="rId11"/>
    <p:sldId id="487" r:id="rId12"/>
    <p:sldId id="488" r:id="rId13"/>
    <p:sldId id="489" r:id="rId14"/>
    <p:sldId id="490" r:id="rId15"/>
    <p:sldId id="491" r:id="rId16"/>
    <p:sldId id="493" r:id="rId17"/>
    <p:sldId id="494" r:id="rId18"/>
    <p:sldId id="495" r:id="rId19"/>
    <p:sldId id="496" r:id="rId20"/>
    <p:sldId id="497" r:id="rId21"/>
    <p:sldId id="498" r:id="rId22"/>
    <p:sldId id="499" r:id="rId23"/>
    <p:sldId id="500" r:id="rId24"/>
    <p:sldId id="501" r:id="rId25"/>
    <p:sldId id="502" r:id="rId26"/>
    <p:sldId id="503" r:id="rId27"/>
    <p:sldId id="504" r:id="rId28"/>
    <p:sldId id="507" r:id="rId29"/>
    <p:sldId id="506" r:id="rId30"/>
    <p:sldId id="505" r:id="rId31"/>
    <p:sldId id="508" r:id="rId32"/>
    <p:sldId id="509" r:id="rId33"/>
    <p:sldId id="510"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7A"/>
    <a:srgbClr val="0563C1"/>
    <a:srgbClr val="DEEAF6"/>
    <a:srgbClr val="31859C"/>
    <a:srgbClr val="00343C"/>
    <a:srgbClr val="FFE9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F57D6A-9462-564A-A86B-E4B71F339FB1}" v="2" dt="2021-05-21T04:36:20.1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528"/>
    <p:restoredTop sz="87606" autoAdjust="0"/>
  </p:normalViewPr>
  <p:slideViewPr>
    <p:cSldViewPr snapToGrid="0" snapToObjects="1">
      <p:cViewPr varScale="1">
        <p:scale>
          <a:sx n="107" d="100"/>
          <a:sy n="107" d="100"/>
        </p:scale>
        <p:origin x="1080" y="176"/>
      </p:cViewPr>
      <p:guideLst>
        <p:guide orient="horz" pos="2160"/>
        <p:guide pos="2880"/>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idi Schwager" userId="5dfb16cb-09eb-49b7-92c5-50c01700be70" providerId="ADAL" clId="{22F57D6A-9462-564A-A86B-E4B71F339FB1}"/>
    <pc:docChg chg="modSld">
      <pc:chgData name="Heidi Schwager" userId="5dfb16cb-09eb-49b7-92c5-50c01700be70" providerId="ADAL" clId="{22F57D6A-9462-564A-A86B-E4B71F339FB1}" dt="2021-05-21T04:36:20.176" v="3" actId="20577"/>
      <pc:docMkLst>
        <pc:docMk/>
      </pc:docMkLst>
      <pc:sldChg chg="modSp mod">
        <pc:chgData name="Heidi Schwager" userId="5dfb16cb-09eb-49b7-92c5-50c01700be70" providerId="ADAL" clId="{22F57D6A-9462-564A-A86B-E4B71F339FB1}" dt="2021-05-21T04:36:20.176" v="3" actId="20577"/>
        <pc:sldMkLst>
          <pc:docMk/>
          <pc:sldMk cId="4278587866" sldId="498"/>
        </pc:sldMkLst>
        <pc:spChg chg="mod">
          <ac:chgData name="Heidi Schwager" userId="5dfb16cb-09eb-49b7-92c5-50c01700be70" providerId="ADAL" clId="{22F57D6A-9462-564A-A86B-E4B71F339FB1}" dt="2021-05-21T04:36:20.176" v="3" actId="20577"/>
          <ac:spMkLst>
            <pc:docMk/>
            <pc:sldMk cId="4278587866" sldId="498"/>
            <ac:spMk id="8"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F6EB5C-E661-4746-B0FC-A774157D565D}" type="doc">
      <dgm:prSet loTypeId="urn:microsoft.com/office/officeart/2005/8/layout/default" loCatId="" qsTypeId="urn:microsoft.com/office/officeart/2005/8/quickstyle/simple1" qsCatId="simple" csTypeId="urn:microsoft.com/office/officeart/2005/8/colors/colorful5" csCatId="colorful" phldr="1"/>
      <dgm:spPr/>
      <dgm:t>
        <a:bodyPr/>
        <a:lstStyle/>
        <a:p>
          <a:endParaRPr lang="en-GB"/>
        </a:p>
      </dgm:t>
    </dgm:pt>
    <dgm:pt modelId="{6C648FF9-EE86-7246-B5FD-A0EAB2C11E08}">
      <dgm:prSet phldrT="[Text]" custT="1"/>
      <dgm:spPr>
        <a:xfrm>
          <a:off x="0" y="131127"/>
          <a:ext cx="1714499" cy="1028700"/>
        </a:xfrm>
        <a:prstGeom prst="rect">
          <a:avLst/>
        </a:prstGeom>
        <a:solidFill>
          <a:srgbClr val="58B6C0"/>
        </a:solidFill>
        <a:ln w="12700" cap="flat" cmpd="sng" algn="ctr">
          <a:solidFill>
            <a:sysClr val="window" lastClr="FFFFFF">
              <a:hueOff val="0"/>
              <a:satOff val="0"/>
              <a:lumOff val="0"/>
              <a:alphaOff val="0"/>
            </a:sysClr>
          </a:solidFill>
          <a:prstDash val="solid"/>
          <a:miter lim="800000"/>
        </a:ln>
        <a:effectLst/>
      </dgm:spPr>
      <dgm:t>
        <a:bodyPr lIns="72000" rIns="108000"/>
        <a:lstStyle/>
        <a:p>
          <a:pPr>
            <a:lnSpc>
              <a:spcPct val="100000"/>
            </a:lnSpc>
            <a:buNone/>
          </a:pPr>
          <a:r>
            <a:rPr lang="en-AU" sz="2400" dirty="0">
              <a:solidFill>
                <a:sysClr val="window" lastClr="FFFFFF"/>
              </a:solidFill>
              <a:latin typeface="Arial" panose="020B0604020202020204" pitchFamily="34" charset="0"/>
              <a:ea typeface="+mn-ea"/>
              <a:cs typeface="Arial" panose="020B0604020202020204" pitchFamily="34" charset="0"/>
            </a:rPr>
            <a:t>Compliance relating to legislation and regulations</a:t>
          </a:r>
          <a:endParaRPr lang="en-GB" sz="2400" dirty="0">
            <a:solidFill>
              <a:sysClr val="window" lastClr="FFFFFF"/>
            </a:solidFill>
            <a:latin typeface="Arial" panose="020B0604020202020204" pitchFamily="34" charset="0"/>
            <a:ea typeface="+mn-ea"/>
            <a:cs typeface="Arial" panose="020B0604020202020204" pitchFamily="34" charset="0"/>
          </a:endParaRPr>
        </a:p>
      </dgm:t>
    </dgm:pt>
    <dgm:pt modelId="{2971BB94-5DA8-9A48-8ED1-65E8F9DE1E6A}" type="parTrans" cxnId="{AD7502FC-86A1-1B4D-9B34-688D636B09A7}">
      <dgm:prSet/>
      <dgm:spPr/>
      <dgm:t>
        <a:bodyPr/>
        <a:lstStyle/>
        <a:p>
          <a:pPr>
            <a:lnSpc>
              <a:spcPct val="100000"/>
            </a:lnSpc>
          </a:pPr>
          <a:endParaRPr lang="en-GB" sz="2400">
            <a:latin typeface="Arial" panose="020B0604020202020204" pitchFamily="34" charset="0"/>
            <a:cs typeface="Arial" panose="020B0604020202020204" pitchFamily="34" charset="0"/>
          </a:endParaRPr>
        </a:p>
      </dgm:t>
    </dgm:pt>
    <dgm:pt modelId="{D1A1B890-B55F-4C42-B794-96537D32BD5B}" type="sibTrans" cxnId="{AD7502FC-86A1-1B4D-9B34-688D636B09A7}">
      <dgm:prSet/>
      <dgm:spPr/>
      <dgm:t>
        <a:bodyPr/>
        <a:lstStyle/>
        <a:p>
          <a:pPr>
            <a:lnSpc>
              <a:spcPct val="100000"/>
            </a:lnSpc>
          </a:pPr>
          <a:endParaRPr lang="en-GB" sz="2400">
            <a:latin typeface="Arial" panose="020B0604020202020204" pitchFamily="34" charset="0"/>
            <a:cs typeface="Arial" panose="020B0604020202020204" pitchFamily="34" charset="0"/>
          </a:endParaRPr>
        </a:p>
      </dgm:t>
    </dgm:pt>
    <dgm:pt modelId="{7A8E8FD0-0115-E742-A16C-34890A438778}">
      <dgm:prSet custT="1"/>
      <dgm:spPr>
        <a:xfrm>
          <a:off x="1885950" y="131127"/>
          <a:ext cx="1714499" cy="1028700"/>
        </a:xfrm>
        <a:prstGeom prst="rect">
          <a:avLst/>
        </a:prstGeom>
        <a:solidFill>
          <a:srgbClr val="61C0BD"/>
        </a:solidFill>
        <a:ln w="12700" cap="flat" cmpd="sng" algn="ctr">
          <a:solidFill>
            <a:sysClr val="window" lastClr="FFFFFF">
              <a:hueOff val="0"/>
              <a:satOff val="0"/>
              <a:lumOff val="0"/>
              <a:alphaOff val="0"/>
            </a:sysClr>
          </a:solidFill>
          <a:prstDash val="solid"/>
          <a:miter lim="800000"/>
        </a:ln>
        <a:effectLst/>
      </dgm:spPr>
      <dgm:t>
        <a:bodyPr lIns="72000" rIns="108000"/>
        <a:lstStyle/>
        <a:p>
          <a:pPr>
            <a:lnSpc>
              <a:spcPct val="100000"/>
            </a:lnSpc>
            <a:buNone/>
          </a:pPr>
          <a:r>
            <a:rPr lang="en-AU" sz="2400" dirty="0">
              <a:solidFill>
                <a:sysClr val="window" lastClr="FFFFFF"/>
              </a:solidFill>
              <a:latin typeface="Arial" panose="020B0604020202020204" pitchFamily="34" charset="0"/>
              <a:ea typeface="+mn-ea"/>
              <a:cs typeface="Arial" panose="020B0604020202020204" pitchFamily="34" charset="0"/>
            </a:rPr>
            <a:t>Infrastructure of systems and processes</a:t>
          </a:r>
        </a:p>
      </dgm:t>
    </dgm:pt>
    <dgm:pt modelId="{5E4BA0CB-3DFB-FE49-8821-8CA6DF791A3B}" type="parTrans" cxnId="{80B21F51-44BF-634C-9746-A1CDE23B0A43}">
      <dgm:prSet/>
      <dgm:spPr/>
      <dgm:t>
        <a:bodyPr/>
        <a:lstStyle/>
        <a:p>
          <a:pPr>
            <a:lnSpc>
              <a:spcPct val="100000"/>
            </a:lnSpc>
          </a:pPr>
          <a:endParaRPr lang="en-GB" sz="2400">
            <a:latin typeface="Arial" panose="020B0604020202020204" pitchFamily="34" charset="0"/>
            <a:cs typeface="Arial" panose="020B0604020202020204" pitchFamily="34" charset="0"/>
          </a:endParaRPr>
        </a:p>
      </dgm:t>
    </dgm:pt>
    <dgm:pt modelId="{7631A18E-BC3A-854C-ADEB-0FD5BC7A8EE8}" type="sibTrans" cxnId="{80B21F51-44BF-634C-9746-A1CDE23B0A43}">
      <dgm:prSet/>
      <dgm:spPr/>
      <dgm:t>
        <a:bodyPr/>
        <a:lstStyle/>
        <a:p>
          <a:pPr>
            <a:lnSpc>
              <a:spcPct val="100000"/>
            </a:lnSpc>
          </a:pPr>
          <a:endParaRPr lang="en-GB" sz="2400">
            <a:latin typeface="Arial" panose="020B0604020202020204" pitchFamily="34" charset="0"/>
            <a:cs typeface="Arial" panose="020B0604020202020204" pitchFamily="34" charset="0"/>
          </a:endParaRPr>
        </a:p>
      </dgm:t>
    </dgm:pt>
    <dgm:pt modelId="{6DEB55CB-96A3-C64A-AF8E-5BD13BE77F90}">
      <dgm:prSet custT="1"/>
      <dgm:spPr>
        <a:xfrm>
          <a:off x="3771900" y="131127"/>
          <a:ext cx="1714499" cy="1028700"/>
        </a:xfrm>
        <a:prstGeom prst="rect">
          <a:avLst/>
        </a:prstGeom>
        <a:solidFill>
          <a:srgbClr val="69BFB3"/>
        </a:solidFill>
        <a:ln w="12700" cap="flat" cmpd="sng" algn="ctr">
          <a:solidFill>
            <a:sysClr val="window" lastClr="FFFFFF">
              <a:hueOff val="0"/>
              <a:satOff val="0"/>
              <a:lumOff val="0"/>
              <a:alphaOff val="0"/>
            </a:sysClr>
          </a:solidFill>
          <a:prstDash val="solid"/>
          <a:miter lim="800000"/>
        </a:ln>
        <a:effectLst/>
      </dgm:spPr>
      <dgm:t>
        <a:bodyPr lIns="72000" rIns="108000"/>
        <a:lstStyle/>
        <a:p>
          <a:pPr>
            <a:lnSpc>
              <a:spcPct val="100000"/>
            </a:lnSpc>
            <a:buNone/>
          </a:pPr>
          <a:r>
            <a:rPr lang="en-AU" sz="2400" dirty="0">
              <a:solidFill>
                <a:sysClr val="window" lastClr="FFFFFF"/>
              </a:solidFill>
              <a:latin typeface="Arial" panose="020B0604020202020204" pitchFamily="34" charset="0"/>
              <a:ea typeface="+mn-ea"/>
              <a:cs typeface="Arial" panose="020B0604020202020204" pitchFamily="34" charset="0"/>
            </a:rPr>
            <a:t>Employee’s roles and responsibilities</a:t>
          </a:r>
        </a:p>
      </dgm:t>
    </dgm:pt>
    <dgm:pt modelId="{AA8C3292-5BBC-F147-BE37-1DFCABDB2056}" type="parTrans" cxnId="{8E143A0C-28CC-2D46-841D-59D307F2C41A}">
      <dgm:prSet/>
      <dgm:spPr/>
      <dgm:t>
        <a:bodyPr/>
        <a:lstStyle/>
        <a:p>
          <a:pPr>
            <a:lnSpc>
              <a:spcPct val="100000"/>
            </a:lnSpc>
          </a:pPr>
          <a:endParaRPr lang="en-GB" sz="2400">
            <a:latin typeface="Arial" panose="020B0604020202020204" pitchFamily="34" charset="0"/>
            <a:cs typeface="Arial" panose="020B0604020202020204" pitchFamily="34" charset="0"/>
          </a:endParaRPr>
        </a:p>
      </dgm:t>
    </dgm:pt>
    <dgm:pt modelId="{770C7494-ACE4-E544-91BB-92870FD82C2D}" type="sibTrans" cxnId="{8E143A0C-28CC-2D46-841D-59D307F2C41A}">
      <dgm:prSet/>
      <dgm:spPr/>
      <dgm:t>
        <a:bodyPr/>
        <a:lstStyle/>
        <a:p>
          <a:pPr>
            <a:lnSpc>
              <a:spcPct val="100000"/>
            </a:lnSpc>
          </a:pPr>
          <a:endParaRPr lang="en-GB" sz="2400">
            <a:latin typeface="Arial" panose="020B0604020202020204" pitchFamily="34" charset="0"/>
            <a:cs typeface="Arial" panose="020B0604020202020204" pitchFamily="34" charset="0"/>
          </a:endParaRPr>
        </a:p>
      </dgm:t>
    </dgm:pt>
    <dgm:pt modelId="{7B943F41-1CAF-CC47-B356-E259F7E4DC90}" type="pres">
      <dgm:prSet presAssocID="{D7F6EB5C-E661-4746-B0FC-A774157D565D}" presName="diagram" presStyleCnt="0">
        <dgm:presLayoutVars>
          <dgm:dir/>
          <dgm:resizeHandles val="exact"/>
        </dgm:presLayoutVars>
      </dgm:prSet>
      <dgm:spPr/>
    </dgm:pt>
    <dgm:pt modelId="{7CA5F823-FF68-044A-BA0A-4A7DB7278433}" type="pres">
      <dgm:prSet presAssocID="{6C648FF9-EE86-7246-B5FD-A0EAB2C11E08}" presName="node" presStyleLbl="node1" presStyleIdx="0" presStyleCnt="3" custScaleX="130948">
        <dgm:presLayoutVars>
          <dgm:bulletEnabled val="1"/>
        </dgm:presLayoutVars>
      </dgm:prSet>
      <dgm:spPr/>
    </dgm:pt>
    <dgm:pt modelId="{4C5B60A6-ED63-F245-858B-191EE0A3E8F2}" type="pres">
      <dgm:prSet presAssocID="{D1A1B890-B55F-4C42-B794-96537D32BD5B}" presName="sibTrans" presStyleCnt="0"/>
      <dgm:spPr/>
    </dgm:pt>
    <dgm:pt modelId="{B4C78ACB-2D5B-BB4E-A82D-B472A5345840}" type="pres">
      <dgm:prSet presAssocID="{7A8E8FD0-0115-E742-A16C-34890A438778}" presName="node" presStyleLbl="node1" presStyleIdx="1" presStyleCnt="3">
        <dgm:presLayoutVars>
          <dgm:bulletEnabled val="1"/>
        </dgm:presLayoutVars>
      </dgm:prSet>
      <dgm:spPr/>
    </dgm:pt>
    <dgm:pt modelId="{263786AA-E915-CE46-8A42-66A5BBA49E59}" type="pres">
      <dgm:prSet presAssocID="{7631A18E-BC3A-854C-ADEB-0FD5BC7A8EE8}" presName="sibTrans" presStyleCnt="0"/>
      <dgm:spPr/>
    </dgm:pt>
    <dgm:pt modelId="{FCF72DA3-F25C-D849-B90B-AA7188DD0736}" type="pres">
      <dgm:prSet presAssocID="{6DEB55CB-96A3-C64A-AF8E-5BD13BE77F90}" presName="node" presStyleLbl="node1" presStyleIdx="2" presStyleCnt="3">
        <dgm:presLayoutVars>
          <dgm:bulletEnabled val="1"/>
        </dgm:presLayoutVars>
      </dgm:prSet>
      <dgm:spPr/>
    </dgm:pt>
  </dgm:ptLst>
  <dgm:cxnLst>
    <dgm:cxn modelId="{8E143A0C-28CC-2D46-841D-59D307F2C41A}" srcId="{D7F6EB5C-E661-4746-B0FC-A774157D565D}" destId="{6DEB55CB-96A3-C64A-AF8E-5BD13BE77F90}" srcOrd="2" destOrd="0" parTransId="{AA8C3292-5BBC-F147-BE37-1DFCABDB2056}" sibTransId="{770C7494-ACE4-E544-91BB-92870FD82C2D}"/>
    <dgm:cxn modelId="{50510B1C-912D-ED45-8BCE-F29A1658A0BB}" type="presOf" srcId="{7A8E8FD0-0115-E742-A16C-34890A438778}" destId="{B4C78ACB-2D5B-BB4E-A82D-B472A5345840}" srcOrd="0" destOrd="0" presId="urn:microsoft.com/office/officeart/2005/8/layout/default"/>
    <dgm:cxn modelId="{80B21F51-44BF-634C-9746-A1CDE23B0A43}" srcId="{D7F6EB5C-E661-4746-B0FC-A774157D565D}" destId="{7A8E8FD0-0115-E742-A16C-34890A438778}" srcOrd="1" destOrd="0" parTransId="{5E4BA0CB-3DFB-FE49-8821-8CA6DF791A3B}" sibTransId="{7631A18E-BC3A-854C-ADEB-0FD5BC7A8EE8}"/>
    <dgm:cxn modelId="{5C784F52-06E3-9943-9CDD-6E684E88CD45}" type="presOf" srcId="{6C648FF9-EE86-7246-B5FD-A0EAB2C11E08}" destId="{7CA5F823-FF68-044A-BA0A-4A7DB7278433}" srcOrd="0" destOrd="0" presId="urn:microsoft.com/office/officeart/2005/8/layout/default"/>
    <dgm:cxn modelId="{4D71B4CD-30DC-B944-9BA8-7C3C661D7924}" type="presOf" srcId="{6DEB55CB-96A3-C64A-AF8E-5BD13BE77F90}" destId="{FCF72DA3-F25C-D849-B90B-AA7188DD0736}" srcOrd="0" destOrd="0" presId="urn:microsoft.com/office/officeart/2005/8/layout/default"/>
    <dgm:cxn modelId="{F6B0DFF7-0B24-C244-9A12-EB48C7C5795D}" type="presOf" srcId="{D7F6EB5C-E661-4746-B0FC-A774157D565D}" destId="{7B943F41-1CAF-CC47-B356-E259F7E4DC90}" srcOrd="0" destOrd="0" presId="urn:microsoft.com/office/officeart/2005/8/layout/default"/>
    <dgm:cxn modelId="{AD7502FC-86A1-1B4D-9B34-688D636B09A7}" srcId="{D7F6EB5C-E661-4746-B0FC-A774157D565D}" destId="{6C648FF9-EE86-7246-B5FD-A0EAB2C11E08}" srcOrd="0" destOrd="0" parTransId="{2971BB94-5DA8-9A48-8ED1-65E8F9DE1E6A}" sibTransId="{D1A1B890-B55F-4C42-B794-96537D32BD5B}"/>
    <dgm:cxn modelId="{80200D37-4E96-FF41-AB5F-84769248BBC4}" type="presParOf" srcId="{7B943F41-1CAF-CC47-B356-E259F7E4DC90}" destId="{7CA5F823-FF68-044A-BA0A-4A7DB7278433}" srcOrd="0" destOrd="0" presId="urn:microsoft.com/office/officeart/2005/8/layout/default"/>
    <dgm:cxn modelId="{76119999-78E4-AF44-B5B8-E796D6882B58}" type="presParOf" srcId="{7B943F41-1CAF-CC47-B356-E259F7E4DC90}" destId="{4C5B60A6-ED63-F245-858B-191EE0A3E8F2}" srcOrd="1" destOrd="0" presId="urn:microsoft.com/office/officeart/2005/8/layout/default"/>
    <dgm:cxn modelId="{810D6B07-F517-0249-8641-205489B9B78D}" type="presParOf" srcId="{7B943F41-1CAF-CC47-B356-E259F7E4DC90}" destId="{B4C78ACB-2D5B-BB4E-A82D-B472A5345840}" srcOrd="2" destOrd="0" presId="urn:microsoft.com/office/officeart/2005/8/layout/default"/>
    <dgm:cxn modelId="{21A744EA-2563-A34D-B4B2-15F25C5BF5E9}" type="presParOf" srcId="{7B943F41-1CAF-CC47-B356-E259F7E4DC90}" destId="{263786AA-E915-CE46-8A42-66A5BBA49E59}" srcOrd="3" destOrd="0" presId="urn:microsoft.com/office/officeart/2005/8/layout/default"/>
    <dgm:cxn modelId="{671A2B45-58E0-0D40-97C8-B4BC412AF3C4}" type="presParOf" srcId="{7B943F41-1CAF-CC47-B356-E259F7E4DC90}" destId="{FCF72DA3-F25C-D849-B90B-AA7188DD0736}" srcOrd="4"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A5F823-FF68-044A-BA0A-4A7DB7278433}">
      <dsp:nvSpPr>
        <dsp:cNvPr id="0" name=""/>
        <dsp:cNvSpPr/>
      </dsp:nvSpPr>
      <dsp:spPr>
        <a:xfrm>
          <a:off x="3758" y="223149"/>
          <a:ext cx="2908353" cy="1332599"/>
        </a:xfrm>
        <a:prstGeom prst="rect">
          <a:avLst/>
        </a:prstGeom>
        <a:solidFill>
          <a:srgbClr val="58B6C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91440" rIns="108000" bIns="91440" numCol="1" spcCol="1270" anchor="ctr" anchorCtr="0">
          <a:noAutofit/>
        </a:bodyPr>
        <a:lstStyle/>
        <a:p>
          <a:pPr marL="0" lvl="0" indent="0" algn="ctr" defTabSz="1066800">
            <a:lnSpc>
              <a:spcPct val="100000"/>
            </a:lnSpc>
            <a:spcBef>
              <a:spcPct val="0"/>
            </a:spcBef>
            <a:spcAft>
              <a:spcPct val="35000"/>
            </a:spcAft>
            <a:buNone/>
          </a:pPr>
          <a:r>
            <a:rPr lang="en-AU" sz="2400" kern="1200" dirty="0">
              <a:solidFill>
                <a:sysClr val="window" lastClr="FFFFFF"/>
              </a:solidFill>
              <a:latin typeface="Arial" panose="020B0604020202020204" pitchFamily="34" charset="0"/>
              <a:ea typeface="+mn-ea"/>
              <a:cs typeface="Arial" panose="020B0604020202020204" pitchFamily="34" charset="0"/>
            </a:rPr>
            <a:t>Compliance relating to legislation and regulations</a:t>
          </a:r>
          <a:endParaRPr lang="en-GB" sz="2400" kern="1200" dirty="0">
            <a:solidFill>
              <a:sysClr val="window" lastClr="FFFFFF"/>
            </a:solidFill>
            <a:latin typeface="Arial" panose="020B0604020202020204" pitchFamily="34" charset="0"/>
            <a:ea typeface="+mn-ea"/>
            <a:cs typeface="Arial" panose="020B0604020202020204" pitchFamily="34" charset="0"/>
          </a:endParaRPr>
        </a:p>
      </dsp:txBody>
      <dsp:txXfrm>
        <a:off x="3758" y="223149"/>
        <a:ext cx="2908353" cy="1332599"/>
      </dsp:txXfrm>
    </dsp:sp>
    <dsp:sp modelId="{B4C78ACB-2D5B-BB4E-A82D-B472A5345840}">
      <dsp:nvSpPr>
        <dsp:cNvPr id="0" name=""/>
        <dsp:cNvSpPr/>
      </dsp:nvSpPr>
      <dsp:spPr>
        <a:xfrm>
          <a:off x="3134211" y="223149"/>
          <a:ext cx="2220998" cy="1332599"/>
        </a:xfrm>
        <a:prstGeom prst="rect">
          <a:avLst/>
        </a:prstGeom>
        <a:solidFill>
          <a:srgbClr val="61C0BD"/>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91440" rIns="108000" bIns="91440" numCol="1" spcCol="1270" anchor="ctr" anchorCtr="0">
          <a:noAutofit/>
        </a:bodyPr>
        <a:lstStyle/>
        <a:p>
          <a:pPr marL="0" lvl="0" indent="0" algn="ctr" defTabSz="1066800">
            <a:lnSpc>
              <a:spcPct val="100000"/>
            </a:lnSpc>
            <a:spcBef>
              <a:spcPct val="0"/>
            </a:spcBef>
            <a:spcAft>
              <a:spcPct val="35000"/>
            </a:spcAft>
            <a:buNone/>
          </a:pPr>
          <a:r>
            <a:rPr lang="en-AU" sz="2400" kern="1200" dirty="0">
              <a:solidFill>
                <a:sysClr val="window" lastClr="FFFFFF"/>
              </a:solidFill>
              <a:latin typeface="Arial" panose="020B0604020202020204" pitchFamily="34" charset="0"/>
              <a:ea typeface="+mn-ea"/>
              <a:cs typeface="Arial" panose="020B0604020202020204" pitchFamily="34" charset="0"/>
            </a:rPr>
            <a:t>Infrastructure of systems and processes</a:t>
          </a:r>
        </a:p>
      </dsp:txBody>
      <dsp:txXfrm>
        <a:off x="3134211" y="223149"/>
        <a:ext cx="2220998" cy="1332599"/>
      </dsp:txXfrm>
    </dsp:sp>
    <dsp:sp modelId="{FCF72DA3-F25C-D849-B90B-AA7188DD0736}">
      <dsp:nvSpPr>
        <dsp:cNvPr id="0" name=""/>
        <dsp:cNvSpPr/>
      </dsp:nvSpPr>
      <dsp:spPr>
        <a:xfrm>
          <a:off x="5577310" y="223149"/>
          <a:ext cx="2220998" cy="1332599"/>
        </a:xfrm>
        <a:prstGeom prst="rect">
          <a:avLst/>
        </a:prstGeom>
        <a:solidFill>
          <a:srgbClr val="69BFB3"/>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91440" rIns="108000" bIns="91440" numCol="1" spcCol="1270" anchor="ctr" anchorCtr="0">
          <a:noAutofit/>
        </a:bodyPr>
        <a:lstStyle/>
        <a:p>
          <a:pPr marL="0" lvl="0" indent="0" algn="ctr" defTabSz="1066800">
            <a:lnSpc>
              <a:spcPct val="100000"/>
            </a:lnSpc>
            <a:spcBef>
              <a:spcPct val="0"/>
            </a:spcBef>
            <a:spcAft>
              <a:spcPct val="35000"/>
            </a:spcAft>
            <a:buNone/>
          </a:pPr>
          <a:r>
            <a:rPr lang="en-AU" sz="2400" kern="1200" dirty="0">
              <a:solidFill>
                <a:sysClr val="window" lastClr="FFFFFF"/>
              </a:solidFill>
              <a:latin typeface="Arial" panose="020B0604020202020204" pitchFamily="34" charset="0"/>
              <a:ea typeface="+mn-ea"/>
              <a:cs typeface="Arial" panose="020B0604020202020204" pitchFamily="34" charset="0"/>
            </a:rPr>
            <a:t>Employee’s roles and responsibilities</a:t>
          </a:r>
        </a:p>
      </dsp:txBody>
      <dsp:txXfrm>
        <a:off x="5577310" y="223149"/>
        <a:ext cx="2220998" cy="1332599"/>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4F8888-61A9-1B45-9EC6-745A35971865}" type="datetimeFigureOut">
              <a:rPr lang="en-US" smtClean="0"/>
              <a:t>11/13/23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2D1F5C-EE86-0D4F-BFC0-2ECA893E4D08}" type="slidenum">
              <a:rPr lang="en-US" smtClean="0"/>
              <a:t>‹#›</a:t>
            </a:fld>
            <a:endParaRPr lang="en-US"/>
          </a:p>
        </p:txBody>
      </p:sp>
    </p:spTree>
    <p:extLst>
      <p:ext uri="{BB962C8B-B14F-4D97-AF65-F5344CB8AC3E}">
        <p14:creationId xmlns:p14="http://schemas.microsoft.com/office/powerpoint/2010/main" val="1319051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a:t>
            </a:fld>
            <a:endParaRPr lang="en-AU"/>
          </a:p>
        </p:txBody>
      </p:sp>
    </p:spTree>
    <p:extLst>
      <p:ext uri="{BB962C8B-B14F-4D97-AF65-F5344CB8AC3E}">
        <p14:creationId xmlns:p14="http://schemas.microsoft.com/office/powerpoint/2010/main" val="11415523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3</a:t>
            </a:fld>
            <a:endParaRPr lang="en-US"/>
          </a:p>
        </p:txBody>
      </p:sp>
    </p:spTree>
    <p:extLst>
      <p:ext uri="{BB962C8B-B14F-4D97-AF65-F5344CB8AC3E}">
        <p14:creationId xmlns:p14="http://schemas.microsoft.com/office/powerpoint/2010/main" val="20407614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4</a:t>
            </a:fld>
            <a:endParaRPr lang="en-US"/>
          </a:p>
        </p:txBody>
      </p:sp>
    </p:spTree>
    <p:extLst>
      <p:ext uri="{BB962C8B-B14F-4D97-AF65-F5344CB8AC3E}">
        <p14:creationId xmlns:p14="http://schemas.microsoft.com/office/powerpoint/2010/main" val="3646375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5</a:t>
            </a:fld>
            <a:endParaRPr lang="en-US"/>
          </a:p>
        </p:txBody>
      </p:sp>
    </p:spTree>
    <p:extLst>
      <p:ext uri="{BB962C8B-B14F-4D97-AF65-F5344CB8AC3E}">
        <p14:creationId xmlns:p14="http://schemas.microsoft.com/office/powerpoint/2010/main" val="3765541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6</a:t>
            </a:fld>
            <a:endParaRPr lang="en-US"/>
          </a:p>
        </p:txBody>
      </p:sp>
    </p:spTree>
    <p:extLst>
      <p:ext uri="{BB962C8B-B14F-4D97-AF65-F5344CB8AC3E}">
        <p14:creationId xmlns:p14="http://schemas.microsoft.com/office/powerpoint/2010/main" val="42891335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7</a:t>
            </a:fld>
            <a:endParaRPr lang="en-US"/>
          </a:p>
        </p:txBody>
      </p:sp>
    </p:spTree>
    <p:extLst>
      <p:ext uri="{BB962C8B-B14F-4D97-AF65-F5344CB8AC3E}">
        <p14:creationId xmlns:p14="http://schemas.microsoft.com/office/powerpoint/2010/main" val="3995408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8</a:t>
            </a:fld>
            <a:endParaRPr lang="en-US"/>
          </a:p>
        </p:txBody>
      </p:sp>
    </p:spTree>
    <p:extLst>
      <p:ext uri="{BB962C8B-B14F-4D97-AF65-F5344CB8AC3E}">
        <p14:creationId xmlns:p14="http://schemas.microsoft.com/office/powerpoint/2010/main" val="11242426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9</a:t>
            </a:fld>
            <a:endParaRPr lang="en-US"/>
          </a:p>
        </p:txBody>
      </p:sp>
    </p:spTree>
    <p:extLst>
      <p:ext uri="{BB962C8B-B14F-4D97-AF65-F5344CB8AC3E}">
        <p14:creationId xmlns:p14="http://schemas.microsoft.com/office/powerpoint/2010/main" val="481047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10</a:t>
            </a:fld>
            <a:endParaRPr lang="en-US"/>
          </a:p>
        </p:txBody>
      </p:sp>
    </p:spTree>
    <p:extLst>
      <p:ext uri="{BB962C8B-B14F-4D97-AF65-F5344CB8AC3E}">
        <p14:creationId xmlns:p14="http://schemas.microsoft.com/office/powerpoint/2010/main" val="38617670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11</a:t>
            </a:fld>
            <a:endParaRPr lang="en-US"/>
          </a:p>
        </p:txBody>
      </p:sp>
    </p:spTree>
    <p:extLst>
      <p:ext uri="{BB962C8B-B14F-4D97-AF65-F5344CB8AC3E}">
        <p14:creationId xmlns:p14="http://schemas.microsoft.com/office/powerpoint/2010/main" val="473801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12</a:t>
            </a:fld>
            <a:endParaRPr lang="en-US"/>
          </a:p>
        </p:txBody>
      </p:sp>
    </p:spTree>
    <p:extLst>
      <p:ext uri="{BB962C8B-B14F-4D97-AF65-F5344CB8AC3E}">
        <p14:creationId xmlns:p14="http://schemas.microsoft.com/office/powerpoint/2010/main" val="4393305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13</a:t>
            </a:fld>
            <a:endParaRPr lang="en-US"/>
          </a:p>
        </p:txBody>
      </p:sp>
    </p:spTree>
    <p:extLst>
      <p:ext uri="{BB962C8B-B14F-4D97-AF65-F5344CB8AC3E}">
        <p14:creationId xmlns:p14="http://schemas.microsoft.com/office/powerpoint/2010/main" val="3603513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14</a:t>
            </a:fld>
            <a:endParaRPr lang="en-US"/>
          </a:p>
        </p:txBody>
      </p:sp>
    </p:spTree>
    <p:extLst>
      <p:ext uri="{BB962C8B-B14F-4D97-AF65-F5344CB8AC3E}">
        <p14:creationId xmlns:p14="http://schemas.microsoft.com/office/powerpoint/2010/main" val="7243883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15</a:t>
            </a:fld>
            <a:endParaRPr lang="en-US"/>
          </a:p>
        </p:txBody>
      </p:sp>
    </p:spTree>
    <p:extLst>
      <p:ext uri="{BB962C8B-B14F-4D97-AF65-F5344CB8AC3E}">
        <p14:creationId xmlns:p14="http://schemas.microsoft.com/office/powerpoint/2010/main" val="1553467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16</a:t>
            </a:fld>
            <a:endParaRPr lang="en-US"/>
          </a:p>
        </p:txBody>
      </p:sp>
    </p:spTree>
    <p:extLst>
      <p:ext uri="{BB962C8B-B14F-4D97-AF65-F5344CB8AC3E}">
        <p14:creationId xmlns:p14="http://schemas.microsoft.com/office/powerpoint/2010/main" val="6223835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17</a:t>
            </a:fld>
            <a:endParaRPr lang="en-US"/>
          </a:p>
        </p:txBody>
      </p:sp>
    </p:spTree>
    <p:extLst>
      <p:ext uri="{BB962C8B-B14F-4D97-AF65-F5344CB8AC3E}">
        <p14:creationId xmlns:p14="http://schemas.microsoft.com/office/powerpoint/2010/main" val="41575086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18</a:t>
            </a:fld>
            <a:endParaRPr lang="en-US"/>
          </a:p>
        </p:txBody>
      </p:sp>
    </p:spTree>
    <p:extLst>
      <p:ext uri="{BB962C8B-B14F-4D97-AF65-F5344CB8AC3E}">
        <p14:creationId xmlns:p14="http://schemas.microsoft.com/office/powerpoint/2010/main" val="24505032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19</a:t>
            </a:fld>
            <a:endParaRPr lang="en-AU"/>
          </a:p>
        </p:txBody>
      </p:sp>
    </p:spTree>
    <p:extLst>
      <p:ext uri="{BB962C8B-B14F-4D97-AF65-F5344CB8AC3E}">
        <p14:creationId xmlns:p14="http://schemas.microsoft.com/office/powerpoint/2010/main" val="3882059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20</a:t>
            </a:fld>
            <a:endParaRPr lang="en-US"/>
          </a:p>
        </p:txBody>
      </p:sp>
    </p:spTree>
    <p:extLst>
      <p:ext uri="{BB962C8B-B14F-4D97-AF65-F5344CB8AC3E}">
        <p14:creationId xmlns:p14="http://schemas.microsoft.com/office/powerpoint/2010/main" val="5075234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21</a:t>
            </a:fld>
            <a:endParaRPr lang="en-US"/>
          </a:p>
        </p:txBody>
      </p:sp>
    </p:spTree>
    <p:extLst>
      <p:ext uri="{BB962C8B-B14F-4D97-AF65-F5344CB8AC3E}">
        <p14:creationId xmlns:p14="http://schemas.microsoft.com/office/powerpoint/2010/main" val="443417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22</a:t>
            </a:fld>
            <a:endParaRPr lang="en-US"/>
          </a:p>
        </p:txBody>
      </p:sp>
    </p:spTree>
    <p:extLst>
      <p:ext uri="{BB962C8B-B14F-4D97-AF65-F5344CB8AC3E}">
        <p14:creationId xmlns:p14="http://schemas.microsoft.com/office/powerpoint/2010/main" val="42478160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23</a:t>
            </a:fld>
            <a:endParaRPr lang="en-US"/>
          </a:p>
        </p:txBody>
      </p:sp>
    </p:spTree>
    <p:extLst>
      <p:ext uri="{BB962C8B-B14F-4D97-AF65-F5344CB8AC3E}">
        <p14:creationId xmlns:p14="http://schemas.microsoft.com/office/powerpoint/2010/main" val="182777228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24</a:t>
            </a:fld>
            <a:endParaRPr lang="en-US"/>
          </a:p>
        </p:txBody>
      </p:sp>
    </p:spTree>
    <p:extLst>
      <p:ext uri="{BB962C8B-B14F-4D97-AF65-F5344CB8AC3E}">
        <p14:creationId xmlns:p14="http://schemas.microsoft.com/office/powerpoint/2010/main" val="30267100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25</a:t>
            </a:fld>
            <a:endParaRPr lang="en-US"/>
          </a:p>
        </p:txBody>
      </p:sp>
    </p:spTree>
    <p:extLst>
      <p:ext uri="{BB962C8B-B14F-4D97-AF65-F5344CB8AC3E}">
        <p14:creationId xmlns:p14="http://schemas.microsoft.com/office/powerpoint/2010/main" val="216076033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26</a:t>
            </a:fld>
            <a:endParaRPr lang="en-US"/>
          </a:p>
        </p:txBody>
      </p:sp>
    </p:spTree>
    <p:extLst>
      <p:ext uri="{BB962C8B-B14F-4D97-AF65-F5344CB8AC3E}">
        <p14:creationId xmlns:p14="http://schemas.microsoft.com/office/powerpoint/2010/main" val="1690352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49039F7C-6B36-476B-B1D0-27733B12A66A}" type="slidenum">
              <a:rPr lang="en-AU" smtClean="0"/>
              <a:t>27</a:t>
            </a:fld>
            <a:endParaRPr lang="en-AU"/>
          </a:p>
        </p:txBody>
      </p:sp>
    </p:spTree>
    <p:extLst>
      <p:ext uri="{BB962C8B-B14F-4D97-AF65-F5344CB8AC3E}">
        <p14:creationId xmlns:p14="http://schemas.microsoft.com/office/powerpoint/2010/main" val="5436171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28</a:t>
            </a:fld>
            <a:endParaRPr lang="en-US"/>
          </a:p>
        </p:txBody>
      </p:sp>
    </p:spTree>
    <p:extLst>
      <p:ext uri="{BB962C8B-B14F-4D97-AF65-F5344CB8AC3E}">
        <p14:creationId xmlns:p14="http://schemas.microsoft.com/office/powerpoint/2010/main" val="402880118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29</a:t>
            </a:fld>
            <a:endParaRPr lang="en-US"/>
          </a:p>
        </p:txBody>
      </p:sp>
    </p:spTree>
    <p:extLst>
      <p:ext uri="{BB962C8B-B14F-4D97-AF65-F5344CB8AC3E}">
        <p14:creationId xmlns:p14="http://schemas.microsoft.com/office/powerpoint/2010/main" val="76275897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30</a:t>
            </a:fld>
            <a:endParaRPr lang="en-US"/>
          </a:p>
        </p:txBody>
      </p:sp>
    </p:spTree>
    <p:extLst>
      <p:ext uri="{BB962C8B-B14F-4D97-AF65-F5344CB8AC3E}">
        <p14:creationId xmlns:p14="http://schemas.microsoft.com/office/powerpoint/2010/main" val="27157444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31</a:t>
            </a:fld>
            <a:endParaRPr lang="en-US"/>
          </a:p>
        </p:txBody>
      </p:sp>
    </p:spTree>
    <p:extLst>
      <p:ext uri="{BB962C8B-B14F-4D97-AF65-F5344CB8AC3E}">
        <p14:creationId xmlns:p14="http://schemas.microsoft.com/office/powerpoint/2010/main" val="7302251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32</a:t>
            </a:fld>
            <a:endParaRPr lang="en-US"/>
          </a:p>
        </p:txBody>
      </p:sp>
    </p:spTree>
    <p:extLst>
      <p:ext uri="{BB962C8B-B14F-4D97-AF65-F5344CB8AC3E}">
        <p14:creationId xmlns:p14="http://schemas.microsoft.com/office/powerpoint/2010/main" val="6749749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57FC62-E526-9341-9F97-9434ADC47EF8}" type="slidenum">
              <a:rPr lang="en-US" smtClean="0"/>
              <a:t>33</a:t>
            </a:fld>
            <a:endParaRPr lang="en-US"/>
          </a:p>
        </p:txBody>
      </p:sp>
    </p:spTree>
    <p:extLst>
      <p:ext uri="{BB962C8B-B14F-4D97-AF65-F5344CB8AC3E}">
        <p14:creationId xmlns:p14="http://schemas.microsoft.com/office/powerpoint/2010/main" val="17284444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0" y="2"/>
            <a:ext cx="9144000" cy="1343024"/>
          </a:xfrm>
          <a:prstGeom prst="rect">
            <a:avLst/>
          </a:prstGeom>
        </p:spPr>
        <p:txBody>
          <a:bodyPr anchor="ctr">
            <a:normAutofit/>
          </a:bodyPr>
          <a:lstStyle>
            <a:lvl1pPr marL="12700" indent="0" algn="l">
              <a:tabLst/>
              <a:defRPr sz="4000"/>
            </a:lvl1pPr>
          </a:lstStyle>
          <a:p>
            <a:br>
              <a:rPr lang="en-US" dirty="0"/>
            </a:br>
            <a:r>
              <a:rPr lang="en-US" dirty="0"/>
              <a:t>	</a:t>
            </a:r>
          </a:p>
        </p:txBody>
      </p:sp>
      <p:sp>
        <p:nvSpPr>
          <p:cNvPr id="3" name="Subtitle 2"/>
          <p:cNvSpPr>
            <a:spLocks noGrp="1"/>
          </p:cNvSpPr>
          <p:nvPr>
            <p:ph type="subTitle" idx="1"/>
          </p:nvPr>
        </p:nvSpPr>
        <p:spPr>
          <a:xfrm>
            <a:off x="871538" y="2243138"/>
            <a:ext cx="7529512" cy="38719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371475" y="6356351"/>
            <a:ext cx="3829050" cy="365125"/>
          </a:xfrm>
        </p:spPr>
        <p:txBody>
          <a:bodyPr/>
          <a:lstStyle>
            <a:lvl1pPr>
              <a:defRPr sz="1000">
                <a:solidFill>
                  <a:schemeClr val="tx1"/>
                </a:solidFill>
              </a:defRPr>
            </a:lvl1pPr>
          </a:lstStyle>
          <a:p>
            <a:r>
              <a:rPr lang="en-AU">
                <a:latin typeface="Arial" charset="0"/>
                <a:ea typeface="Arial" charset="0"/>
                <a:cs typeface="Arial" charset="0"/>
              </a:rPr>
              <a:t>BSBMGT617 Develop and implement a business plan</a:t>
            </a:r>
            <a:endParaRPr lang="en-US" dirty="0"/>
          </a:p>
        </p:txBody>
      </p:sp>
      <p:sp>
        <p:nvSpPr>
          <p:cNvPr id="5" name="Footer Placeholder 4"/>
          <p:cNvSpPr>
            <a:spLocks noGrp="1"/>
          </p:cNvSpPr>
          <p:nvPr>
            <p:ph type="ftr" sz="quarter" idx="11"/>
          </p:nvPr>
        </p:nvSpPr>
        <p:spPr>
          <a:xfrm>
            <a:off x="4743449" y="6356351"/>
            <a:ext cx="2200275" cy="365125"/>
          </a:xfrm>
        </p:spPr>
        <p:txBody>
          <a:bodyPr/>
          <a:lstStyle>
            <a:lvl1pPr>
              <a:defRPr sz="1000">
                <a:solidFill>
                  <a:schemeClr val="tx1"/>
                </a:solidFill>
              </a:defRPr>
            </a:lvl1pPr>
          </a:lstStyle>
          <a:p>
            <a:r>
              <a:rPr lang="en-AU">
                <a:latin typeface="Arial" charset="0"/>
                <a:ea typeface="Arial" charset="0"/>
                <a:cs typeface="Arial" charset="0"/>
              </a:rPr>
              <a:t>Unit number and name  ©J&amp;S Learningwork 2019 
</a:t>
            </a:r>
            <a:endParaRPr lang="en-US" dirty="0">
              <a:latin typeface="Arial" charset="0"/>
              <a:ea typeface="Arial" charset="0"/>
              <a:cs typeface="Arial" charset="0"/>
            </a:endParaRPr>
          </a:p>
        </p:txBody>
      </p:sp>
      <p:sp>
        <p:nvSpPr>
          <p:cNvPr id="6" name="Slide Number Placeholder 5"/>
          <p:cNvSpPr>
            <a:spLocks noGrp="1"/>
          </p:cNvSpPr>
          <p:nvPr>
            <p:ph type="sldNum" sz="quarter" idx="12"/>
          </p:nvPr>
        </p:nvSpPr>
        <p:spPr>
          <a:xfrm>
            <a:off x="8001000" y="6356351"/>
            <a:ext cx="514350" cy="365125"/>
          </a:xfrm>
        </p:spPr>
        <p:txBody>
          <a:bodyPr/>
          <a:lstStyle>
            <a:lvl1pPr>
              <a:defRPr sz="1000">
                <a:solidFill>
                  <a:schemeClr val="tx1"/>
                </a:solidFill>
                <a:latin typeface="Arial" charset="0"/>
                <a:ea typeface="Arial" charset="0"/>
                <a:cs typeface="Arial" charset="0"/>
              </a:defRPr>
            </a:lvl1pPr>
          </a:lstStyle>
          <a:p>
            <a:fld id="{48F63A3B-78C7-47BE-AE5E-E10140E04643}"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971675"/>
            <a:ext cx="7886700" cy="4205288"/>
          </a:xfrm>
        </p:spPr>
        <p:txBody>
          <a:bodyPr/>
          <a:lstStyle/>
          <a:p>
            <a:pPr lvl="0"/>
            <a:r>
              <a:rPr lang="en-US"/>
              <a:t>Edit Master text styles</a:t>
            </a:r>
          </a:p>
        </p:txBody>
      </p:sp>
      <p:sp>
        <p:nvSpPr>
          <p:cNvPr id="8" name="Date Placeholder 3"/>
          <p:cNvSpPr>
            <a:spLocks noGrp="1"/>
          </p:cNvSpPr>
          <p:nvPr>
            <p:ph type="dt" sz="half" idx="10"/>
          </p:nvPr>
        </p:nvSpPr>
        <p:spPr>
          <a:xfrm>
            <a:off x="371475" y="6356351"/>
            <a:ext cx="3829050" cy="365125"/>
          </a:xfrm>
        </p:spPr>
        <p:txBody>
          <a:bodyPr/>
          <a:lstStyle>
            <a:lvl1pPr>
              <a:defRPr sz="1000">
                <a:solidFill>
                  <a:schemeClr val="tx1"/>
                </a:solidFill>
              </a:defRPr>
            </a:lvl1pPr>
          </a:lstStyle>
          <a:p>
            <a:r>
              <a:rPr lang="en-AU">
                <a:latin typeface="Arial" charset="0"/>
                <a:ea typeface="Arial" charset="0"/>
                <a:cs typeface="Arial" charset="0"/>
              </a:rPr>
              <a:t>BSBMGT617 Develop and implement a business plan</a:t>
            </a:r>
            <a:endParaRPr lang="en-US" dirty="0"/>
          </a:p>
        </p:txBody>
      </p:sp>
      <p:sp>
        <p:nvSpPr>
          <p:cNvPr id="9" name="Footer Placeholder 4"/>
          <p:cNvSpPr>
            <a:spLocks noGrp="1"/>
          </p:cNvSpPr>
          <p:nvPr>
            <p:ph type="ftr" sz="quarter" idx="11"/>
          </p:nvPr>
        </p:nvSpPr>
        <p:spPr>
          <a:xfrm>
            <a:off x="4743449" y="6356351"/>
            <a:ext cx="2200275" cy="365125"/>
          </a:xfrm>
        </p:spPr>
        <p:txBody>
          <a:bodyPr/>
          <a:lstStyle>
            <a:lvl1pPr>
              <a:defRPr sz="1000">
                <a:solidFill>
                  <a:schemeClr val="tx1"/>
                </a:solidFill>
              </a:defRPr>
            </a:lvl1pPr>
          </a:lstStyle>
          <a:p>
            <a:r>
              <a:rPr lang="en-AU">
                <a:latin typeface="Arial" charset="0"/>
                <a:ea typeface="Arial" charset="0"/>
                <a:cs typeface="Arial" charset="0"/>
              </a:rPr>
              <a:t>Unit number and name  ©J&amp;S Learningwork 2019 
</a:t>
            </a:r>
            <a:endParaRPr lang="en-US" dirty="0">
              <a:latin typeface="Arial" charset="0"/>
              <a:ea typeface="Arial" charset="0"/>
              <a:cs typeface="Arial" charset="0"/>
            </a:endParaRPr>
          </a:p>
        </p:txBody>
      </p:sp>
      <p:sp>
        <p:nvSpPr>
          <p:cNvPr id="10" name="Slide Number Placeholder 5"/>
          <p:cNvSpPr>
            <a:spLocks noGrp="1"/>
          </p:cNvSpPr>
          <p:nvPr>
            <p:ph type="sldNum" sz="quarter" idx="12"/>
          </p:nvPr>
        </p:nvSpPr>
        <p:spPr>
          <a:xfrm>
            <a:off x="8001000" y="6356351"/>
            <a:ext cx="514350" cy="365125"/>
          </a:xfrm>
        </p:spPr>
        <p:txBody>
          <a:bodyPr/>
          <a:lstStyle>
            <a:lvl1pPr>
              <a:defRPr sz="1000">
                <a:solidFill>
                  <a:schemeClr val="tx1"/>
                </a:solidFill>
                <a:latin typeface="Arial" charset="0"/>
                <a:ea typeface="Arial" charset="0"/>
                <a:cs typeface="Arial" charset="0"/>
              </a:defRPr>
            </a:lvl1pPr>
          </a:lstStyle>
          <a:p>
            <a:fld id="{48F63A3B-78C7-47BE-AE5E-E10140E04643}" type="slidenum">
              <a:rPr lang="en-US" smtClean="0"/>
              <a:pPr/>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4B230-936C-4B14-9C23-DC5BFEFFC0E3}" type="datetime1">
              <a:rPr lang="en-US" smtClean="0"/>
              <a:t>11/13/23</a:t>
            </a:fld>
            <a:endParaRPr lang="en-US"/>
          </a:p>
        </p:txBody>
      </p:sp>
      <p:sp>
        <p:nvSpPr>
          <p:cNvPr id="3" name="Footer Placeholder 2"/>
          <p:cNvSpPr>
            <a:spLocks noGrp="1"/>
          </p:cNvSpPr>
          <p:nvPr>
            <p:ph type="ftr" sz="quarter" idx="11"/>
          </p:nvPr>
        </p:nvSpPr>
        <p:spPr/>
        <p:txBody>
          <a:bodyPr/>
          <a:lstStyle/>
          <a:p>
            <a:r>
              <a:rPr lang="en-US"/>
              <a:t>Unit code Unit title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9473308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r>
              <a:rPr lang="en-AU"/>
              <a:t>BSBMGT617 Develop and implement a business plan</a:t>
            </a:r>
            <a:endParaRPr lang="en-US" dirty="0"/>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r>
              <a:rPr lang="en-AU"/>
              <a:t>Unit number and name  ©J&amp;S Learningwork 2019 
</a:t>
            </a:r>
            <a:endParaRPr 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7057562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mc:AlternateContent xmlns:mc="http://schemas.openxmlformats.org/markup-compatibility/2006" xmlns:p14="http://schemas.microsoft.com/office/powerpoint/2010/main">
    <mc:Choice Requires="p14">
      <p:transition spd="slow" p14:dur="1500">
        <p:split orient="vert"/>
      </p:transition>
    </mc:Choice>
    <mc:Fallback xmlns="">
      <p:transition xmlns:p14="http://schemas.microsoft.com/office/powerpoint/2010/main" spd="slow">
        <p:split orient="vert"/>
      </p:transition>
    </mc:Fallback>
  </mc:AlternateContent>
  <p:hf hdr="0" dt="0"/>
  <p:txStyles>
    <p:title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tx1"/>
          </a:solidFill>
          <a:latin typeface="Arial" panose="020B0604020202020204" pitchFamily="34" charset="0"/>
          <a:ea typeface="Arial" panose="020B06040202020202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https://images.unsplash.com/photo-1544717305-f9c88f2897bc?ixlib=rb-1.2.1&amp;ixid=eyJhcHBfaWQiOjEyMDd9&amp;auto=format&amp;fit=crop&amp;w=1000&amp;q=80"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cisco.com/c/en/us/products/security/what-is-cybersecurity.html"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pnADP41earI"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www.surveymonkey.com/"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proofhub.com/articles/effective-communication"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forbes.com/sites/cognitiveworld/2019/08/30/we-need-cyber-policy-now/#78789edb1e17"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blog.ironbastion.com.au/running-effective-security-awareness-trainin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govtech.com/blogs/lohrmann-on-cybersecurity/the-top-21-security-predictions-for-2021.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hyperlink" Target="https://www.brighttalk.com/webcast/7451/384866" TargetMode="External"/><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343C"/>
        </a:solidFill>
        <a:effectLst/>
      </p:bgPr>
    </p:bg>
    <p:spTree>
      <p:nvGrpSpPr>
        <p:cNvPr id="1" name=""/>
        <p:cNvGrpSpPr/>
        <p:nvPr/>
      </p:nvGrpSpPr>
      <p:grpSpPr>
        <a:xfrm>
          <a:off x="0" y="0"/>
          <a:ext cx="0" cy="0"/>
          <a:chOff x="0" y="0"/>
          <a:chExt cx="0" cy="0"/>
        </a:xfrm>
      </p:grpSpPr>
      <p:pic>
        <p:nvPicPr>
          <p:cNvPr id="12" name="Picture 11" descr="A screenshot of a cell phone&#10;&#10;Description automatically generated">
            <a:extLst>
              <a:ext uri="{FF2B5EF4-FFF2-40B4-BE49-F238E27FC236}">
                <a16:creationId xmlns:a16="http://schemas.microsoft.com/office/drawing/2014/main" id="{DE8504B7-3115-194D-B0F6-23573A430088}"/>
              </a:ext>
            </a:extLst>
          </p:cNvPr>
          <p:cNvPicPr>
            <a:picLocks noChangeAspect="1"/>
          </p:cNvPicPr>
          <p:nvPr/>
        </p:nvPicPr>
        <p:blipFill rotWithShape="1">
          <a:blip r:embed="rId2"/>
          <a:srcRect l="27363" t="46688" r="5014" b="2490"/>
          <a:stretch/>
        </p:blipFill>
        <p:spPr>
          <a:xfrm>
            <a:off x="4861127" y="1064877"/>
            <a:ext cx="4184900" cy="4450634"/>
          </a:xfrm>
          <a:prstGeom prst="rect">
            <a:avLst/>
          </a:prstGeom>
        </p:spPr>
      </p:pic>
      <p:sp>
        <p:nvSpPr>
          <p:cNvPr id="2" name="AutoShape 2"/>
          <p:cNvSpPr/>
          <p:nvPr/>
        </p:nvSpPr>
        <p:spPr>
          <a:xfrm>
            <a:off x="0" y="5782546"/>
            <a:ext cx="9144000" cy="1075454"/>
          </a:xfrm>
          <a:prstGeom prst="rect">
            <a:avLst/>
          </a:prstGeom>
          <a:solidFill>
            <a:schemeClr val="bg1"/>
          </a:solidFill>
        </p:spPr>
        <p:txBody>
          <a:bodyPr/>
          <a:lstStyle/>
          <a:p>
            <a:endParaRPr lang="en-US"/>
          </a:p>
        </p:txBody>
      </p:sp>
      <p:sp>
        <p:nvSpPr>
          <p:cNvPr id="3" name="TextBox 3"/>
          <p:cNvSpPr txBox="1"/>
          <p:nvPr/>
        </p:nvSpPr>
        <p:spPr>
          <a:xfrm>
            <a:off x="458074" y="1650776"/>
            <a:ext cx="3560470" cy="468526"/>
          </a:xfrm>
          <a:prstGeom prst="rect">
            <a:avLst/>
          </a:prstGeom>
        </p:spPr>
        <p:txBody>
          <a:bodyPr lIns="0" tIns="0" rIns="0" bIns="0" rtlCol="0" anchor="t">
            <a:spAutoFit/>
          </a:bodyPr>
          <a:lstStyle/>
          <a:p>
            <a:pPr>
              <a:lnSpc>
                <a:spcPts val="3900"/>
              </a:lnSpc>
            </a:pPr>
            <a:r>
              <a:rPr lang="en-US" sz="3200" b="1" spc="500" dirty="0">
                <a:solidFill>
                  <a:schemeClr val="bg1"/>
                </a:solidFill>
                <a:latin typeface="Arial" panose="020B0604020202020204" pitchFamily="34" charset="0"/>
                <a:cs typeface="Arial" panose="020B0604020202020204" pitchFamily="34" charset="0"/>
              </a:rPr>
              <a:t>BSBXCS402</a:t>
            </a:r>
            <a:endParaRPr lang="en-US" sz="3200" b="1" spc="500" dirty="0">
              <a:solidFill>
                <a:schemeClr val="bg1"/>
              </a:solidFill>
              <a:highlight>
                <a:srgbClr val="FFFF00"/>
              </a:highlight>
              <a:latin typeface="Arial" panose="020B0604020202020204" pitchFamily="34" charset="0"/>
              <a:cs typeface="Arial" panose="020B0604020202020204" pitchFamily="34" charset="0"/>
            </a:endParaRPr>
          </a:p>
        </p:txBody>
      </p:sp>
      <p:grpSp>
        <p:nvGrpSpPr>
          <p:cNvPr id="4" name="Group 4"/>
          <p:cNvGrpSpPr/>
          <p:nvPr/>
        </p:nvGrpSpPr>
        <p:grpSpPr>
          <a:xfrm>
            <a:off x="348562" y="817261"/>
            <a:ext cx="8795438" cy="113903"/>
            <a:chOff x="0" y="-24217"/>
            <a:chExt cx="23454501" cy="303741"/>
          </a:xfrm>
          <a:solidFill>
            <a:schemeClr val="bg1"/>
          </a:solidFill>
        </p:grpSpPr>
        <p:sp>
          <p:nvSpPr>
            <p:cNvPr id="5" name="AutoShape 5"/>
            <p:cNvSpPr/>
            <p:nvPr/>
          </p:nvSpPr>
          <p:spPr>
            <a:xfrm>
              <a:off x="0" y="125899"/>
              <a:ext cx="23454501" cy="27726"/>
            </a:xfrm>
            <a:prstGeom prst="rect">
              <a:avLst/>
            </a:prstGeom>
            <a:grpFill/>
          </p:spPr>
          <p:txBody>
            <a:bodyPr/>
            <a:lstStyle/>
            <a:p>
              <a:endParaRPr lang="en-US"/>
            </a:p>
          </p:txBody>
        </p:sp>
        <p:sp>
          <p:nvSpPr>
            <p:cNvPr id="6" name="AutoShape 6"/>
            <p:cNvSpPr/>
            <p:nvPr/>
          </p:nvSpPr>
          <p:spPr>
            <a:xfrm>
              <a:off x="0" y="-24217"/>
              <a:ext cx="292033" cy="279523"/>
            </a:xfrm>
            <a:prstGeom prst="rect">
              <a:avLst/>
            </a:prstGeom>
            <a:grpFill/>
          </p:spPr>
          <p:txBody>
            <a:bodyPr/>
            <a:lstStyle/>
            <a:p>
              <a:endParaRPr lang="en-US"/>
            </a:p>
          </p:txBody>
        </p:sp>
        <p:sp>
          <p:nvSpPr>
            <p:cNvPr id="7" name="AutoShape 7"/>
            <p:cNvSpPr/>
            <p:nvPr/>
          </p:nvSpPr>
          <p:spPr>
            <a:xfrm>
              <a:off x="7770499" y="0"/>
              <a:ext cx="292033" cy="279524"/>
            </a:xfrm>
            <a:prstGeom prst="rect">
              <a:avLst/>
            </a:prstGeom>
            <a:grpFill/>
          </p:spPr>
          <p:txBody>
            <a:bodyPr/>
            <a:lstStyle/>
            <a:p>
              <a:endParaRPr lang="en-US"/>
            </a:p>
          </p:txBody>
        </p:sp>
        <p:sp>
          <p:nvSpPr>
            <p:cNvPr id="8" name="AutoShape 8"/>
            <p:cNvSpPr/>
            <p:nvPr/>
          </p:nvSpPr>
          <p:spPr>
            <a:xfrm>
              <a:off x="15540998" y="0"/>
              <a:ext cx="292033" cy="279524"/>
            </a:xfrm>
            <a:prstGeom prst="rect">
              <a:avLst/>
            </a:prstGeom>
            <a:grpFill/>
          </p:spPr>
          <p:txBody>
            <a:bodyPr/>
            <a:lstStyle/>
            <a:p>
              <a:endParaRPr lang="en-US"/>
            </a:p>
          </p:txBody>
        </p:sp>
      </p:grpSp>
      <p:sp>
        <p:nvSpPr>
          <p:cNvPr id="10" name="TextBox 10"/>
          <p:cNvSpPr txBox="1"/>
          <p:nvPr/>
        </p:nvSpPr>
        <p:spPr>
          <a:xfrm>
            <a:off x="944279" y="2455983"/>
            <a:ext cx="4359241" cy="2309415"/>
          </a:xfrm>
          <a:prstGeom prst="rect">
            <a:avLst/>
          </a:prstGeom>
        </p:spPr>
        <p:txBody>
          <a:bodyPr wrap="square" lIns="0" tIns="0" rIns="0" bIns="0" rtlCol="0" anchor="t">
            <a:spAutoFit/>
          </a:bodyPr>
          <a:lstStyle/>
          <a:p>
            <a:pPr>
              <a:lnSpc>
                <a:spcPct val="120000"/>
              </a:lnSpc>
            </a:pPr>
            <a:r>
              <a:rPr lang="en-US" sz="3200" spc="374" dirty="0">
                <a:solidFill>
                  <a:schemeClr val="bg1"/>
                </a:solidFill>
                <a:latin typeface="Arial" panose="020B0604020202020204" pitchFamily="34" charset="0"/>
                <a:cs typeface="Arial" panose="020B0604020202020204" pitchFamily="34" charset="0"/>
              </a:rPr>
              <a:t>Promote workplace cyber security awareness and best practices</a:t>
            </a:r>
            <a:endParaRPr lang="en-US" sz="3200" spc="374" dirty="0">
              <a:solidFill>
                <a:schemeClr val="bg1"/>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1279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100212"/>
            <a:ext cx="9144000" cy="5001167"/>
          </a:xfrm>
          <a:prstGeom prst="rect">
            <a:avLst/>
          </a:prstGeom>
          <a:solidFill>
            <a:srgbClr val="00667A"/>
          </a:solidFill>
        </p:spPr>
        <p:txBody>
          <a:bodyPr/>
          <a:lstStyle/>
          <a:p>
            <a:endParaRPr lang="en-AU" dirty="0"/>
          </a:p>
        </p:txBody>
      </p:sp>
      <p:sp>
        <p:nvSpPr>
          <p:cNvPr id="3" name="TextBox 3"/>
          <p:cNvSpPr txBox="1"/>
          <p:nvPr/>
        </p:nvSpPr>
        <p:spPr>
          <a:xfrm>
            <a:off x="522000" y="1567114"/>
            <a:ext cx="8327826" cy="514500"/>
          </a:xfrm>
          <a:prstGeom prst="rect">
            <a:avLst/>
          </a:prstGeom>
        </p:spPr>
        <p:txBody>
          <a:bodyPr wrap="square" lIns="0" tIns="0" rIns="0" bIns="0" rtlCol="0" anchor="t">
            <a:spAutoFit/>
          </a:bodyPr>
          <a:lstStyle/>
          <a:p>
            <a:pPr>
              <a:lnSpc>
                <a:spcPct val="114000"/>
              </a:lnSpc>
              <a:spcBef>
                <a:spcPts val="300"/>
              </a:spcBef>
              <a:spcAft>
                <a:spcPts val="300"/>
              </a:spcAft>
            </a:pPr>
            <a:r>
              <a:rPr lang="en-US" sz="3200" b="1" spc="96" dirty="0">
                <a:solidFill>
                  <a:schemeClr val="bg1"/>
                </a:solidFill>
                <a:latin typeface="Arial" panose="020B0604020202020204" pitchFamily="34" charset="0"/>
                <a:cs typeface="Arial" panose="020B0604020202020204" pitchFamily="34" charset="0"/>
              </a:rPr>
              <a:t>Topic 1: Cyber security awareness</a:t>
            </a:r>
            <a:endParaRPr lang="en-US" sz="3200" b="1" spc="96" dirty="0">
              <a:solidFill>
                <a:schemeClr val="bg1"/>
              </a:solidFill>
              <a:highlight>
                <a:srgbClr val="FFFF00"/>
              </a:highlight>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680CD776-0516-7841-9502-608D5A3FF186}"/>
              </a:ext>
            </a:extLst>
          </p:cNvPr>
          <p:cNvGrpSpPr/>
          <p:nvPr/>
        </p:nvGrpSpPr>
        <p:grpSpPr>
          <a:xfrm>
            <a:off x="522000" y="513978"/>
            <a:ext cx="8629650" cy="109102"/>
            <a:chOff x="1028700" y="723900"/>
            <a:chExt cx="17259300" cy="218203"/>
          </a:xfrm>
          <a:solidFill>
            <a:srgbClr val="00667A"/>
          </a:solidFill>
        </p:grpSpPr>
        <p:sp>
          <p:nvSpPr>
            <p:cNvPr id="22" name="AutoShape 6">
              <a:extLst>
                <a:ext uri="{FF2B5EF4-FFF2-40B4-BE49-F238E27FC236}">
                  <a16:creationId xmlns:a16="http://schemas.microsoft.com/office/drawing/2014/main" id="{AB1D4A80-3B47-CD45-BD14-07FC1567F8DF}"/>
                </a:ext>
              </a:extLst>
            </p:cNvPr>
            <p:cNvSpPr/>
            <p:nvPr/>
          </p:nvSpPr>
          <p:spPr>
            <a:xfrm>
              <a:off x="1044000" y="826884"/>
              <a:ext cx="17244000" cy="20795"/>
            </a:xfrm>
            <a:prstGeom prst="rect">
              <a:avLst/>
            </a:prstGeom>
            <a:grpFill/>
          </p:spPr>
          <p:txBody>
            <a:bodyPr/>
            <a:lstStyle/>
            <a:p>
              <a:endParaRPr lang="en-US"/>
            </a:p>
          </p:txBody>
        </p:sp>
        <p:sp>
          <p:nvSpPr>
            <p:cNvPr id="23" name="AutoShape 7">
              <a:extLst>
                <a:ext uri="{FF2B5EF4-FFF2-40B4-BE49-F238E27FC236}">
                  <a16:creationId xmlns:a16="http://schemas.microsoft.com/office/drawing/2014/main" id="{F632E40C-BD1F-924B-8824-375672953837}"/>
                </a:ext>
              </a:extLst>
            </p:cNvPr>
            <p:cNvSpPr/>
            <p:nvPr/>
          </p:nvSpPr>
          <p:spPr>
            <a:xfrm>
              <a:off x="1028700" y="723900"/>
              <a:ext cx="219025" cy="209643"/>
            </a:xfrm>
            <a:prstGeom prst="rect">
              <a:avLst/>
            </a:prstGeom>
            <a:grpFill/>
          </p:spPr>
          <p:txBody>
            <a:bodyPr/>
            <a:lstStyle/>
            <a:p>
              <a:endParaRPr lang="en-US"/>
            </a:p>
          </p:txBody>
        </p:sp>
        <p:sp>
          <p:nvSpPr>
            <p:cNvPr id="24" name="AutoShape 8">
              <a:extLst>
                <a:ext uri="{FF2B5EF4-FFF2-40B4-BE49-F238E27FC236}">
                  <a16:creationId xmlns:a16="http://schemas.microsoft.com/office/drawing/2014/main" id="{EF0B6A8C-375B-EE42-BFF0-BB5AD96B1430}"/>
                </a:ext>
              </a:extLst>
            </p:cNvPr>
            <p:cNvSpPr/>
            <p:nvPr/>
          </p:nvSpPr>
          <p:spPr>
            <a:xfrm>
              <a:off x="6856574" y="732460"/>
              <a:ext cx="219025" cy="209643"/>
            </a:xfrm>
            <a:prstGeom prst="rect">
              <a:avLst/>
            </a:prstGeom>
            <a:grpFill/>
          </p:spPr>
          <p:txBody>
            <a:bodyPr/>
            <a:lstStyle/>
            <a:p>
              <a:endParaRPr lang="en-US"/>
            </a:p>
          </p:txBody>
        </p:sp>
        <p:sp>
          <p:nvSpPr>
            <p:cNvPr id="25" name="AutoShape 9">
              <a:extLst>
                <a:ext uri="{FF2B5EF4-FFF2-40B4-BE49-F238E27FC236}">
                  <a16:creationId xmlns:a16="http://schemas.microsoft.com/office/drawing/2014/main" id="{943B427C-85F5-0A4E-A571-5C1F9629A1C4}"/>
                </a:ext>
              </a:extLst>
            </p:cNvPr>
            <p:cNvSpPr/>
            <p:nvPr/>
          </p:nvSpPr>
          <p:spPr>
            <a:xfrm>
              <a:off x="12684448" y="732460"/>
              <a:ext cx="219025" cy="209643"/>
            </a:xfrm>
            <a:prstGeom prst="rect">
              <a:avLst/>
            </a:prstGeom>
            <a:grpFill/>
          </p:spPr>
          <p:txBody>
            <a:bodyPr/>
            <a:lstStyle/>
            <a:p>
              <a:endParaRPr lang="en-US"/>
            </a:p>
          </p:txBody>
        </p:sp>
      </p:grpSp>
      <p:sp>
        <p:nvSpPr>
          <p:cNvPr id="4" name="Rectangle 2">
            <a:extLst>
              <a:ext uri="{FF2B5EF4-FFF2-40B4-BE49-F238E27FC236}">
                <a16:creationId xmlns:a16="http://schemas.microsoft.com/office/drawing/2014/main" id="{BAF92AE6-A713-F549-B2BD-D5337CA430EA}"/>
              </a:ext>
            </a:extLst>
          </p:cNvPr>
          <p:cNvSpPr>
            <a:spLocks noChangeArrowheads="1"/>
          </p:cNvSpPr>
          <p:nvPr/>
        </p:nvSpPr>
        <p:spPr bwMode="auto">
          <a:xfrm>
            <a:off x="909087" y="167889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1025" name="Picture 20" descr="woman using laptop and looking side">
            <a:extLst>
              <a:ext uri="{FF2B5EF4-FFF2-40B4-BE49-F238E27FC236}">
                <a16:creationId xmlns:a16="http://schemas.microsoft.com/office/drawing/2014/main" id="{A66C455E-6DCA-3244-AF5E-6D6B84412031}"/>
              </a:ext>
            </a:extLst>
          </p:cNvPr>
          <p:cNvPicPr>
            <a:picLocks noChangeAspect="1" noChangeArrowheads="1"/>
          </p:cNvPicPr>
          <p:nvPr/>
        </p:nvPicPr>
        <p:blipFill>
          <a:blip r:embed="rId3" r:link="rId4">
            <a:extLst>
              <a:ext uri="{28A0092B-C50C-407E-A947-70E740481C1C}">
                <a14:useLocalDpi xmlns:a14="http://schemas.microsoft.com/office/drawing/2010/main" val="0"/>
              </a:ext>
            </a:extLst>
          </a:blip>
          <a:srcRect/>
          <a:stretch>
            <a:fillRect/>
          </a:stretch>
        </p:blipFill>
        <p:spPr bwMode="auto">
          <a:xfrm>
            <a:off x="2410760" y="2605958"/>
            <a:ext cx="4322480" cy="2888203"/>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44478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Cyber Security in the Workplace</a:t>
            </a:r>
          </a:p>
          <a:p>
            <a:pPr>
              <a:lnSpc>
                <a:spcPct val="120000"/>
              </a:lnSpc>
            </a:pPr>
            <a:r>
              <a:rPr lang="en-AU" sz="2400" dirty="0">
                <a:latin typeface="Arial" panose="020B0604020202020204" pitchFamily="34" charset="0"/>
                <a:cs typeface="Arial" panose="020B0604020202020204" pitchFamily="34" charset="0"/>
              </a:rPr>
              <a:t>Protecting a company’s information, data, assets, knowledge and systems, networks and business continuity, requires putting in effective measures to ensure that digital access is secure. </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3</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956514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Watch</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The following video shows the anatomy of a cyberattack unfolding </a:t>
            </a:r>
          </a:p>
          <a:p>
            <a:pPr>
              <a:lnSpc>
                <a:spcPct val="120000"/>
              </a:lnSpc>
            </a:pPr>
            <a:r>
              <a:rPr lang="en-AU" sz="2400" dirty="0">
                <a:latin typeface="Arial" panose="020B0604020202020204" pitchFamily="34" charset="0"/>
                <a:cs typeface="Arial" panose="020B0604020202020204" pitchFamily="34" charset="0"/>
                <a:hlinkClick r:id="rId3"/>
              </a:rPr>
              <a:t>https://www.cisco.com/c/en/us/products/security/what-is-cybersecurity.html</a:t>
            </a:r>
            <a:r>
              <a:rPr lang="en-AU" sz="2400" dirty="0">
                <a:latin typeface="Arial" panose="020B0604020202020204" pitchFamily="34" charset="0"/>
                <a:cs typeface="Arial" panose="020B0604020202020204" pitchFamily="34" charset="0"/>
              </a:rPr>
              <a:t> (04:14)</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4</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359092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How Much Do Employees Know? </a:t>
            </a:r>
          </a:p>
          <a:p>
            <a:pPr>
              <a:lnSpc>
                <a:spcPct val="120000"/>
              </a:lnSpc>
              <a:spcAft>
                <a:spcPts val="1200"/>
              </a:spcAft>
            </a:pPr>
            <a:r>
              <a:rPr lang="en-AU" sz="2400" dirty="0">
                <a:latin typeface="Arial" panose="020B0604020202020204" pitchFamily="34" charset="0"/>
                <a:cs typeface="Arial" panose="020B0604020202020204" pitchFamily="34" charset="0"/>
              </a:rPr>
              <a:t>Promoting workplace cyber security awareness and supporting effective practices can support the success of a business’ cyber security strategy.</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5</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17865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Watch</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Watch this </a:t>
            </a:r>
            <a:r>
              <a:rPr lang="en-AU" sz="2400" dirty="0" err="1">
                <a:latin typeface="Arial" panose="020B0604020202020204" pitchFamily="34" charset="0"/>
                <a:cs typeface="Arial" panose="020B0604020202020204" pitchFamily="34" charset="0"/>
              </a:rPr>
              <a:t>Tedtalk</a:t>
            </a:r>
            <a:r>
              <a:rPr lang="en-AU" sz="2400" dirty="0">
                <a:latin typeface="Arial" panose="020B0604020202020204" pitchFamily="34" charset="0"/>
                <a:cs typeface="Arial" panose="020B0604020202020204" pitchFamily="34" charset="0"/>
              </a:rPr>
              <a:t> by Mark Burnette: The humanity behind cybersecurity attacks</a:t>
            </a:r>
          </a:p>
          <a:p>
            <a:pPr>
              <a:lnSpc>
                <a:spcPct val="120000"/>
              </a:lnSpc>
            </a:pPr>
            <a:r>
              <a:rPr lang="en-AU" sz="2400" dirty="0">
                <a:latin typeface="Arial" panose="020B0604020202020204" pitchFamily="34" charset="0"/>
                <a:cs typeface="Arial" panose="020B0604020202020204" pitchFamily="34" charset="0"/>
                <a:hlinkClick r:id="rId3"/>
              </a:rPr>
              <a:t>https://www.youtube.com/watch?v=pnADP41earI</a:t>
            </a:r>
            <a:r>
              <a:rPr lang="en-AU" sz="2400" dirty="0">
                <a:latin typeface="Arial" panose="020B0604020202020204" pitchFamily="34" charset="0"/>
                <a:cs typeface="Arial" panose="020B0604020202020204" pitchFamily="34" charset="0"/>
              </a:rPr>
              <a:t> (18:22)</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6</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25848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1535036"/>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How Much Do Employees Know? </a:t>
            </a:r>
          </a:p>
          <a:p>
            <a:pPr>
              <a:lnSpc>
                <a:spcPct val="120000"/>
              </a:lnSpc>
              <a:spcAft>
                <a:spcPts val="1200"/>
              </a:spcAft>
            </a:pPr>
            <a:r>
              <a:rPr lang="en-AU" sz="2400" dirty="0">
                <a:latin typeface="Arial" panose="020B0604020202020204" pitchFamily="34" charset="0"/>
                <a:cs typeface="Arial" panose="020B0604020202020204" pitchFamily="34" charset="0"/>
              </a:rPr>
              <a:t>As part of your job role in promoting cyber security the main question to always ask is:</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7</a:t>
            </a:fld>
            <a:endParaRPr lang="en-US" dirty="0">
              <a:solidFill>
                <a:srgbClr val="00667A"/>
              </a:solidFill>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74C619F5-99BD-7448-8BAF-7B273C3F82E4}"/>
              </a:ext>
            </a:extLst>
          </p:cNvPr>
          <p:cNvGraphicFramePr>
            <a:graphicFrameLocks noGrp="1"/>
          </p:cNvGraphicFramePr>
          <p:nvPr>
            <p:extLst>
              <p:ext uri="{D42A27DB-BD31-4B8C-83A1-F6EECF244321}">
                <p14:modId xmlns:p14="http://schemas.microsoft.com/office/powerpoint/2010/main" val="822337688"/>
              </p:ext>
            </p:extLst>
          </p:nvPr>
        </p:nvGraphicFramePr>
        <p:xfrm>
          <a:off x="1544564" y="4133893"/>
          <a:ext cx="6054871" cy="940330"/>
        </p:xfrm>
        <a:graphic>
          <a:graphicData uri="http://schemas.openxmlformats.org/drawingml/2006/table">
            <a:tbl>
              <a:tblPr firstRow="1" firstCol="1" bandRow="1"/>
              <a:tblGrid>
                <a:gridCol w="6054871">
                  <a:extLst>
                    <a:ext uri="{9D8B030D-6E8A-4147-A177-3AD203B41FA5}">
                      <a16:colId xmlns:a16="http://schemas.microsoft.com/office/drawing/2014/main" val="1255862552"/>
                    </a:ext>
                  </a:extLst>
                </a:gridCol>
              </a:tblGrid>
              <a:tr h="940330">
                <a:tc>
                  <a:txBody>
                    <a:bodyPr/>
                    <a:lstStyle/>
                    <a:p>
                      <a:pPr algn="ctr">
                        <a:lnSpc>
                          <a:spcPct val="120000"/>
                        </a:lnSpc>
                        <a:spcBef>
                          <a:spcPts val="1200"/>
                        </a:spcBef>
                        <a:spcAft>
                          <a:spcPts val="1200"/>
                        </a:spcAft>
                      </a:pPr>
                      <a:r>
                        <a:rPr lang="en-AU" sz="2400" dirty="0">
                          <a:effectLst/>
                          <a:latin typeface="Arial" panose="020B0604020202020204" pitchFamily="34" charset="0"/>
                          <a:ea typeface="Calibri" panose="020F0502020204030204" pitchFamily="34" charset="0"/>
                          <a:cs typeface="Times New Roman" panose="02020603050405020304" pitchFamily="18" charset="0"/>
                        </a:rPr>
                        <a:t>ARE YOU DOING ENOUGH?</a:t>
                      </a:r>
                    </a:p>
                  </a:txBody>
                  <a:tcPr marL="68580" marR="68580" marT="0" marB="0" anchor="ctr">
                    <a:lnL>
                      <a:noFill/>
                    </a:lnL>
                    <a:lnR>
                      <a:noFill/>
                    </a:lnR>
                    <a:lnT>
                      <a:noFill/>
                    </a:lnT>
                    <a:lnB>
                      <a:noFill/>
                    </a:lnB>
                    <a:solidFill>
                      <a:srgbClr val="D9E2F3"/>
                    </a:solidFill>
                  </a:tcPr>
                </a:tc>
                <a:extLst>
                  <a:ext uri="{0D108BD9-81ED-4DB2-BD59-A6C34878D82A}">
                    <a16:rowId xmlns:a16="http://schemas.microsoft.com/office/drawing/2014/main" val="2477613893"/>
                  </a:ext>
                </a:extLst>
              </a:tr>
            </a:tbl>
          </a:graphicData>
        </a:graphic>
      </p:graphicFrame>
    </p:spTree>
    <p:extLst>
      <p:ext uri="{BB962C8B-B14F-4D97-AF65-F5344CB8AC3E}">
        <p14:creationId xmlns:p14="http://schemas.microsoft.com/office/powerpoint/2010/main" val="25702645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How Much Do Employees Know? </a:t>
            </a:r>
          </a:p>
          <a:p>
            <a:pPr>
              <a:lnSpc>
                <a:spcPct val="120000"/>
              </a:lnSpc>
              <a:spcAft>
                <a:spcPts val="1200"/>
              </a:spcAft>
            </a:pPr>
            <a:r>
              <a:rPr lang="en-AU" sz="2400" dirty="0">
                <a:latin typeface="Arial" panose="020B0604020202020204" pitchFamily="34" charset="0"/>
                <a:cs typeface="Arial" panose="020B0604020202020204" pitchFamily="34" charset="0"/>
              </a:rPr>
              <a:t>Developing awareness, supporting policies, procedures and best practices will be part of helping to ensure that you are doing your best to minimise the cyber threats to the organisation.</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8</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940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Research</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Go to </a:t>
            </a:r>
            <a:r>
              <a:rPr lang="en-AU" sz="2400" dirty="0">
                <a:latin typeface="Arial" panose="020B0604020202020204" pitchFamily="34" charset="0"/>
                <a:cs typeface="Arial" panose="020B0604020202020204" pitchFamily="34" charset="0"/>
                <a:hlinkClick r:id="rId3"/>
              </a:rPr>
              <a:t>www.surveymonkey.com</a:t>
            </a:r>
            <a:r>
              <a:rPr lang="en-AU" sz="2400" dirty="0">
                <a:latin typeface="Arial" panose="020B0604020202020204" pitchFamily="34" charset="0"/>
                <a:cs typeface="Arial" panose="020B0604020202020204" pitchFamily="34" charset="0"/>
              </a:rPr>
              <a:t> and check out how the surveys can be developed.</a:t>
            </a:r>
          </a:p>
          <a:p>
            <a:pPr>
              <a:lnSpc>
                <a:spcPct val="120000"/>
              </a:lnSpc>
            </a:pPr>
            <a:r>
              <a:rPr lang="en-AU" sz="2400" dirty="0">
                <a:latin typeface="Arial" panose="020B0604020202020204" pitchFamily="34" charset="0"/>
                <a:cs typeface="Arial" panose="020B0604020202020204" pitchFamily="34" charset="0"/>
              </a:rPr>
              <a:t>Read about survey design:  </a:t>
            </a:r>
          </a:p>
          <a:p>
            <a:pPr>
              <a:lnSpc>
                <a:spcPct val="120000"/>
              </a:lnSpc>
            </a:pPr>
            <a:r>
              <a:rPr lang="en-AU" sz="2400" dirty="0">
                <a:latin typeface="Arial" panose="020B0604020202020204" pitchFamily="34" charset="0"/>
                <a:cs typeface="Arial" panose="020B0604020202020204" pitchFamily="34" charset="0"/>
              </a:rPr>
              <a:t>Survey Design 101 </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9</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674435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61482"/>
            <a:ext cx="8152887" cy="1535036"/>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Developing a Cyber Security Awareness Program </a:t>
            </a:r>
          </a:p>
          <a:p>
            <a:pPr>
              <a:lnSpc>
                <a:spcPct val="120000"/>
              </a:lnSpc>
              <a:spcAft>
                <a:spcPts val="1200"/>
              </a:spcAft>
            </a:pPr>
            <a:r>
              <a:rPr lang="en-AU" sz="2400" dirty="0">
                <a:latin typeface="Arial" panose="020B0604020202020204" pitchFamily="34" charset="0"/>
                <a:cs typeface="Arial" panose="020B0604020202020204" pitchFamily="34" charset="0"/>
              </a:rPr>
              <a:t>The next step would be to develop a program that could be used to promote and manage best practices.</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10</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1204455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61482"/>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Cyber Security Policies and Procedures </a:t>
            </a:r>
          </a:p>
          <a:p>
            <a:pPr>
              <a:lnSpc>
                <a:spcPct val="120000"/>
              </a:lnSpc>
              <a:spcAft>
                <a:spcPts val="1200"/>
              </a:spcAft>
            </a:pPr>
            <a:r>
              <a:rPr lang="en-AU" sz="2400" dirty="0">
                <a:latin typeface="Arial" panose="020B0604020202020204" pitchFamily="34" charset="0"/>
                <a:cs typeface="Arial" panose="020B0604020202020204" pitchFamily="34" charset="0"/>
              </a:rPr>
              <a:t>An organisation’s best practices and part of a cyber security awareness program can be implemented through policies and procedures.</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11</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506764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61482"/>
            <a:ext cx="8152887" cy="1535036"/>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Read</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Consolidate your learning by reading through the provided information.</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12</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335432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45659"/>
            <a:ext cx="8152887" cy="1535036"/>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Communicating to Personnel </a:t>
            </a:r>
          </a:p>
          <a:p>
            <a:pPr>
              <a:lnSpc>
                <a:spcPct val="120000"/>
              </a:lnSpc>
              <a:spcAft>
                <a:spcPts val="1200"/>
              </a:spcAft>
            </a:pPr>
            <a:r>
              <a:rPr lang="en-AU" sz="2400" dirty="0">
                <a:latin typeface="Arial" panose="020B0604020202020204" pitchFamily="34" charset="0"/>
                <a:cs typeface="Arial" panose="020B0604020202020204" pitchFamily="34" charset="0"/>
              </a:rPr>
              <a:t>The development of a cyber security policy must address key information relating to:</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13</a:t>
            </a:fld>
            <a:endParaRPr lang="en-US" dirty="0">
              <a:solidFill>
                <a:srgbClr val="00667A"/>
              </a:solidFill>
              <a:latin typeface="Arial" panose="020B0604020202020204" pitchFamily="34" charset="0"/>
              <a:cs typeface="Arial" panose="020B0604020202020204" pitchFamily="34" charset="0"/>
            </a:endParaRPr>
          </a:p>
        </p:txBody>
      </p:sp>
      <p:graphicFrame>
        <p:nvGraphicFramePr>
          <p:cNvPr id="11" name="Diagram 10">
            <a:extLst>
              <a:ext uri="{FF2B5EF4-FFF2-40B4-BE49-F238E27FC236}">
                <a16:creationId xmlns:a16="http://schemas.microsoft.com/office/drawing/2014/main" id="{31322E2B-1EFE-3C41-A561-440D6675C2F4}"/>
              </a:ext>
            </a:extLst>
          </p:cNvPr>
          <p:cNvGraphicFramePr/>
          <p:nvPr>
            <p:extLst>
              <p:ext uri="{D42A27DB-BD31-4B8C-83A1-F6EECF244321}">
                <p14:modId xmlns:p14="http://schemas.microsoft.com/office/powerpoint/2010/main" val="1229942316"/>
              </p:ext>
            </p:extLst>
          </p:nvPr>
        </p:nvGraphicFramePr>
        <p:xfrm>
          <a:off x="579932" y="3932353"/>
          <a:ext cx="7802068" cy="17788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3606563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61482"/>
            <a:ext cx="8152887" cy="1535036"/>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Communicating Policies and Procedures </a:t>
            </a:r>
          </a:p>
          <a:p>
            <a:pPr>
              <a:lnSpc>
                <a:spcPct val="120000"/>
              </a:lnSpc>
              <a:spcAft>
                <a:spcPts val="1200"/>
              </a:spcAft>
            </a:pPr>
            <a:r>
              <a:rPr lang="en-AU" sz="2400" dirty="0">
                <a:latin typeface="Arial" panose="020B0604020202020204" pitchFamily="34" charset="0"/>
                <a:cs typeface="Arial" panose="020B0604020202020204" pitchFamily="34" charset="0"/>
              </a:rPr>
              <a:t>This could greatly affect whether or not cyber security policies are implemented and carried out successfully. </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14</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34901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61482"/>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Read</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To find out more about effective communication, read the information at the following link:</a:t>
            </a:r>
          </a:p>
          <a:p>
            <a:pPr>
              <a:lnSpc>
                <a:spcPct val="120000"/>
              </a:lnSpc>
            </a:pPr>
            <a:r>
              <a:rPr lang="en-AU" sz="2400" dirty="0">
                <a:latin typeface="Arial" panose="020B0604020202020204" pitchFamily="34" charset="0"/>
                <a:cs typeface="Arial" panose="020B0604020202020204" pitchFamily="34" charset="0"/>
                <a:hlinkClick r:id="rId3"/>
              </a:rPr>
              <a:t>https://www.proofhub.com/articles/effective-communication</a:t>
            </a:r>
            <a:r>
              <a:rPr lang="en-AU" sz="2400" dirty="0">
                <a:latin typeface="Arial" panose="020B0604020202020204" pitchFamily="34" charset="0"/>
                <a:cs typeface="Arial" panose="020B0604020202020204" pitchFamily="34" charset="0"/>
              </a:rPr>
              <a:t> </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15</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429818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481600"/>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Watch</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Read the article and watch the informative video on high level cyber policy making</a:t>
            </a:r>
          </a:p>
          <a:p>
            <a:pPr>
              <a:lnSpc>
                <a:spcPct val="120000"/>
              </a:lnSpc>
            </a:pPr>
            <a:r>
              <a:rPr lang="en-AU" sz="2400" dirty="0">
                <a:latin typeface="Arial" panose="020B0604020202020204" pitchFamily="34" charset="0"/>
                <a:cs typeface="Arial" panose="020B0604020202020204" pitchFamily="34" charset="0"/>
                <a:hlinkClick r:id="rId3"/>
              </a:rPr>
              <a:t>https://www.forbes.com/sites/cognitiveworld/2019/08/30/we-need-cyber-policy-now/#78789edb1e17</a:t>
            </a:r>
            <a:r>
              <a:rPr lang="en-AU" sz="2400" dirty="0">
                <a:latin typeface="Arial" panose="020B0604020202020204" pitchFamily="34" charset="0"/>
                <a:cs typeface="Arial" panose="020B0604020202020204" pitchFamily="34" charset="0"/>
              </a:rPr>
              <a:t> (43:12)</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16</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57417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481600"/>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Read</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Read the following information on how to run effective cyber security awareness training: </a:t>
            </a:r>
          </a:p>
          <a:p>
            <a:pPr>
              <a:lnSpc>
                <a:spcPct val="120000"/>
              </a:lnSpc>
            </a:pPr>
            <a:r>
              <a:rPr lang="en-AU" sz="2400" dirty="0">
                <a:latin typeface="Arial" panose="020B0604020202020204" pitchFamily="34" charset="0"/>
                <a:cs typeface="Arial" panose="020B0604020202020204" pitchFamily="34" charset="0"/>
                <a:hlinkClick r:id="rId3"/>
              </a:rPr>
              <a:t>https://blog.ironbastion.com.au/running-effective-security-awareness-training/</a:t>
            </a:r>
            <a:r>
              <a:rPr lang="en-AU" sz="2400" dirty="0">
                <a:latin typeface="Arial" panose="020B0604020202020204" pitchFamily="34" charset="0"/>
                <a:cs typeface="Arial" panose="020B0604020202020204" pitchFamily="34" charset="0"/>
              </a:rPr>
              <a:t> </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17</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18469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481600"/>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Group work – Cyber Security team project </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You are to work collaboratively as part of a cyber security team to help develop a cyber security awareness program for staff. </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1: Cyber security awareness</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18</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803740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100212"/>
            <a:ext cx="9144000" cy="5001167"/>
          </a:xfrm>
          <a:prstGeom prst="rect">
            <a:avLst/>
          </a:prstGeom>
          <a:solidFill>
            <a:srgbClr val="00667A"/>
          </a:solidFill>
        </p:spPr>
        <p:txBody>
          <a:bodyPr/>
          <a:lstStyle/>
          <a:p>
            <a:endParaRPr lang="en-AU" dirty="0"/>
          </a:p>
        </p:txBody>
      </p:sp>
      <p:sp>
        <p:nvSpPr>
          <p:cNvPr id="3" name="TextBox 3"/>
          <p:cNvSpPr txBox="1"/>
          <p:nvPr/>
        </p:nvSpPr>
        <p:spPr>
          <a:xfrm>
            <a:off x="522000" y="1567114"/>
            <a:ext cx="8327826" cy="1075872"/>
          </a:xfrm>
          <a:prstGeom prst="rect">
            <a:avLst/>
          </a:prstGeom>
        </p:spPr>
        <p:txBody>
          <a:bodyPr wrap="square" lIns="0" tIns="0" rIns="0" bIns="0" rtlCol="0" anchor="t">
            <a:spAutoFit/>
          </a:bodyPr>
          <a:lstStyle/>
          <a:p>
            <a:pPr>
              <a:lnSpc>
                <a:spcPct val="114000"/>
              </a:lnSpc>
              <a:spcBef>
                <a:spcPts val="300"/>
              </a:spcBef>
              <a:spcAft>
                <a:spcPts val="300"/>
              </a:spcAft>
            </a:pPr>
            <a:r>
              <a:rPr lang="en-US" sz="3200" b="1" spc="96" dirty="0">
                <a:solidFill>
                  <a:schemeClr val="bg1"/>
                </a:solidFill>
                <a:latin typeface="Arial" panose="020B0604020202020204" pitchFamily="34" charset="0"/>
                <a:cs typeface="Arial" panose="020B0604020202020204" pitchFamily="34" charset="0"/>
              </a:rPr>
              <a:t>Topic 2: Using effective cyber security practices </a:t>
            </a:r>
            <a:endParaRPr lang="en-US" sz="3200" b="1" spc="96" dirty="0">
              <a:solidFill>
                <a:schemeClr val="bg1"/>
              </a:solidFill>
              <a:highlight>
                <a:srgbClr val="FFFF00"/>
              </a:highlight>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680CD776-0516-7841-9502-608D5A3FF186}"/>
              </a:ext>
            </a:extLst>
          </p:cNvPr>
          <p:cNvGrpSpPr/>
          <p:nvPr/>
        </p:nvGrpSpPr>
        <p:grpSpPr>
          <a:xfrm>
            <a:off x="522000" y="513978"/>
            <a:ext cx="8629650" cy="109102"/>
            <a:chOff x="1028700" y="723900"/>
            <a:chExt cx="17259300" cy="218203"/>
          </a:xfrm>
          <a:solidFill>
            <a:srgbClr val="00667A"/>
          </a:solidFill>
        </p:grpSpPr>
        <p:sp>
          <p:nvSpPr>
            <p:cNvPr id="22" name="AutoShape 6">
              <a:extLst>
                <a:ext uri="{FF2B5EF4-FFF2-40B4-BE49-F238E27FC236}">
                  <a16:creationId xmlns:a16="http://schemas.microsoft.com/office/drawing/2014/main" id="{AB1D4A80-3B47-CD45-BD14-07FC1567F8DF}"/>
                </a:ext>
              </a:extLst>
            </p:cNvPr>
            <p:cNvSpPr/>
            <p:nvPr/>
          </p:nvSpPr>
          <p:spPr>
            <a:xfrm>
              <a:off x="1044000" y="826884"/>
              <a:ext cx="17244000" cy="20795"/>
            </a:xfrm>
            <a:prstGeom prst="rect">
              <a:avLst/>
            </a:prstGeom>
            <a:grpFill/>
          </p:spPr>
        </p:sp>
        <p:sp>
          <p:nvSpPr>
            <p:cNvPr id="23" name="AutoShape 7">
              <a:extLst>
                <a:ext uri="{FF2B5EF4-FFF2-40B4-BE49-F238E27FC236}">
                  <a16:creationId xmlns:a16="http://schemas.microsoft.com/office/drawing/2014/main" id="{F632E40C-BD1F-924B-8824-375672953837}"/>
                </a:ext>
              </a:extLst>
            </p:cNvPr>
            <p:cNvSpPr/>
            <p:nvPr/>
          </p:nvSpPr>
          <p:spPr>
            <a:xfrm>
              <a:off x="1028700" y="723900"/>
              <a:ext cx="219025" cy="209643"/>
            </a:xfrm>
            <a:prstGeom prst="rect">
              <a:avLst/>
            </a:prstGeom>
            <a:grpFill/>
          </p:spPr>
        </p:sp>
        <p:sp>
          <p:nvSpPr>
            <p:cNvPr id="24" name="AutoShape 8">
              <a:extLst>
                <a:ext uri="{FF2B5EF4-FFF2-40B4-BE49-F238E27FC236}">
                  <a16:creationId xmlns:a16="http://schemas.microsoft.com/office/drawing/2014/main" id="{EF0B6A8C-375B-EE42-BFF0-BB5AD96B1430}"/>
                </a:ext>
              </a:extLst>
            </p:cNvPr>
            <p:cNvSpPr/>
            <p:nvPr/>
          </p:nvSpPr>
          <p:spPr>
            <a:xfrm>
              <a:off x="6856574" y="732460"/>
              <a:ext cx="219025" cy="209643"/>
            </a:xfrm>
            <a:prstGeom prst="rect">
              <a:avLst/>
            </a:prstGeom>
            <a:grpFill/>
          </p:spPr>
        </p:sp>
        <p:sp>
          <p:nvSpPr>
            <p:cNvPr id="25" name="AutoShape 9">
              <a:extLst>
                <a:ext uri="{FF2B5EF4-FFF2-40B4-BE49-F238E27FC236}">
                  <a16:creationId xmlns:a16="http://schemas.microsoft.com/office/drawing/2014/main" id="{943B427C-85F5-0A4E-A571-5C1F9629A1C4}"/>
                </a:ext>
              </a:extLst>
            </p:cNvPr>
            <p:cNvSpPr/>
            <p:nvPr/>
          </p:nvSpPr>
          <p:spPr>
            <a:xfrm>
              <a:off x="12684448" y="732460"/>
              <a:ext cx="219025" cy="209643"/>
            </a:xfrm>
            <a:prstGeom prst="rect">
              <a:avLst/>
            </a:prstGeom>
            <a:grpFill/>
          </p:spPr>
        </p:sp>
      </p:grpSp>
      <p:sp>
        <p:nvSpPr>
          <p:cNvPr id="4" name="Rectangle 2">
            <a:extLst>
              <a:ext uri="{FF2B5EF4-FFF2-40B4-BE49-F238E27FC236}">
                <a16:creationId xmlns:a16="http://schemas.microsoft.com/office/drawing/2014/main" id="{BAF92AE6-A713-F549-B2BD-D5337CA430EA}"/>
              </a:ext>
            </a:extLst>
          </p:cNvPr>
          <p:cNvSpPr>
            <a:spLocks noChangeArrowheads="1"/>
          </p:cNvSpPr>
          <p:nvPr/>
        </p:nvSpPr>
        <p:spPr bwMode="auto">
          <a:xfrm>
            <a:off x="909087" y="167889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11" name="Picture 10" descr="A person standing in front of a computer screen&#10;&#10;Description automatically generated">
            <a:extLst>
              <a:ext uri="{FF2B5EF4-FFF2-40B4-BE49-F238E27FC236}">
                <a16:creationId xmlns:a16="http://schemas.microsoft.com/office/drawing/2014/main" id="{2A44C0C6-756C-4D47-9E73-BEAC9B8F4896}"/>
              </a:ext>
            </a:extLst>
          </p:cNvPr>
          <p:cNvPicPr/>
          <p:nvPr/>
        </p:nvPicPr>
        <p:blipFill rotWithShape="1">
          <a:blip r:embed="rId3" cstate="print">
            <a:extLst>
              <a:ext uri="{28A0092B-C50C-407E-A947-70E740481C1C}">
                <a14:useLocalDpi xmlns:a14="http://schemas.microsoft.com/office/drawing/2010/main"/>
              </a:ext>
            </a:extLst>
          </a:blip>
          <a:srcRect/>
          <a:stretch/>
        </p:blipFill>
        <p:spPr bwMode="auto">
          <a:xfrm>
            <a:off x="2663630" y="2781931"/>
            <a:ext cx="3816740" cy="2713586"/>
          </a:xfrm>
          <a:prstGeom prst="rect">
            <a:avLst/>
          </a:prstGeom>
          <a:ln w="38100">
            <a:solidFill>
              <a:schemeClr val="bg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982650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Reviewing Cyber Security Practices</a:t>
            </a:r>
          </a:p>
          <a:p>
            <a:pPr>
              <a:lnSpc>
                <a:spcPct val="120000"/>
              </a:lnSpc>
            </a:pPr>
            <a:r>
              <a:rPr lang="en-AU" sz="2400" dirty="0">
                <a:latin typeface="Arial" panose="020B0604020202020204" pitchFamily="34" charset="0"/>
                <a:cs typeface="Arial" panose="020B0604020202020204" pitchFamily="34" charset="0"/>
              </a:rPr>
              <a:t>To support the effective implementation of cyber security practices, it will be necessary to review these to ensure that employees are following the policies and procedures communicated.</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2: Using effective cyber security practices </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20</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0698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Watch</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Read the article and watch the video on the top security predictions for 2021: </a:t>
            </a:r>
          </a:p>
          <a:p>
            <a:pPr>
              <a:lnSpc>
                <a:spcPct val="120000"/>
              </a:lnSpc>
            </a:pPr>
            <a:r>
              <a:rPr lang="en-AU" sz="2400" dirty="0">
                <a:latin typeface="Arial" panose="020B0604020202020204" pitchFamily="34" charset="0"/>
                <a:cs typeface="Arial" panose="020B0604020202020204" pitchFamily="34" charset="0"/>
                <a:hlinkClick r:id="rId3"/>
              </a:rPr>
              <a:t>https://www.govtech.com/blogs/lohrmann</a:t>
            </a:r>
            <a:r>
              <a:rPr lang="en-AU" sz="2400">
                <a:latin typeface="Arial" panose="020B0604020202020204" pitchFamily="34" charset="0"/>
                <a:cs typeface="Arial" panose="020B0604020202020204" pitchFamily="34" charset="0"/>
                <a:hlinkClick r:id="rId3"/>
              </a:rPr>
              <a:t>-on-cybersecurity/the-top-21-security-predictions-for-2021.html</a:t>
            </a:r>
            <a:r>
              <a:rPr lang="en-AU" sz="2400">
                <a:latin typeface="Arial" panose="020B0604020202020204" pitchFamily="34" charset="0"/>
                <a:cs typeface="Arial" panose="020B0604020202020204" pitchFamily="34" charset="0"/>
              </a:rPr>
              <a:t> </a:t>
            </a:r>
            <a:endParaRPr lang="en-AU" sz="24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21</a:t>
            </a:fld>
            <a:endParaRPr lang="en-US" dirty="0">
              <a:solidFill>
                <a:srgbClr val="00667A"/>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71673415-DA51-AE47-9FF5-2BFC953B0D58}"/>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2: Using effective cyber security practices </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85878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45423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Research and discuss</a:t>
            </a:r>
            <a:endParaRPr lang="en-AU" sz="2400" b="1" dirty="0">
              <a:latin typeface="Arial" panose="020B0604020202020204" pitchFamily="34" charset="0"/>
              <a:cs typeface="Arial" panose="020B0604020202020204" pitchFamily="34" charset="0"/>
            </a:endParaRPr>
          </a:p>
          <a:p>
            <a:pPr marL="457200" indent="-457200">
              <a:lnSpc>
                <a:spcPct val="120000"/>
              </a:lnSpc>
              <a:buFont typeface="+mj-lt"/>
              <a:buAutoNum type="arabicPeriod"/>
            </a:pPr>
            <a:r>
              <a:rPr lang="en-AU" sz="2400" dirty="0">
                <a:latin typeface="Arial" panose="020B0604020202020204" pitchFamily="34" charset="0"/>
                <a:cs typeface="Arial" panose="020B0604020202020204" pitchFamily="34" charset="0"/>
              </a:rPr>
              <a:t>Review the cyber security practices that are not being followed and identify what issues could arise from each.</a:t>
            </a:r>
          </a:p>
          <a:p>
            <a:pPr marL="457200" indent="-457200">
              <a:lnSpc>
                <a:spcPct val="120000"/>
              </a:lnSpc>
              <a:buFont typeface="+mj-lt"/>
              <a:buAutoNum type="arabicPeriod"/>
            </a:pPr>
            <a:r>
              <a:rPr lang="en-AU" sz="2400" dirty="0">
                <a:latin typeface="Arial" panose="020B0604020202020204" pitchFamily="34" charset="0"/>
                <a:cs typeface="Arial" panose="020B0604020202020204" pitchFamily="34" charset="0"/>
              </a:rPr>
              <a:t>Review the following Cyber Policy.</a:t>
            </a: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22</a:t>
            </a:fld>
            <a:endParaRPr lang="en-US" dirty="0">
              <a:solidFill>
                <a:srgbClr val="00667A"/>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71673415-DA51-AE47-9FF5-2BFC953B0D58}"/>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2: Using effective cyber security practices </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3515252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04135"/>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Training </a:t>
            </a:r>
          </a:p>
          <a:p>
            <a:pPr>
              <a:lnSpc>
                <a:spcPct val="120000"/>
              </a:lnSpc>
              <a:spcAft>
                <a:spcPts val="1200"/>
              </a:spcAft>
            </a:pPr>
            <a:r>
              <a:rPr lang="en-AU" sz="2400" dirty="0">
                <a:latin typeface="Arial" panose="020B0604020202020204" pitchFamily="34" charset="0"/>
                <a:cs typeface="Arial" panose="020B0604020202020204" pitchFamily="34" charset="0"/>
              </a:rPr>
              <a:t>Training in cyber security awareness can, as previously mentioned, promote a culture that supports effective cyber security practices.</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2: Using effective cyber security practices </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23</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706728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04135"/>
            <a:ext cx="8152887" cy="1535036"/>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Maintaining Updates </a:t>
            </a:r>
          </a:p>
          <a:p>
            <a:pPr>
              <a:lnSpc>
                <a:spcPct val="120000"/>
              </a:lnSpc>
              <a:spcAft>
                <a:spcPts val="1200"/>
              </a:spcAft>
            </a:pPr>
            <a:r>
              <a:rPr lang="en-AU" sz="2400" dirty="0">
                <a:latin typeface="Arial" panose="020B0604020202020204" pitchFamily="34" charset="0"/>
                <a:cs typeface="Arial" panose="020B0604020202020204" pitchFamily="34" charset="0"/>
              </a:rPr>
              <a:t>Once you have reviewed the cyber security practices, the next step would be to ensure that everyone is updated.  </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2: Using effective cyber security practices </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24</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2394441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04135"/>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Communicating Feedback from Reviews </a:t>
            </a:r>
          </a:p>
          <a:p>
            <a:pPr>
              <a:lnSpc>
                <a:spcPct val="120000"/>
              </a:lnSpc>
              <a:spcAft>
                <a:spcPts val="1200"/>
              </a:spcAft>
            </a:pPr>
            <a:r>
              <a:rPr lang="en-AU" sz="2400" dirty="0">
                <a:latin typeface="Arial" panose="020B0604020202020204" pitchFamily="34" charset="0"/>
                <a:cs typeface="Arial" panose="020B0604020202020204" pitchFamily="34" charset="0"/>
              </a:rPr>
              <a:t>To further support effective cyber security practices, the insights gained from review and training can be presented to highlight any potential impacts on the workplace.</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2: Using effective cyber security practices </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25</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46205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661482"/>
            <a:ext cx="8152887" cy="1535036"/>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Group work – Cyber Security team project </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You are to work collaboratively as part of your cyber security team to support effective cyber security practices. </a:t>
            </a: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26</a:t>
            </a:fld>
            <a:endParaRPr lang="en-US" dirty="0">
              <a:solidFill>
                <a:srgbClr val="00667A"/>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71673415-DA51-AE47-9FF5-2BFC953B0D58}"/>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2: Using effective cyber security practices </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63424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0" y="1100212"/>
            <a:ext cx="9144000" cy="5001167"/>
          </a:xfrm>
          <a:prstGeom prst="rect">
            <a:avLst/>
          </a:prstGeom>
          <a:solidFill>
            <a:srgbClr val="00667A"/>
          </a:solidFill>
        </p:spPr>
        <p:txBody>
          <a:bodyPr/>
          <a:lstStyle/>
          <a:p>
            <a:endParaRPr lang="en-AU" dirty="0"/>
          </a:p>
        </p:txBody>
      </p:sp>
      <p:sp>
        <p:nvSpPr>
          <p:cNvPr id="3" name="TextBox 3"/>
          <p:cNvSpPr txBox="1"/>
          <p:nvPr/>
        </p:nvSpPr>
        <p:spPr>
          <a:xfrm>
            <a:off x="522000" y="1567114"/>
            <a:ext cx="8327826" cy="514500"/>
          </a:xfrm>
          <a:prstGeom prst="rect">
            <a:avLst/>
          </a:prstGeom>
        </p:spPr>
        <p:txBody>
          <a:bodyPr wrap="square" lIns="0" tIns="0" rIns="0" bIns="0" rtlCol="0" anchor="t">
            <a:spAutoFit/>
          </a:bodyPr>
          <a:lstStyle/>
          <a:p>
            <a:pPr>
              <a:lnSpc>
                <a:spcPct val="114000"/>
              </a:lnSpc>
              <a:spcBef>
                <a:spcPts val="300"/>
              </a:spcBef>
              <a:spcAft>
                <a:spcPts val="300"/>
              </a:spcAft>
            </a:pPr>
            <a:r>
              <a:rPr lang="en-US" sz="3200" b="1" spc="96" dirty="0">
                <a:solidFill>
                  <a:schemeClr val="bg1"/>
                </a:solidFill>
                <a:latin typeface="Arial" panose="020B0604020202020204" pitchFamily="34" charset="0"/>
                <a:cs typeface="Arial" panose="020B0604020202020204" pitchFamily="34" charset="0"/>
              </a:rPr>
              <a:t>Topic 3: Reviewing cyber security</a:t>
            </a:r>
            <a:endParaRPr lang="en-US" sz="3200" b="1" spc="96" dirty="0">
              <a:solidFill>
                <a:schemeClr val="bg1"/>
              </a:solidFill>
              <a:highlight>
                <a:srgbClr val="FFFF00"/>
              </a:highlight>
              <a:latin typeface="Arial" panose="020B0604020202020204" pitchFamily="34" charset="0"/>
              <a:cs typeface="Arial" panose="020B0604020202020204" pitchFamily="34" charset="0"/>
            </a:endParaRPr>
          </a:p>
        </p:txBody>
      </p:sp>
      <p:grpSp>
        <p:nvGrpSpPr>
          <p:cNvPr id="21" name="Group 20">
            <a:extLst>
              <a:ext uri="{FF2B5EF4-FFF2-40B4-BE49-F238E27FC236}">
                <a16:creationId xmlns:a16="http://schemas.microsoft.com/office/drawing/2014/main" id="{680CD776-0516-7841-9502-608D5A3FF186}"/>
              </a:ext>
            </a:extLst>
          </p:cNvPr>
          <p:cNvGrpSpPr/>
          <p:nvPr/>
        </p:nvGrpSpPr>
        <p:grpSpPr>
          <a:xfrm>
            <a:off x="522000" y="513978"/>
            <a:ext cx="8629650" cy="109102"/>
            <a:chOff x="1028700" y="723900"/>
            <a:chExt cx="17259300" cy="218203"/>
          </a:xfrm>
          <a:solidFill>
            <a:srgbClr val="00667A"/>
          </a:solidFill>
        </p:grpSpPr>
        <p:sp>
          <p:nvSpPr>
            <p:cNvPr id="22" name="AutoShape 6">
              <a:extLst>
                <a:ext uri="{FF2B5EF4-FFF2-40B4-BE49-F238E27FC236}">
                  <a16:creationId xmlns:a16="http://schemas.microsoft.com/office/drawing/2014/main" id="{AB1D4A80-3B47-CD45-BD14-07FC1567F8DF}"/>
                </a:ext>
              </a:extLst>
            </p:cNvPr>
            <p:cNvSpPr/>
            <p:nvPr/>
          </p:nvSpPr>
          <p:spPr>
            <a:xfrm>
              <a:off x="1044000" y="826884"/>
              <a:ext cx="17244000" cy="20795"/>
            </a:xfrm>
            <a:prstGeom prst="rect">
              <a:avLst/>
            </a:prstGeom>
            <a:grpFill/>
          </p:spPr>
          <p:txBody>
            <a:bodyPr/>
            <a:lstStyle/>
            <a:p>
              <a:endParaRPr lang="en-US"/>
            </a:p>
          </p:txBody>
        </p:sp>
        <p:sp>
          <p:nvSpPr>
            <p:cNvPr id="23" name="AutoShape 7">
              <a:extLst>
                <a:ext uri="{FF2B5EF4-FFF2-40B4-BE49-F238E27FC236}">
                  <a16:creationId xmlns:a16="http://schemas.microsoft.com/office/drawing/2014/main" id="{F632E40C-BD1F-924B-8824-375672953837}"/>
                </a:ext>
              </a:extLst>
            </p:cNvPr>
            <p:cNvSpPr/>
            <p:nvPr/>
          </p:nvSpPr>
          <p:spPr>
            <a:xfrm>
              <a:off x="1028700" y="723900"/>
              <a:ext cx="219025" cy="209643"/>
            </a:xfrm>
            <a:prstGeom prst="rect">
              <a:avLst/>
            </a:prstGeom>
            <a:grpFill/>
          </p:spPr>
          <p:txBody>
            <a:bodyPr/>
            <a:lstStyle/>
            <a:p>
              <a:endParaRPr lang="en-US"/>
            </a:p>
          </p:txBody>
        </p:sp>
        <p:sp>
          <p:nvSpPr>
            <p:cNvPr id="24" name="AutoShape 8">
              <a:extLst>
                <a:ext uri="{FF2B5EF4-FFF2-40B4-BE49-F238E27FC236}">
                  <a16:creationId xmlns:a16="http://schemas.microsoft.com/office/drawing/2014/main" id="{EF0B6A8C-375B-EE42-BFF0-BB5AD96B1430}"/>
                </a:ext>
              </a:extLst>
            </p:cNvPr>
            <p:cNvSpPr/>
            <p:nvPr/>
          </p:nvSpPr>
          <p:spPr>
            <a:xfrm>
              <a:off x="6856574" y="732460"/>
              <a:ext cx="219025" cy="209643"/>
            </a:xfrm>
            <a:prstGeom prst="rect">
              <a:avLst/>
            </a:prstGeom>
            <a:grpFill/>
          </p:spPr>
          <p:txBody>
            <a:bodyPr/>
            <a:lstStyle/>
            <a:p>
              <a:endParaRPr lang="en-US"/>
            </a:p>
          </p:txBody>
        </p:sp>
        <p:sp>
          <p:nvSpPr>
            <p:cNvPr id="25" name="AutoShape 9">
              <a:extLst>
                <a:ext uri="{FF2B5EF4-FFF2-40B4-BE49-F238E27FC236}">
                  <a16:creationId xmlns:a16="http://schemas.microsoft.com/office/drawing/2014/main" id="{943B427C-85F5-0A4E-A571-5C1F9629A1C4}"/>
                </a:ext>
              </a:extLst>
            </p:cNvPr>
            <p:cNvSpPr/>
            <p:nvPr/>
          </p:nvSpPr>
          <p:spPr>
            <a:xfrm>
              <a:off x="12684448" y="732460"/>
              <a:ext cx="219025" cy="209643"/>
            </a:xfrm>
            <a:prstGeom prst="rect">
              <a:avLst/>
            </a:prstGeom>
            <a:grpFill/>
          </p:spPr>
          <p:txBody>
            <a:bodyPr/>
            <a:lstStyle/>
            <a:p>
              <a:endParaRPr lang="en-US"/>
            </a:p>
          </p:txBody>
        </p:sp>
      </p:grpSp>
      <p:sp>
        <p:nvSpPr>
          <p:cNvPr id="4" name="Rectangle 2">
            <a:extLst>
              <a:ext uri="{FF2B5EF4-FFF2-40B4-BE49-F238E27FC236}">
                <a16:creationId xmlns:a16="http://schemas.microsoft.com/office/drawing/2014/main" id="{BAF92AE6-A713-F549-B2BD-D5337CA430EA}"/>
              </a:ext>
            </a:extLst>
          </p:cNvPr>
          <p:cNvSpPr>
            <a:spLocks noChangeArrowheads="1"/>
          </p:cNvSpPr>
          <p:nvPr/>
        </p:nvSpPr>
        <p:spPr bwMode="auto">
          <a:xfrm>
            <a:off x="909087" y="1678899"/>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pic>
        <p:nvPicPr>
          <p:cNvPr id="12" name="Picture 11" descr="A person sitting at a table in a dark room&#10;&#10;Description automatically generated">
            <a:extLst>
              <a:ext uri="{FF2B5EF4-FFF2-40B4-BE49-F238E27FC236}">
                <a16:creationId xmlns:a16="http://schemas.microsoft.com/office/drawing/2014/main" id="{240F40CA-C088-C042-8106-51977C4BBBAF}"/>
              </a:ext>
            </a:extLst>
          </p:cNvPr>
          <p:cNvPicPr/>
          <p:nvPr/>
        </p:nvPicPr>
        <p:blipFill rotWithShape="1">
          <a:blip r:embed="rId3" cstate="print">
            <a:extLst>
              <a:ext uri="{28A0092B-C50C-407E-A947-70E740481C1C}">
                <a14:useLocalDpi xmlns:a14="http://schemas.microsoft.com/office/drawing/2010/main"/>
              </a:ext>
            </a:extLst>
          </a:blip>
          <a:srcRect t="11914" b="12224"/>
          <a:stretch/>
        </p:blipFill>
        <p:spPr bwMode="auto">
          <a:xfrm>
            <a:off x="1771015" y="2605958"/>
            <a:ext cx="5601970" cy="2838450"/>
          </a:xfrm>
          <a:prstGeom prst="rect">
            <a:avLst/>
          </a:prstGeom>
          <a:ln w="38100">
            <a:solidFill>
              <a:schemeClr val="bg1"/>
            </a:solid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5434950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769026"/>
            <a:ext cx="8152887" cy="1824346"/>
          </a:xfrm>
          <a:prstGeom prst="rect">
            <a:avLst/>
          </a:prstGeom>
        </p:spPr>
        <p:txBody>
          <a:bodyPr wrap="square">
            <a:spAutoFit/>
          </a:bodyPr>
          <a:lstStyle/>
          <a:p>
            <a:pPr>
              <a:lnSpc>
                <a:spcPct val="120000"/>
              </a:lnSpc>
            </a:pPr>
            <a:r>
              <a:rPr lang="en-AU" sz="2400" dirty="0">
                <a:latin typeface="Arial" panose="020B0604020202020204" pitchFamily="34" charset="0"/>
                <a:cs typeface="Arial" panose="020B0604020202020204" pitchFamily="34" charset="0"/>
              </a:rPr>
              <a:t>Keeping abreast of what is happening, new advances or different approaches and strategies to cyber security best practices, will help to ensure that the organisation is up to date, current and aware of potential new risks.</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3: Reviewing cyber security</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28</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832826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Watch</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Watch the following webinar on insights into today’s cyber-attacks (2020)</a:t>
            </a:r>
          </a:p>
          <a:p>
            <a:pPr>
              <a:lnSpc>
                <a:spcPct val="120000"/>
              </a:lnSpc>
            </a:pPr>
            <a:r>
              <a:rPr lang="en-AU" sz="2400" dirty="0">
                <a:latin typeface="Arial" panose="020B0604020202020204" pitchFamily="34" charset="0"/>
                <a:cs typeface="Arial" panose="020B0604020202020204" pitchFamily="34" charset="0"/>
                <a:hlinkClick r:id="rId3"/>
              </a:rPr>
              <a:t>https://www.brighttalk.com/webcast/7451/384866</a:t>
            </a:r>
            <a:r>
              <a:rPr lang="en-AU" sz="2400" dirty="0">
                <a:latin typeface="Arial" panose="020B0604020202020204" pitchFamily="34" charset="0"/>
                <a:cs typeface="Arial" panose="020B0604020202020204" pitchFamily="34" charset="0"/>
              </a:rPr>
              <a:t> </a:t>
            </a: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29</a:t>
            </a:fld>
            <a:endParaRPr lang="en-US" dirty="0">
              <a:solidFill>
                <a:srgbClr val="00667A"/>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CBDF2520-A672-2440-9407-071C1541999F}"/>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a:solidFill>
                  <a:schemeClr val="bg1"/>
                </a:solidFill>
                <a:latin typeface="Arial" panose="020B0604020202020204" pitchFamily="34" charset="0"/>
                <a:cs typeface="Arial" panose="020B0604020202020204" pitchFamily="34" charset="0"/>
              </a:rPr>
              <a:t>Topic 3: Reviewing cyber security</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01345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Suggesting Improvements </a:t>
            </a:r>
          </a:p>
          <a:p>
            <a:pPr>
              <a:lnSpc>
                <a:spcPct val="120000"/>
              </a:lnSpc>
              <a:spcAft>
                <a:spcPts val="1200"/>
              </a:spcAft>
            </a:pPr>
            <a:r>
              <a:rPr lang="en-AU" sz="2400" dirty="0">
                <a:latin typeface="Arial" panose="020B0604020202020204" pitchFamily="34" charset="0"/>
                <a:cs typeface="Arial" panose="020B0604020202020204" pitchFamily="34" charset="0"/>
              </a:rPr>
              <a:t>By reviewing the latest security threats and trends you can apply this information to support improvements and provide further awareness of issues impacting organisations.</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3: Reviewing cyber security</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30</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31374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1978234"/>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Research and report</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Your organisation has asked you to write a report that addresses cyber security trends. You can select an organisation to provide context to the research.</a:t>
            </a: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31</a:t>
            </a:fld>
            <a:endParaRPr lang="en-US" dirty="0">
              <a:solidFill>
                <a:srgbClr val="00667A"/>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CBDF2520-A672-2440-9407-071C1541999F}"/>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a:solidFill>
                  <a:schemeClr val="bg1"/>
                </a:solidFill>
                <a:latin typeface="Arial" panose="020B0604020202020204" pitchFamily="34" charset="0"/>
                <a:cs typeface="Arial" panose="020B0604020202020204" pitchFamily="34" charset="0"/>
              </a:rPr>
              <a:t>Topic 3: Reviewing cyber security</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227476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334312"/>
            <a:ext cx="8152887" cy="2421432"/>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Communicating Improvements </a:t>
            </a:r>
          </a:p>
          <a:p>
            <a:pPr>
              <a:lnSpc>
                <a:spcPct val="120000"/>
              </a:lnSpc>
              <a:spcAft>
                <a:spcPts val="1200"/>
              </a:spcAft>
            </a:pPr>
            <a:r>
              <a:rPr lang="en-AU" sz="2400" dirty="0">
                <a:latin typeface="Arial" panose="020B0604020202020204" pitchFamily="34" charset="0"/>
                <a:cs typeface="Arial" panose="020B0604020202020204" pitchFamily="34" charset="0"/>
              </a:rPr>
              <a:t>Any new information that could help an organisation against cyber security threats, need to be integrated into policies and procedures and then communicated through training or modules to support the updates.</a:t>
            </a:r>
          </a:p>
        </p:txBody>
      </p:sp>
      <p:sp>
        <p:nvSpPr>
          <p:cNvPr id="7" name="Title 1">
            <a:extLst>
              <a:ext uri="{FF2B5EF4-FFF2-40B4-BE49-F238E27FC236}">
                <a16:creationId xmlns:a16="http://schemas.microsoft.com/office/drawing/2014/main" id="{22F3B80B-AFC4-3E42-BC8C-0B6410E4B989}"/>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dirty="0">
                <a:solidFill>
                  <a:schemeClr val="bg1"/>
                </a:solidFill>
                <a:latin typeface="Arial" panose="020B0604020202020204" pitchFamily="34" charset="0"/>
                <a:cs typeface="Arial" panose="020B0604020202020204" pitchFamily="34" charset="0"/>
              </a:rPr>
              <a:t>Topic 3: Reviewing cyber security</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32</a:t>
            </a:fld>
            <a:endParaRPr lang="en-US" dirty="0">
              <a:solidFill>
                <a:srgbClr val="00667A"/>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985417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95556" y="2784017"/>
            <a:ext cx="8152887" cy="1535036"/>
          </a:xfrm>
          <a:prstGeom prst="rect">
            <a:avLst/>
          </a:prstGeom>
        </p:spPr>
        <p:txBody>
          <a:bodyPr wrap="square">
            <a:spAutoFit/>
          </a:bodyPr>
          <a:lstStyle/>
          <a:p>
            <a:pPr>
              <a:lnSpc>
                <a:spcPct val="120000"/>
              </a:lnSpc>
              <a:spcAft>
                <a:spcPts val="1200"/>
              </a:spcAft>
            </a:pPr>
            <a:r>
              <a:rPr lang="en-AU" sz="2400" b="1" dirty="0">
                <a:latin typeface="Arial" panose="020B0604020202020204" pitchFamily="34" charset="0"/>
                <a:cs typeface="Arial" panose="020B0604020202020204" pitchFamily="34" charset="0"/>
              </a:rPr>
              <a:t>Activity: </a:t>
            </a:r>
            <a:r>
              <a:rPr lang="en-AU" sz="2400" dirty="0">
                <a:latin typeface="Arial" panose="020B0604020202020204" pitchFamily="34" charset="0"/>
                <a:cs typeface="Arial" panose="020B0604020202020204" pitchFamily="34" charset="0"/>
              </a:rPr>
              <a:t>Group work – Cyber Security team project </a:t>
            </a:r>
            <a:endParaRPr lang="en-AU" sz="2400" b="1" dirty="0">
              <a:latin typeface="Arial" panose="020B0604020202020204" pitchFamily="34" charset="0"/>
              <a:cs typeface="Arial" panose="020B0604020202020204" pitchFamily="34" charset="0"/>
            </a:endParaRPr>
          </a:p>
          <a:p>
            <a:pPr>
              <a:lnSpc>
                <a:spcPct val="120000"/>
              </a:lnSpc>
            </a:pPr>
            <a:r>
              <a:rPr lang="en-AU" sz="2400" dirty="0">
                <a:latin typeface="Arial" panose="020B0604020202020204" pitchFamily="34" charset="0"/>
                <a:cs typeface="Arial" panose="020B0604020202020204" pitchFamily="34" charset="0"/>
              </a:rPr>
              <a:t>You are to work collaboratively as part of your cyber security team to review cyber security awareness.</a:t>
            </a:r>
          </a:p>
        </p:txBody>
      </p:sp>
      <p:sp>
        <p:nvSpPr>
          <p:cNvPr id="9" name="Rectangle 8">
            <a:extLst>
              <a:ext uri="{FF2B5EF4-FFF2-40B4-BE49-F238E27FC236}">
                <a16:creationId xmlns:a16="http://schemas.microsoft.com/office/drawing/2014/main" id="{74DB1F06-6D17-5C45-94E4-91CD6325B7C5}"/>
              </a:ext>
            </a:extLst>
          </p:cNvPr>
          <p:cNvSpPr/>
          <p:nvPr/>
        </p:nvSpPr>
        <p:spPr>
          <a:xfrm>
            <a:off x="3265714" y="6408009"/>
            <a:ext cx="5116286" cy="246221"/>
          </a:xfrm>
          <a:prstGeom prst="rect">
            <a:avLst/>
          </a:prstGeom>
        </p:spPr>
        <p:txBody>
          <a:bodyPr wrap="square">
            <a:spAutoFit/>
          </a:bodyPr>
          <a:lstStyle/>
          <a:p>
            <a:pPr algn="r"/>
            <a:r>
              <a:rPr lang="en-AU" sz="1000" b="1" dirty="0">
                <a:solidFill>
                  <a:srgbClr val="00667A"/>
                </a:solidFill>
              </a:rPr>
              <a:t>BSBXCS402 </a:t>
            </a:r>
            <a:r>
              <a:rPr lang="en-AU" sz="1000" dirty="0">
                <a:solidFill>
                  <a:srgbClr val="00667A"/>
                </a:solidFill>
              </a:rPr>
              <a:t>Promote workplace cyber security awareness and best practices    </a:t>
            </a:r>
            <a:r>
              <a:rPr lang="en-AU" sz="1000" b="1" dirty="0">
                <a:solidFill>
                  <a:srgbClr val="00667A"/>
                </a:solidFill>
              </a:rPr>
              <a:t>|</a:t>
            </a:r>
            <a:r>
              <a:rPr lang="en-AU" sz="1000" dirty="0">
                <a:solidFill>
                  <a:srgbClr val="00667A"/>
                </a:solidFill>
              </a:rPr>
              <a:t> </a:t>
            </a:r>
            <a:endParaRPr lang="en-AU" sz="1000" dirty="0"/>
          </a:p>
        </p:txBody>
      </p:sp>
      <p:sp>
        <p:nvSpPr>
          <p:cNvPr id="10" name="Slide Number Placeholder 2">
            <a:extLst>
              <a:ext uri="{FF2B5EF4-FFF2-40B4-BE49-F238E27FC236}">
                <a16:creationId xmlns:a16="http://schemas.microsoft.com/office/drawing/2014/main" id="{C3556372-E738-904A-9FEB-4483219CA37D}"/>
              </a:ext>
            </a:extLst>
          </p:cNvPr>
          <p:cNvSpPr>
            <a:spLocks noGrp="1"/>
          </p:cNvSpPr>
          <p:nvPr>
            <p:ph type="sldNum" sz="quarter" idx="12"/>
          </p:nvPr>
        </p:nvSpPr>
        <p:spPr>
          <a:xfrm>
            <a:off x="8077200" y="6356351"/>
            <a:ext cx="514350" cy="365125"/>
          </a:xfrm>
        </p:spPr>
        <p:txBody>
          <a:bodyPr/>
          <a:lstStyle/>
          <a:p>
            <a:fld id="{48F63A3B-78C7-47BE-AE5E-E10140E04643}" type="slidenum">
              <a:rPr lang="en-US" smtClean="0">
                <a:solidFill>
                  <a:srgbClr val="00667A"/>
                </a:solidFill>
                <a:latin typeface="Arial" panose="020B0604020202020204" pitchFamily="34" charset="0"/>
                <a:cs typeface="Arial" panose="020B0604020202020204" pitchFamily="34" charset="0"/>
              </a:rPr>
              <a:pPr/>
              <a:t>33</a:t>
            </a:fld>
            <a:endParaRPr lang="en-US" dirty="0">
              <a:solidFill>
                <a:srgbClr val="00667A"/>
              </a:solidFill>
              <a:latin typeface="Arial" panose="020B0604020202020204" pitchFamily="34" charset="0"/>
              <a:cs typeface="Arial" panose="020B0604020202020204" pitchFamily="34" charset="0"/>
            </a:endParaRPr>
          </a:p>
        </p:txBody>
      </p:sp>
      <p:sp>
        <p:nvSpPr>
          <p:cNvPr id="7" name="Title 1">
            <a:extLst>
              <a:ext uri="{FF2B5EF4-FFF2-40B4-BE49-F238E27FC236}">
                <a16:creationId xmlns:a16="http://schemas.microsoft.com/office/drawing/2014/main" id="{CBDF2520-A672-2440-9407-071C1541999F}"/>
              </a:ext>
            </a:extLst>
          </p:cNvPr>
          <p:cNvSpPr txBox="1">
            <a:spLocks/>
          </p:cNvSpPr>
          <p:nvPr/>
        </p:nvSpPr>
        <p:spPr>
          <a:xfrm>
            <a:off x="0" y="3"/>
            <a:ext cx="9144000" cy="1353378"/>
          </a:xfrm>
          <a:prstGeom prst="rect">
            <a:avLst/>
          </a:prstGeom>
          <a:solidFill>
            <a:srgbClr val="00667A"/>
          </a:solidFill>
        </p:spPr>
        <p:txBody>
          <a:bodyPr rIns="108000" anchor="ctr">
            <a:normAutofit/>
          </a:bodyPr>
          <a:lstStyle>
            <a:lvl1pPr marL="12700" indent="0" algn="l" defTabSz="914400" rtl="0" eaLnBrk="1" latinLnBrk="0" hangingPunct="1">
              <a:lnSpc>
                <a:spcPct val="90000"/>
              </a:lnSpc>
              <a:spcBef>
                <a:spcPct val="0"/>
              </a:spcBef>
              <a:buNone/>
              <a:tabLst/>
              <a:defRPr lang="en-US" sz="4000" kern="1200" dirty="0">
                <a:solidFill>
                  <a:srgbClr val="FFE057"/>
                </a:solidFill>
                <a:latin typeface="Arial" charset="0"/>
                <a:ea typeface="Arial" charset="0"/>
                <a:cs typeface="Arial" charset="0"/>
              </a:defRPr>
            </a:lvl1pPr>
          </a:lstStyle>
          <a:p>
            <a:pPr marL="432000">
              <a:lnSpc>
                <a:spcPct val="100000"/>
              </a:lnSpc>
            </a:pPr>
            <a:r>
              <a:rPr lang="en-US" sz="3200">
                <a:solidFill>
                  <a:schemeClr val="bg1"/>
                </a:solidFill>
                <a:latin typeface="Arial" panose="020B0604020202020204" pitchFamily="34" charset="0"/>
                <a:cs typeface="Arial" panose="020B0604020202020204" pitchFamily="34" charset="0"/>
              </a:rPr>
              <a:t>Topic 3: Reviewing cyber security</a:t>
            </a:r>
            <a:endParaRPr lang="en-US" sz="3200" dirty="0">
              <a:solidFill>
                <a:schemeClr val="bg1"/>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803152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EE1A81C-5DE2-8D44-AF9C-6025FEF3F8CE}" vid="{367E9B3F-80EC-6542-9BF2-794B14C44C2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262</TotalTime>
  <Words>1426</Words>
  <Application>Microsoft Macintosh PowerPoint</Application>
  <PresentationFormat>On-screen Show (4:3)</PresentationFormat>
  <Paragraphs>195</Paragraphs>
  <Slides>33</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Unit number and unit name</dc:title>
  <dc:creator>Microsoft Office User</dc:creator>
  <cp:lastModifiedBy>Harjot Khera</cp:lastModifiedBy>
  <cp:revision>302</cp:revision>
  <dcterms:created xsi:type="dcterms:W3CDTF">2019-03-01T01:00:22Z</dcterms:created>
  <dcterms:modified xsi:type="dcterms:W3CDTF">2023-11-13T00:07:51Z</dcterms:modified>
</cp:coreProperties>
</file>