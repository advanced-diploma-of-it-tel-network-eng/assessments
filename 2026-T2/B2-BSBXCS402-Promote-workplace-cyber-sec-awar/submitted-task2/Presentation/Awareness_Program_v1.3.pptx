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cf61e09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ecf61e09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164592"/>
            <a:ext cx="12188952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92608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Version 1.3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342900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BSBXCS402 — Cybersecurity Awareness Training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38404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Presenter: Manuel Pérez  |  June 2026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57200" y="6583680"/>
            <a:ext cx="1127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Topics covered in today's session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1161305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 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57200" y="1508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Introduction — Why Cybersecurity Matters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206240" y="1508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Finding 1 — Password Management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38160" y="1508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 Shadow AI Risks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7200" y="221284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Current Threat Landscape (ACSC 2023–24)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206240" y="221284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Finding 2 — Phishing Detection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138160" y="221284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14. Out-of-Band Verification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7200" y="29169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Ransomware &amp; Double Extortion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206240" y="29169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Finding 3 — Incident Reporting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138160" y="29169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15. Responsibilities &amp; Reporting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7200" y="3621024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Phishing &amp; Session Hijacking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206240" y="3621024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Finding 4 — Policy Awareness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138160" y="3621024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16. Key Takeaways &amp; Q&amp;A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57200" y="432511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PACT Framework (ANZ)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206240" y="432511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Finding 5 — Training Needs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138160" y="432511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57200" y="50292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Survey Results Overview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206240" y="50292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BYOD Policy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138160" y="50292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Introduction — Why Cybersecurity Matters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57200" y="1325880"/>
            <a:ext cx="11274552" cy="27432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cost of cybercrime in Australia is rising sharply.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57200" y="1920240"/>
            <a:ext cx="2651760" cy="173736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$4.88M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cost of a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breach in Australia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(IBM, 2024)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383280" y="1920240"/>
            <a:ext cx="2651760" cy="173736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94%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Australian organisations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experienced a cyber incident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(ACSC 2023–24)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309360" y="1920240"/>
            <a:ext cx="2651760" cy="173736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73%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breaches involved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error or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engineering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9235440" y="1920240"/>
            <a:ext cx="2651760" cy="173736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13 min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time for an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 to click a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phishing link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57200" y="384048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Cybersecurity is every employee's responsibility — not just IT.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 single click on a malicious link can compromise the entire organisation.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Australian law requires reporting of eligible data breaches (NDB Scheme, Privacy Act 1988).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Current Threat Landscape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ACSC Annual Threat Report 2023–24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457200" y="1161305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 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57200" y="1508760"/>
            <a:ext cx="5303520" cy="2011680"/>
          </a:xfrm>
          <a:prstGeom prst="rect">
            <a:avLst/>
          </a:prstGeom>
          <a:solidFill>
            <a:srgbClr val="D6E4F7"/>
          </a:solidFill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🎣  Phishing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Most prevalent attack vector.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Targets credentials &amp; session tokens.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Uses AI-generated content.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126480" y="1508760"/>
            <a:ext cx="5303520" cy="2011680"/>
          </a:xfrm>
          <a:prstGeom prst="rect">
            <a:avLst/>
          </a:prstGeom>
          <a:solidFill>
            <a:srgbClr val="FCE4D6"/>
          </a:solidFill>
          <a:ln w="1905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🔒  Ransomware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Double extortion: encrypt &amp; exfiltrate.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Targets critical infrastructure.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+23% incidents YoY (ACSC).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57200" y="3749039"/>
            <a:ext cx="5303520" cy="2011680"/>
          </a:xfrm>
          <a:prstGeom prst="rect">
            <a:avLst/>
          </a:prstGeom>
          <a:solidFill>
            <a:srgbClr val="D6E4F7"/>
          </a:solidFill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👤  Insider Threats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Malicious or negligent employees.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Accidental data exposure.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Privilege misuse.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126480" y="3749039"/>
            <a:ext cx="5303520" cy="2011680"/>
          </a:xfrm>
          <a:prstGeom prst="rect">
            <a:avLst/>
          </a:prstGeom>
          <a:solidFill>
            <a:srgbClr val="FCE4D6"/>
          </a:solidFill>
          <a:ln w="1905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🤖  Shadow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Unauthorised AI tools processing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sensitive corporate data.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Emerging &amp; rapidly growing risk.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Ransomware &amp; Double Extortion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Understanding the full attack lifecycle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 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2057400" y="2148840"/>
            <a:ext cx="45720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365760" y="1508760"/>
            <a:ext cx="16459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365760" y="2788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Phishing email</a:t>
            </a:r>
            <a:b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RDP exploit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343400" y="2148840"/>
            <a:ext cx="45720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2651760" y="1508760"/>
            <a:ext cx="16459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Movement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651760" y="2788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Credential theft,</a:t>
            </a:r>
            <a:b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privilege escalation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629400" y="2148840"/>
            <a:ext cx="45720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937760" y="1508760"/>
            <a:ext cx="16459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Exfiltration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937760" y="2788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Sensitive data</a:t>
            </a:r>
            <a:b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stolen first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8915400" y="2148840"/>
            <a:ext cx="45720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223760" y="1508760"/>
            <a:ext cx="16459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223760" y="2788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Files encrypted,</a:t>
            </a:r>
            <a:b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operations halt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9509760" y="1508760"/>
            <a:ext cx="1645920" cy="11887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Extortion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509760" y="2788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Pay or data</a:t>
            </a:r>
            <a:b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published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57200" y="365760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Australian Context: Medibank (2022) — 9.7M records stolen &amp; published; ransom refused.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Latitude Financial (2023) — 14M+ records exfiltrated; one of Australia's largest breaches.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Prevention: Offline backups, network segmentation, MFA on all remote access points.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Response: Isolate affected systems immediately — do NOT pay ransom without legal advice.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Phishing &amp; Session Hijacking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How attackers steal your identity — even after login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57200" y="1133868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How Session Hijacking Works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57200" y="1920240"/>
            <a:ext cx="53035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Attacker sends phishing email with malicious link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Victim logs in — session token captured by attacker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Attacker replays token — bypasses MFA entirely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Account fully compromised without knowing password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943600" y="14630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SLAM — Phishing Detection Framework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943600" y="1920240"/>
            <a:ext cx="4572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492240" y="201168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Sender: Verify the sender's email address exactly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943600" y="2743200"/>
            <a:ext cx="4572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492240" y="283464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Links: Hover before clicking — check the real URL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943600" y="3566160"/>
            <a:ext cx="4572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492240" y="365760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Attachments: Never open unexpected attachments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943600" y="4389120"/>
            <a:ext cx="4572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492240" y="44805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Message: Urgency + threats = red flags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457200" y="5166360"/>
            <a:ext cx="11155680" cy="685800"/>
          </a:xfrm>
          <a:prstGeom prst="rect">
            <a:avLst/>
          </a:prstGeom>
          <a:solidFill>
            <a:srgbClr val="FCE4D6"/>
          </a:solidFill>
          <a:ln w="127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⚠  If in doubt — do NOT click. Report to IT Security immediately via it-security@company.com.au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PACT Framework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ANZ Bank's employee cybersecurity response strategy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457200" y="1161305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1234440" y="1554480"/>
            <a:ext cx="1097280" cy="109728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45720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PAUSE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57200" y="3154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 before acting.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click, forward,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respond immediately.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4114800" y="1554480"/>
            <a:ext cx="1097280" cy="1097280"/>
          </a:xfrm>
          <a:prstGeom prst="ellipse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ACTIVATE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3337560" y="3154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Activate your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critical thinking.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this expected?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995159" y="1554480"/>
            <a:ext cx="1097280" cy="109728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21792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CALL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217920" y="3154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 the sender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a known number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verify the request.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9875519" y="1554480"/>
            <a:ext cx="1097280" cy="1097280"/>
          </a:xfrm>
          <a:prstGeom prst="ellipse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909828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TURN ON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9098280" y="3154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Turn on two-factor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authentication on</a:t>
            </a:r>
            <a:b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accounts.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57200" y="49377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Apply PACT whenever you receive an unexpected request — especially involving money, credentials, or data.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The PACT framework was developed by ANZ Bank and is endorsed by the ACSC for financial sector training.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Source: ANZ Bank Cybersecurity Awareness Program; ACSC Business Email Compromise guidance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Survey Results Overview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Internal cybersecurity awareness survey — n=6 employees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57200" y="1156718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Five key findings identified from the pre-training survey: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457200" y="1920240"/>
            <a:ext cx="1371600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1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2011680" y="19659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 Management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389120" y="1965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50% only change passwords when forced by the system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57200" y="2724912"/>
            <a:ext cx="13716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2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2011680" y="277063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Phishing Detection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389120" y="277063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Only 2 of 6 employees feel confident identifying phishing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57200" y="3529584"/>
            <a:ext cx="1371600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3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2011680" y="3575304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Incident Reporting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389120" y="3575304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50% would report to their direct manager (incorrect channel)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457200" y="4334256"/>
            <a:ext cx="137160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4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2011680" y="437997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 Awareness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389120" y="4379976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Only 2 of 6 have read the cybersecurity policy recently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57200" y="5138928"/>
            <a:ext cx="1371600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5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2011680" y="518464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 Needs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4389120" y="518464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 employees specifically requested phishing simulations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Finding 1 — Password Management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Survey result: 50% manage passwords reactively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57200" y="1508760"/>
            <a:ext cx="3200400" cy="1828800"/>
          </a:xfrm>
          <a:prstGeom prst="rect">
            <a:avLst/>
          </a:prstGeom>
          <a:solidFill>
            <a:srgbClr val="FCE4D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only change passwords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when the system forces them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3931920" y="15087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3931920" y="1874519"/>
            <a:ext cx="75895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Reused or weak passwords are exploited in credential stuffing attacks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Compromised credentials remain active for months if not rotated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Password reuse across personal/corporate accounts amplifies breach impact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3931920" y="3246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3931920" y="3611880"/>
            <a:ext cx="75895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a password manager (e.g., Bitwarden, 1Password) — one strong master password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Enable Multi-Factor Authentication (MFA) on all corporate accounts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passphrases: 4+ random words (e.g., 'coral-lamp-thunder-78')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Never reuse passwords between personal and work accounts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IT to enforce 90-day rotation for privileged accounts via Active Directory policy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Finding 2 — Phishing Detection Confidence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Survey result: only 2 of 6 employees feel confident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457200" y="1133868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 Confidence in Detecting Phishing (n=6):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31520" y="1920240"/>
            <a:ext cx="1097280" cy="109728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94360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Confident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2468880" y="1920240"/>
            <a:ext cx="1097280" cy="109728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2331720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Confident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4206240" y="1920240"/>
            <a:ext cx="1097280" cy="1097280"/>
          </a:xfrm>
          <a:prstGeom prst="ellipse">
            <a:avLst/>
          </a:prstGeom>
          <a:solidFill>
            <a:srgbClr val="BDBDB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4069079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Not confident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5943599" y="1920240"/>
            <a:ext cx="1097280" cy="1097280"/>
          </a:xfrm>
          <a:prstGeom prst="ellipse">
            <a:avLst/>
          </a:prstGeom>
          <a:solidFill>
            <a:srgbClr val="BDBDB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5806439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Not confident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680960" y="1920240"/>
            <a:ext cx="1097280" cy="1097280"/>
          </a:xfrm>
          <a:prstGeom prst="ellipse">
            <a:avLst/>
          </a:prstGeom>
          <a:solidFill>
            <a:srgbClr val="BDBDB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7543800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Not confident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9418320" y="1920240"/>
            <a:ext cx="1097280" cy="1097280"/>
          </a:xfrm>
          <a:prstGeom prst="ellipse">
            <a:avLst/>
          </a:prstGeom>
          <a:solidFill>
            <a:srgbClr val="BDBDB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281160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Not confident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457200" y="36576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Only 33% of employees feel confident in identifying phishing attempts.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This is critically low — phishing is the #1 initial access vector (Verizon DBIR 2024).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Recommended Actions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57200" y="498348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Implement monthly phishing simulation campaigns (GoPhish or KnowBe4 platform)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Provide immediate inline training when an employee clicks a simulated phishing link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Track click rates over time — target below 5% within 12 months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457200" y="612648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Source: Verizon DBIR 2024q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Finding 3 — Incident Reporting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Survey result: 50% would report to their direct manager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457200" y="1133868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457200" y="1508760"/>
            <a:ext cx="3200400" cy="1828800"/>
          </a:xfrm>
          <a:prstGeom prst="rect">
            <a:avLst/>
          </a:prstGeom>
          <a:solidFill>
            <a:srgbClr val="FCE4D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would report to their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direct manager (INCORRECT)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3931920" y="1508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Why This Is a Problem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3931920" y="192024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Managers are not trained incident responders — delays cost time &amp; money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Incorrect reporting delays containment; breaches spread in minutes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NDB Scheme requires notification to OAIC within 30 days — delays can cause regulatory penalties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✅  Correct Reporting Process — 5 Steps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457200" y="3840480"/>
            <a:ext cx="365760" cy="338328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960120" y="3840480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 — cease all activity on the affected device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457200" y="4270248"/>
            <a:ext cx="365760" cy="338328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960120" y="4270248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 — contact IT Security immediately (it-security@company.com.au / ext. 5555)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457200" y="4700016"/>
            <a:ext cx="365760" cy="338328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960120" y="4700016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Preserve — do not delete files, emails, or logs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457200" y="5129784"/>
            <a:ext cx="365760" cy="338328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960120" y="5129784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— note what happened, when, what you saw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457200" y="5559552"/>
            <a:ext cx="365760" cy="338328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960120" y="5559552"/>
            <a:ext cx="10515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Cooperate — support the IT Security team's investigation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Finding 4 — Policy Awareness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Survey result: only 2 of 6 have read the policy recently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457200" y="1508760"/>
            <a:ext cx="3200400" cy="18288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2 of 6</a:t>
            </a:r>
            <a:b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employees have read</a:t>
            </a:r>
            <a:b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the cybersecurity policy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3931920" y="1508760"/>
            <a:ext cx="749807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67% of staff are unaware of their specific obligations under the policy.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Unawareness is not a legal defence — all employees are bound by the policy from day one.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Key policy areas include: acceptable use, password management, incident reporting, BYOD, and data handling.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Recommended Actions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457200" y="3886200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Publish policy on intranet with a mandatory annual acknowledgement (digital signature)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Include policy summary in onboarding — all new starters sign within first week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Schedule quarterly policy refreshers — 10-minute microlearning modules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Add policy reference links to IT Security email footer and SharePoint homepage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Finding 5 — Training Needs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Survey result: 3 of 6 requested practical phishing simulations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457200" y="1508760"/>
            <a:ext cx="3200400" cy="1828800"/>
          </a:xfrm>
          <a:prstGeom prst="rect">
            <a:avLst/>
          </a:prstGeom>
          <a:solidFill>
            <a:srgbClr val="FCE4D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3 of 6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requested hands-on</a:t>
            </a:r>
            <a:b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phishing simulations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3931920" y="1508760"/>
            <a:ext cx="749807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50% of employees prefer experiential learning over passive presentation formats.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Phishing simulations are proven to reduce click rates by up to 70% over 12 months.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Inline training (immediate feedback after clicking) is the most effective method.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Proposed Training Roadmap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57200" y="3886200"/>
            <a:ext cx="1280160" cy="347472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1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1874519" y="3886200"/>
            <a:ext cx="9601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Baseline phishing simulation — measure initial click rate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457200" y="4325112"/>
            <a:ext cx="1280160" cy="347472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2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874519" y="4325112"/>
            <a:ext cx="9601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 hygiene workshop + MFA rollout</a:t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457200" y="4764024"/>
            <a:ext cx="1280160" cy="347472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3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874519" y="4764024"/>
            <a:ext cx="9601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Phishing simulation #2 + inline training for clickers</a:t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457200" y="5202936"/>
            <a:ext cx="1280160" cy="347472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6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874519" y="5202936"/>
            <a:ext cx="9601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 acknowledgement renewal + advanced social engineering module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457200" y="5641848"/>
            <a:ext cx="1280160" cy="347472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12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874519" y="5641848"/>
            <a:ext cx="9601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Annual penetration test + training effectiveness review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BYOD Policy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Bring Your Own Device — Requirements &amp; Restrictions</a:t>
            </a: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Permitted Devices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457200" y="1874519"/>
            <a:ext cx="53035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Smartphones, tablets, and personal laptops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Must run a supported, up-to-date operating system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Must be registered with IT before accessing corporate resources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457200" y="31546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Technical Requirements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457200" y="356616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Full-disk encryption enabled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Approved antivirus/endpoint protection installed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Screen lock — max 5 minutes inactivity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OS and apps updated within 48 hours of security patches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 Separation &amp; Privacy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Corporate data must be stored in approved apps only (e.g., OneDrive, Teams)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Personal and corporate data must remain strictly separated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IT can remotely wipe corporate data (not personal data) if device is lost/stolen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Employees retain full privacy over personal apps and files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5943600" y="37947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Restrictions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5943600" y="4206240"/>
            <a:ext cx="57607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 jailbroken or rooted devices permitted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 storing corporate data in personal cloud storage (Dropbox, Google Drive)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 unauthorised AI tools (see Shadow AI slide)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Non-compliant devices will be blocked from corporate network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Shadow AI — Emerging Threat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New in v1.3 | Unauthorised AI tools processing sensitive corporate data</a:t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— v1.3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What is Shadow AI?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457200" y="1874519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Shadow AI = using AI tools (ChatGPT, Claude, Gemini, Copilot) that are NOT approved by IT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Employees often paste confidential documents, client data, or code into these tools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This data may be used to train the AI's public model — no retrieval possible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ACSC 2023–24 identified Shadow AI as a rapidly emerging organisational risk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457200" y="3703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endParaRPr/>
          </a:p>
        </p:txBody>
      </p:sp>
      <p:sp>
        <p:nvSpPr>
          <p:cNvPr id="367" name="Google Shape;367;p2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Data breach via AI training data exposure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Regulatory violation (Privacy Act, NDB Scheme)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Intellectual property theft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Reputational and legal liability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5943600" y="37033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Acceptable Use Policy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5943600" y="4114800"/>
            <a:ext cx="57607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Only use AI tools approved by IT (see intranet: IT-Approved Tools list)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Never paste client data, PII, financials, or confidential info into any AI tool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Report accidental AI data exposure immediately to IT Security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Approved tools: Microsoft Copilot (M365 tenant-bound) — data stays in your org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Out-of-Band Verification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New in v1.3 | Secondary channel verification against deepfakes &amp; BEC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457200" y="1129293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— v1.3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The Deepfake Threat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457200" y="1874519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AI can now clone voices &amp; faces convincingly — attackers impersonate CEOs, CFOs, IT staff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 25-second voice sample is enough to create a convincing deepfake call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2024 case: A finance officer in Hong Kong transferred $35M AUD after a deepfake video call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Attackers use deepfakes to authorise fraudulent wire transfers, credential resets, &amp; access requests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What is Out-of-Band Verification?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Verify ANY sensitive request through a DIFFERENT communication channel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Received by email → call the person on their known mobile number (from the directory)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Received by phone → send an SMS to their registered number AND check with their manager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Never verify using a callback number or link provided in the suspicious message itself</a:t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457200" y="5577840"/>
            <a:ext cx="11155680" cy="59436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Golden Rule: Any request involving money, access credentials, or sensitive data MUST be verified out-of-band — no exceptions.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Your Responsibilities &amp; Reporting Process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What every employee must do to protect the organisation</a:t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457200" y="1188730"/>
            <a:ext cx="11274600" cy="273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94" name="Google Shape;394;p29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8 Core Employee Responsibilities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457200" y="1874519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Complete all mandatory cybersecurity training within 30 days of assignment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strong, unique passwords and enable MFA on all corporate accounts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Report suspicious emails, calls, or messages to IT Security immediately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Lock your screen when leaving your workstation (Windows: Win+L)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6035040" y="1874519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Only use IT-approved applications and cloud services — no Shadow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Comply with the BYOD policy for all personal devices used for work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Verify sensitive requests out-of-band before taking any action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Cooperate fully with any IT security investigation or audit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Incident Reporting — 5-Step Process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457200" y="4480560"/>
            <a:ext cx="1920240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/>
          </a:p>
        </p:txBody>
      </p:sp>
      <p:sp>
        <p:nvSpPr>
          <p:cNvPr id="399" name="Google Shape;399;p29"/>
          <p:cNvSpPr/>
          <p:nvPr/>
        </p:nvSpPr>
        <p:spPr>
          <a:xfrm>
            <a:off x="2697480" y="4480560"/>
            <a:ext cx="1920240" cy="914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4937760" y="4480560"/>
            <a:ext cx="1920240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PRESERVE</a:t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>
            <a:off x="7178040" y="4480560"/>
            <a:ext cx="1920240" cy="914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b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9418320" y="4480560"/>
            <a:ext cx="1920240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b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COOPERATE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Report to: it-security@company.com.au  |  Internal ext. 5555  |  After hours: 1800-CYB-SEC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>
            <a:off x="457200" y="320040"/>
            <a:ext cx="1127455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0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Key Takeaways &amp; Next Steps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Thank you — Questions &amp; Answers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457200" y="1325880"/>
            <a:ext cx="11274552" cy="27432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457200" y="6492240"/>
            <a:ext cx="11274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Cybersecurity Awareness Program v1.3</a:t>
            </a: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457200" y="1508760"/>
            <a:ext cx="3383280" cy="160020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🛡  Apply SLAM &amp; PACT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SLAM to detect phishing. Apply PACT before acting on any suspicious request.</a:t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4206240" y="1508760"/>
            <a:ext cx="3383280" cy="1600200"/>
          </a:xfrm>
          <a:prstGeom prst="rect">
            <a:avLst/>
          </a:prstGeom>
          <a:solidFill>
            <a:srgbClr val="FCE4D6"/>
          </a:solidFill>
          <a:ln w="127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🔑  Strong Passwords + MFA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a password manager. Enable MFA on every corporate account today.</a:t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7955279" y="1508760"/>
            <a:ext cx="3383280" cy="160020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📢  Report Immediately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Suspicious? Report to IT Security — not your manager. Speed saves the organisation.</a:t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457200" y="3337560"/>
            <a:ext cx="3383280" cy="1600200"/>
          </a:xfrm>
          <a:prstGeom prst="rect">
            <a:avLst/>
          </a:prstGeom>
          <a:solidFill>
            <a:srgbClr val="FCE4D6"/>
          </a:solidFill>
          <a:ln w="127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🤖  No Shadow 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Never use unauthorised AI tools with corporate data. Use only IT-approved tools.</a:t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4206240" y="3337560"/>
            <a:ext cx="3383280" cy="1600200"/>
          </a:xfrm>
          <a:prstGeom prst="rect">
            <a:avLst/>
          </a:prstGeom>
          <a:solidFill>
            <a:srgbClr val="D6E4F7"/>
          </a:solidFill>
          <a:ln w="127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✅  Verify Out-of-Band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Sensitive request? Always verify through a different channel. No exceptions.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E21EC0-4992-958C-F12E-F4CE11FA0857}"/>
              </a:ext>
            </a:extLst>
          </p:cNvPr>
          <p:cNvSpPr txBox="1"/>
          <p:nvPr/>
        </p:nvSpPr>
        <p:spPr>
          <a:xfrm>
            <a:off x="0" y="2722180"/>
            <a:ext cx="12188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Thanks!!!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2279</Words>
  <Application>Microsoft Macintosh PowerPoint</Application>
  <PresentationFormat>Custom</PresentationFormat>
  <Paragraphs>307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mpz</dc:creator>
  <cp:keywords/>
  <dc:description/>
  <cp:lastModifiedBy>Manuel Perez</cp:lastModifiedBy>
  <cp:revision>1</cp:revision>
  <dcterms:modified xsi:type="dcterms:W3CDTF">2026-06-07T13:03:29Z</dcterms:modified>
  <cp:category/>
</cp:coreProperties>
</file>