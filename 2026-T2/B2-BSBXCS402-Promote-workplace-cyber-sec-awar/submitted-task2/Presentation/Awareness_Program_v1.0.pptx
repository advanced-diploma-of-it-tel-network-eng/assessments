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Inter" panose="02000503000000020004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087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184" y="2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0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06849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8076" y="1600200"/>
            <a:ext cx="6193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ASSESSMENT TASK 2</a:t>
            </a:r>
            <a:endParaRPr lang="en-US" sz="1197" dirty="0"/>
          </a:p>
        </p:txBody>
      </p:sp>
      <p:sp>
        <p:nvSpPr>
          <p:cNvPr id="4" name="Text 2"/>
          <p:cNvSpPr txBox="1"/>
          <p:nvPr/>
        </p:nvSpPr>
        <p:spPr>
          <a:xfrm>
            <a:off x="608076" y="1955800"/>
            <a:ext cx="6676644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478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Cybersecurity Awareness Program</a:t>
            </a:r>
            <a:br>
              <a:rPr lang="en-US" sz="478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br>
              <a:rPr lang="en-US" sz="478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v1.0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8076" y="4394200"/>
            <a:ext cx="810768" cy="50800"/>
          </a:xfrm>
          <a:prstGeom prst="rect">
            <a:avLst/>
          </a:prstGeom>
          <a:noFill/>
          <a:ln w="25337">
            <a:solidFill>
              <a:srgbClr val="13B5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" y="4597400"/>
            <a:ext cx="61933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F1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our people, our data, our customers.</a:t>
            </a:r>
            <a:endParaRPr lang="en-US" sz="17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5045" r="5045"/>
          <a:stretch/>
        </p:blipFill>
        <p:spPr>
          <a:xfrm>
            <a:off x="7206849" y="0"/>
            <a:ext cx="49546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52550"/>
          </a:xfrm>
          <a:prstGeom prst="rect">
            <a:avLst/>
          </a:prstGeom>
          <a:solidFill>
            <a:srgbClr val="FFFFFF"/>
          </a:solidFill>
          <a:ln w="6334">
            <a:solidFill>
              <a:srgbClr val="E0E5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3064" y="260350"/>
            <a:ext cx="1113539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INTRODUCTION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13064" y="438150"/>
            <a:ext cx="11135392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cybersecurity matters for our organisation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13064" y="965200"/>
            <a:ext cx="111353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trust, legal obligations, and operational continuity all sit on the line.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555750"/>
            <a:ext cx="3069279" cy="4768850"/>
          </a:xfrm>
          <a:prstGeom prst="roundRect">
            <a:avLst>
              <a:gd name="adj" fmla="val 476"/>
            </a:avLst>
          </a:prstGeom>
          <a:solidFill>
            <a:srgbClr val="F1F4F8"/>
          </a:solidFill>
          <a:ln w="6334">
            <a:solidFill>
              <a:srgbClr val="E0E5E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6429" y="1816100"/>
            <a:ext cx="304038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6429" y="2222500"/>
            <a:ext cx="24133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Privacy Act 1988</a:t>
            </a:r>
            <a:endParaRPr lang="en-US" sz="2394" dirty="0"/>
          </a:p>
        </p:txBody>
      </p:sp>
      <p:sp>
        <p:nvSpPr>
          <p:cNvPr id="9" name="Text 6"/>
          <p:cNvSpPr txBox="1"/>
          <p:nvPr/>
        </p:nvSpPr>
        <p:spPr>
          <a:xfrm>
            <a:off x="766429" y="2679700"/>
            <a:ext cx="13555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exposure</a:t>
            </a:r>
            <a:endParaRPr lang="en-US" sz="1496" dirty="0"/>
          </a:p>
        </p:txBody>
      </p:sp>
      <p:sp>
        <p:nvSpPr>
          <p:cNvPr id="10" name="Text 7"/>
          <p:cNvSpPr txBox="1"/>
          <p:nvPr/>
        </p:nvSpPr>
        <p:spPr>
          <a:xfrm>
            <a:off x="766429" y="3009900"/>
            <a:ext cx="25498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Notifiable Data Breach obligations apply to incidents involving customer information.</a:t>
            </a:r>
            <a:endParaRPr lang="en-US" sz="1496" dirty="0"/>
          </a:p>
        </p:txBody>
      </p:sp>
      <p:sp>
        <p:nvSpPr>
          <p:cNvPr id="11" name="Shape 8"/>
          <p:cNvSpPr/>
          <p:nvPr/>
        </p:nvSpPr>
        <p:spPr>
          <a:xfrm>
            <a:off x="3778701" y="1555750"/>
            <a:ext cx="3069378" cy="4768850"/>
          </a:xfrm>
          <a:prstGeom prst="roundRect">
            <a:avLst>
              <a:gd name="adj" fmla="val 476"/>
            </a:avLst>
          </a:prstGeom>
          <a:solidFill>
            <a:srgbClr val="F1F4F8"/>
          </a:solidFill>
          <a:ln w="6334">
            <a:solidFill>
              <a:srgbClr val="E0E5E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38401" y="1816100"/>
            <a:ext cx="304038" cy="304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38401" y="2222500"/>
            <a:ext cx="22106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trust</a:t>
            </a:r>
            <a:endParaRPr lang="en-US" sz="2394" dirty="0"/>
          </a:p>
        </p:txBody>
      </p:sp>
      <p:sp>
        <p:nvSpPr>
          <p:cNvPr id="14" name="Text 10"/>
          <p:cNvSpPr txBox="1"/>
          <p:nvPr/>
        </p:nvSpPr>
        <p:spPr>
          <a:xfrm>
            <a:off x="4038401" y="2679700"/>
            <a:ext cx="14821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Reputational risk</a:t>
            </a:r>
            <a:endParaRPr lang="en-US" sz="1496" dirty="0"/>
          </a:p>
        </p:txBody>
      </p:sp>
      <p:sp>
        <p:nvSpPr>
          <p:cNvPr id="15" name="Text 11"/>
          <p:cNvSpPr txBox="1"/>
          <p:nvPr/>
        </p:nvSpPr>
        <p:spPr>
          <a:xfrm>
            <a:off x="4038401" y="3009900"/>
            <a:ext cx="2549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breach can erode years of brand confidence and customer loyalty.</a:t>
            </a:r>
            <a:endParaRPr lang="en-US" sz="1496" dirty="0"/>
          </a:p>
        </p:txBody>
      </p:sp>
      <p:sp>
        <p:nvSpPr>
          <p:cNvPr id="16" name="Shape 12"/>
          <p:cNvSpPr/>
          <p:nvPr/>
        </p:nvSpPr>
        <p:spPr>
          <a:xfrm>
            <a:off x="7050772" y="1555750"/>
            <a:ext cx="4604018" cy="4768850"/>
          </a:xfrm>
          <a:prstGeom prst="roundRect">
            <a:avLst>
              <a:gd name="adj" fmla="val 317"/>
            </a:avLst>
          </a:prstGeom>
          <a:solidFill>
            <a:srgbClr val="0B254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04137" y="1809750"/>
            <a:ext cx="40972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reasons this room matters</a:t>
            </a:r>
            <a:endParaRPr lang="en-US" sz="2394" dirty="0"/>
          </a:p>
        </p:txBody>
      </p:sp>
      <p:sp>
        <p:nvSpPr>
          <p:cNvPr id="18" name="Text 14"/>
          <p:cNvSpPr txBox="1"/>
          <p:nvPr/>
        </p:nvSpPr>
        <p:spPr>
          <a:xfrm>
            <a:off x="7304137" y="2774950"/>
            <a:ext cx="24069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795" dirty="0"/>
          </a:p>
        </p:txBody>
      </p:sp>
      <p:sp>
        <p:nvSpPr>
          <p:cNvPr id="19" name="Text 15"/>
          <p:cNvSpPr txBox="1"/>
          <p:nvPr/>
        </p:nvSpPr>
        <p:spPr>
          <a:xfrm>
            <a:off x="7696853" y="2774950"/>
            <a:ext cx="3704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the first line of defence — most incidents start with a human click.</a:t>
            </a:r>
            <a:endParaRPr lang="en-US" sz="1496" dirty="0"/>
          </a:p>
        </p:txBody>
      </p:sp>
      <p:sp>
        <p:nvSpPr>
          <p:cNvPr id="20" name="Text 16"/>
          <p:cNvSpPr txBox="1"/>
          <p:nvPr/>
        </p:nvSpPr>
        <p:spPr>
          <a:xfrm>
            <a:off x="7304137" y="33845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795" dirty="0"/>
          </a:p>
        </p:txBody>
      </p:sp>
      <p:sp>
        <p:nvSpPr>
          <p:cNvPr id="21" name="Text 17"/>
          <p:cNvSpPr txBox="1"/>
          <p:nvPr/>
        </p:nvSpPr>
        <p:spPr>
          <a:xfrm>
            <a:off x="7741191" y="3384550"/>
            <a:ext cx="3660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survey shows real, fixable gaps we will walk through today.</a:t>
            </a:r>
            <a:endParaRPr lang="en-US" sz="1496" dirty="0"/>
          </a:p>
        </p:txBody>
      </p:sp>
      <p:sp>
        <p:nvSpPr>
          <p:cNvPr id="22" name="Text 18"/>
          <p:cNvSpPr txBox="1"/>
          <p:nvPr/>
        </p:nvSpPr>
        <p:spPr>
          <a:xfrm>
            <a:off x="7304137" y="39941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795" dirty="0"/>
          </a:p>
        </p:txBody>
      </p:sp>
      <p:sp>
        <p:nvSpPr>
          <p:cNvPr id="23" name="Text 19"/>
          <p:cNvSpPr txBox="1"/>
          <p:nvPr/>
        </p:nvSpPr>
        <p:spPr>
          <a:xfrm>
            <a:off x="7741191" y="3994150"/>
            <a:ext cx="3660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BYOD and PACT controls only work if every one of us applies them.</a:t>
            </a:r>
            <a:endParaRPr lang="en-US" sz="1496" dirty="0"/>
          </a:p>
        </p:txBody>
      </p:sp>
      <p:sp>
        <p:nvSpPr>
          <p:cNvPr id="24" name="Text 20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5" name="Text 21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9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540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THREAT LANDSCAPE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4318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Australia is being targeted — and the pace is accelerating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908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ACSC Annual Cyber Threat Report data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289050"/>
            <a:ext cx="4104513" cy="4121150"/>
          </a:xfrm>
          <a:prstGeom prst="roundRect">
            <a:avLst>
              <a:gd name="adj" fmla="val 412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0095" y="1543050"/>
            <a:ext cx="359778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~94,000</a:t>
            </a:r>
            <a:endParaRPr lang="en-US" sz="2993" dirty="0"/>
          </a:p>
        </p:txBody>
      </p:sp>
      <p:sp>
        <p:nvSpPr>
          <p:cNvPr id="7" name="Text 5"/>
          <p:cNvSpPr txBox="1"/>
          <p:nvPr/>
        </p:nvSpPr>
        <p:spPr>
          <a:xfrm>
            <a:off x="760095" y="2120900"/>
            <a:ext cx="3597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cybercrime reports lodged in a single year</a:t>
            </a:r>
            <a:endParaRPr lang="en-US" sz="149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" y="2755900"/>
            <a:ext cx="202692" cy="203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64133" y="2730500"/>
            <a:ext cx="329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cost to a medium business: ~$97k per incident</a:t>
            </a:r>
            <a:endParaRPr lang="en-US" sz="1496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0095" y="3340100"/>
            <a:ext cx="202692" cy="203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64133" y="3314700"/>
            <a:ext cx="329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State-based actors increasingly targeting critical infrastructure</a:t>
            </a:r>
            <a:endParaRPr lang="en-US" sz="1496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0095" y="3924300"/>
            <a:ext cx="202692" cy="203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4133" y="3898900"/>
            <a:ext cx="329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businesses are the fastest-growing victim segment</a:t>
            </a:r>
            <a:endParaRPr lang="en-US" sz="1496" dirty="0"/>
          </a:p>
        </p:txBody>
      </p:sp>
      <p:sp>
        <p:nvSpPr>
          <p:cNvPr id="14" name="Text 9"/>
          <p:cNvSpPr txBox="1"/>
          <p:nvPr/>
        </p:nvSpPr>
        <p:spPr>
          <a:xfrm>
            <a:off x="760095" y="4978400"/>
            <a:ext cx="35977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ACSC Annual Cyber Threat Report</a:t>
            </a:r>
            <a:endParaRPr lang="en-US" sz="998" dirty="0"/>
          </a:p>
        </p:txBody>
      </p:sp>
      <p:sp>
        <p:nvSpPr>
          <p:cNvPr id="15" name="Shape 10"/>
          <p:cNvSpPr/>
          <p:nvPr/>
        </p:nvSpPr>
        <p:spPr>
          <a:xfrm>
            <a:off x="4813935" y="1289050"/>
            <a:ext cx="6840855" cy="4121150"/>
          </a:xfrm>
          <a:prstGeom prst="roundRect">
            <a:avLst>
              <a:gd name="adj" fmla="val 247"/>
            </a:avLst>
          </a:prstGeom>
          <a:solidFill>
            <a:srgbClr val="F1F4F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67300" y="1543050"/>
            <a:ext cx="6334125" cy="31750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6730" y="5562600"/>
            <a:ext cx="11148060" cy="838200"/>
          </a:xfrm>
          <a:prstGeom prst="roundRect">
            <a:avLst>
              <a:gd name="adj" fmla="val 744"/>
            </a:avLst>
          </a:prstGeom>
          <a:solidFill>
            <a:srgbClr val="F1F4F8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2001584" y="5715000"/>
            <a:ext cx="7220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in 5</a:t>
            </a:r>
            <a:endParaRPr lang="en-US" sz="2394" dirty="0"/>
          </a:p>
        </p:txBody>
      </p:sp>
      <p:sp>
        <p:nvSpPr>
          <p:cNvPr id="19" name="Text 13"/>
          <p:cNvSpPr txBox="1"/>
          <p:nvPr/>
        </p:nvSpPr>
        <p:spPr>
          <a:xfrm>
            <a:off x="750594" y="6045200"/>
            <a:ext cx="322407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7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businesses hit by a cyber incident</a:t>
            </a:r>
            <a:endParaRPr lang="en-US" sz="1197" dirty="0"/>
          </a:p>
        </p:txBody>
      </p:sp>
      <p:sp>
        <p:nvSpPr>
          <p:cNvPr id="20" name="Shape 14"/>
          <p:cNvSpPr/>
          <p:nvPr/>
        </p:nvSpPr>
        <p:spPr>
          <a:xfrm>
            <a:off x="4218527" y="5562600"/>
            <a:ext cx="6334" cy="838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691211" y="5715000"/>
            <a:ext cx="7790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min</a:t>
            </a:r>
            <a:endParaRPr lang="en-US" sz="2394" dirty="0"/>
          </a:p>
        </p:txBody>
      </p:sp>
      <p:sp>
        <p:nvSpPr>
          <p:cNvPr id="22" name="Text 16"/>
          <p:cNvSpPr txBox="1"/>
          <p:nvPr/>
        </p:nvSpPr>
        <p:spPr>
          <a:xfrm>
            <a:off x="4665083" y="6045200"/>
            <a:ext cx="283135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7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time between reports to ACSC</a:t>
            </a:r>
            <a:endParaRPr lang="en-US" sz="1197" dirty="0"/>
          </a:p>
        </p:txBody>
      </p:sp>
      <p:sp>
        <p:nvSpPr>
          <p:cNvPr id="23" name="Shape 17"/>
          <p:cNvSpPr/>
          <p:nvPr/>
        </p:nvSpPr>
        <p:spPr>
          <a:xfrm>
            <a:off x="7936659" y="5562600"/>
            <a:ext cx="6334" cy="838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403009" y="5715000"/>
            <a:ext cx="7917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+23%</a:t>
            </a:r>
            <a:endParaRPr lang="en-US" sz="2394" dirty="0"/>
          </a:p>
        </p:txBody>
      </p:sp>
      <p:sp>
        <p:nvSpPr>
          <p:cNvPr id="25" name="Text 19"/>
          <p:cNvSpPr txBox="1"/>
          <p:nvPr/>
        </p:nvSpPr>
        <p:spPr>
          <a:xfrm>
            <a:off x="8509897" y="6045200"/>
            <a:ext cx="25779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7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Year-on-year rise in cyber incidents</a:t>
            </a:r>
            <a:endParaRPr lang="en-US" sz="1197" dirty="0"/>
          </a:p>
        </p:txBody>
      </p:sp>
      <p:sp>
        <p:nvSpPr>
          <p:cNvPr id="26" name="Text 20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7" name="Text 21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9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54000"/>
            <a:ext cx="1083135" cy="228600"/>
          </a:xfrm>
          <a:prstGeom prst="roundRect">
            <a:avLst>
              <a:gd name="adj" fmla="val 23389474"/>
            </a:avLst>
          </a:prstGeom>
          <a:solidFill>
            <a:srgbClr val="D726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79400"/>
            <a:ext cx="77909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01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5334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Ransomware — Double Extortion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035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encrypt your data, then threaten to publish it.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23082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749" y="2447925"/>
            <a:ext cx="2026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747427" y="2867025"/>
            <a:ext cx="25337" cy="2540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4806" y="2409825"/>
            <a:ext cx="314806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 Access</a:t>
            </a:r>
            <a:endParaRPr lang="en-US" sz="1795" dirty="0"/>
          </a:p>
        </p:txBody>
      </p:sp>
      <p:sp>
        <p:nvSpPr>
          <p:cNvPr id="10" name="Text 8"/>
          <p:cNvSpPr txBox="1"/>
          <p:nvPr/>
        </p:nvSpPr>
        <p:spPr>
          <a:xfrm>
            <a:off x="1114806" y="2663825"/>
            <a:ext cx="3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email or stolen credentials</a:t>
            </a:r>
            <a:endParaRPr lang="en-US" sz="1496" dirty="0"/>
          </a:p>
        </p:txBody>
      </p:sp>
      <p:sp>
        <p:nvSpPr>
          <p:cNvPr id="11" name="Shape 9"/>
          <p:cNvSpPr/>
          <p:nvPr/>
        </p:nvSpPr>
        <p:spPr>
          <a:xfrm>
            <a:off x="506730" y="31718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914" y="33115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747427" y="3730625"/>
            <a:ext cx="25337" cy="2540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4806" y="3273425"/>
            <a:ext cx="45225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Exfiltration</a:t>
            </a:r>
            <a:endParaRPr lang="en-US" sz="1795" dirty="0"/>
          </a:p>
        </p:txBody>
      </p:sp>
      <p:sp>
        <p:nvSpPr>
          <p:cNvPr id="15" name="Text 13"/>
          <p:cNvSpPr txBox="1"/>
          <p:nvPr/>
        </p:nvSpPr>
        <p:spPr>
          <a:xfrm>
            <a:off x="1114806" y="3527425"/>
            <a:ext cx="45225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data quietly copied out before encryption</a:t>
            </a:r>
            <a:endParaRPr lang="en-US" sz="1496" dirty="0"/>
          </a:p>
        </p:txBody>
      </p:sp>
      <p:sp>
        <p:nvSpPr>
          <p:cNvPr id="16" name="Shape 14"/>
          <p:cNvSpPr/>
          <p:nvPr/>
        </p:nvSpPr>
        <p:spPr>
          <a:xfrm>
            <a:off x="506730" y="40354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D726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914" y="41751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96" dirty="0"/>
          </a:p>
        </p:txBody>
      </p:sp>
      <p:sp>
        <p:nvSpPr>
          <p:cNvPr id="18" name="Shape 16"/>
          <p:cNvSpPr/>
          <p:nvPr/>
        </p:nvSpPr>
        <p:spPr>
          <a:xfrm>
            <a:off x="747427" y="4594225"/>
            <a:ext cx="25337" cy="2540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4806" y="4137025"/>
            <a:ext cx="453523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Encryption</a:t>
            </a:r>
            <a:endParaRPr lang="en-US" sz="1795" dirty="0"/>
          </a:p>
        </p:txBody>
      </p:sp>
      <p:sp>
        <p:nvSpPr>
          <p:cNvPr id="20" name="Text 18"/>
          <p:cNvSpPr txBox="1"/>
          <p:nvPr/>
        </p:nvSpPr>
        <p:spPr>
          <a:xfrm>
            <a:off x="1114806" y="4391025"/>
            <a:ext cx="4535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locked, first ransom demanded to decrypt</a:t>
            </a:r>
            <a:endParaRPr lang="en-US" sz="1496" dirty="0"/>
          </a:p>
        </p:txBody>
      </p:sp>
      <p:sp>
        <p:nvSpPr>
          <p:cNvPr id="21" name="Shape 19"/>
          <p:cNvSpPr/>
          <p:nvPr/>
        </p:nvSpPr>
        <p:spPr>
          <a:xfrm>
            <a:off x="506730" y="48990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D726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9747" y="5038725"/>
            <a:ext cx="240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96" dirty="0"/>
          </a:p>
        </p:txBody>
      </p:sp>
      <p:sp>
        <p:nvSpPr>
          <p:cNvPr id="23" name="Text 21"/>
          <p:cNvSpPr txBox="1"/>
          <p:nvPr/>
        </p:nvSpPr>
        <p:spPr>
          <a:xfrm>
            <a:off x="1114806" y="5000625"/>
            <a:ext cx="47632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 Threat</a:t>
            </a:r>
            <a:endParaRPr lang="en-US" sz="1795" dirty="0"/>
          </a:p>
        </p:txBody>
      </p:sp>
      <p:sp>
        <p:nvSpPr>
          <p:cNvPr id="24" name="Text 22"/>
          <p:cNvSpPr txBox="1"/>
          <p:nvPr/>
        </p:nvSpPr>
        <p:spPr>
          <a:xfrm>
            <a:off x="1114806" y="5254625"/>
            <a:ext cx="47632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a second ransom or stolen data is publicly leaked</a:t>
            </a:r>
            <a:endParaRPr lang="en-US" sz="1496" dirty="0"/>
          </a:p>
        </p:txBody>
      </p:sp>
      <p:sp>
        <p:nvSpPr>
          <p:cNvPr id="25" name="Shape 23"/>
          <p:cNvSpPr/>
          <p:nvPr/>
        </p:nvSpPr>
        <p:spPr>
          <a:xfrm>
            <a:off x="7276623" y="1416050"/>
            <a:ext cx="4378167" cy="4959350"/>
          </a:xfrm>
          <a:prstGeom prst="roundRect">
            <a:avLst>
              <a:gd name="adj" fmla="val 321"/>
            </a:avLst>
          </a:prstGeom>
          <a:solidFill>
            <a:srgbClr val="D726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29988" y="1670050"/>
            <a:ext cx="387143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ransoms, not one</a:t>
            </a:r>
            <a:endParaRPr lang="en-US" sz="2394" dirty="0"/>
          </a:p>
        </p:txBody>
      </p:sp>
      <p:sp>
        <p:nvSpPr>
          <p:cNvPr id="27" name="Text 25"/>
          <p:cNvSpPr txBox="1"/>
          <p:nvPr/>
        </p:nvSpPr>
        <p:spPr>
          <a:xfrm>
            <a:off x="7529988" y="2203450"/>
            <a:ext cx="38714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with backups, the attacker still holds your customer data — and uses public exposure as leverage. Paying once no longer ends the incident.</a:t>
            </a:r>
            <a:endParaRPr lang="en-US" sz="1496" dirty="0"/>
          </a:p>
        </p:txBody>
      </p:sp>
      <p:sp>
        <p:nvSpPr>
          <p:cNvPr id="28" name="Text 26"/>
          <p:cNvSpPr txBox="1"/>
          <p:nvPr/>
        </p:nvSpPr>
        <p:spPr>
          <a:xfrm>
            <a:off x="7529988" y="3270250"/>
            <a:ext cx="38714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examples include Medibank (2022) and Optus — attackers published data after payment negotiations stalled.</a:t>
            </a:r>
            <a:endParaRPr lang="en-US" sz="1496" dirty="0"/>
          </a:p>
        </p:txBody>
      </p:sp>
      <p:sp>
        <p:nvSpPr>
          <p:cNvPr id="29" name="Shape 27"/>
          <p:cNvSpPr/>
          <p:nvPr/>
        </p:nvSpPr>
        <p:spPr>
          <a:xfrm>
            <a:off x="7529988" y="4889500"/>
            <a:ext cx="3871437" cy="1231900"/>
          </a:xfrm>
          <a:prstGeom prst="roundRect">
            <a:avLst>
              <a:gd name="adj" fmla="val 1457"/>
            </a:avLst>
          </a:prstGeom>
          <a:noFill/>
          <a:ln w="6334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8341" y="5048250"/>
            <a:ext cx="35547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AU$2.59M</a:t>
            </a:r>
            <a:endParaRPr lang="en-US" sz="3591" dirty="0"/>
          </a:p>
        </p:txBody>
      </p:sp>
      <p:sp>
        <p:nvSpPr>
          <p:cNvPr id="31" name="Text 29"/>
          <p:cNvSpPr txBox="1"/>
          <p:nvPr/>
        </p:nvSpPr>
        <p:spPr>
          <a:xfrm>
            <a:off x="7688341" y="5556250"/>
            <a:ext cx="355473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ransomware recovery cost for an Australian mid-sized business</a:t>
            </a:r>
            <a:endParaRPr lang="en-US" sz="1197" dirty="0"/>
          </a:p>
        </p:txBody>
      </p:sp>
      <p:sp>
        <p:nvSpPr>
          <p:cNvPr id="32" name="Text 30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33" name="Text 31"/>
          <p:cNvSpPr txBox="1"/>
          <p:nvPr/>
        </p:nvSpPr>
        <p:spPr>
          <a:xfrm>
            <a:off x="11572446" y="6604000"/>
            <a:ext cx="8234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9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54000"/>
            <a:ext cx="1108472" cy="228600"/>
          </a:xfrm>
          <a:prstGeom prst="roundRect">
            <a:avLst>
              <a:gd name="adj" fmla="val 22854857"/>
            </a:avLst>
          </a:prstGeom>
          <a:solidFill>
            <a:srgbClr val="D726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79400"/>
            <a:ext cx="80443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02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5334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&amp; Session Hijacking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035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credential is no longer the only thing attackers want — they want your live session.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416050"/>
            <a:ext cx="5472684" cy="4959350"/>
          </a:xfrm>
          <a:prstGeom prst="roundRect">
            <a:avLst>
              <a:gd name="adj" fmla="val 256"/>
            </a:avLst>
          </a:prstGeom>
          <a:solidFill>
            <a:srgbClr val="0B25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" y="1670050"/>
            <a:ext cx="329375" cy="330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0095" y="2152650"/>
            <a:ext cx="49659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2.0</a:t>
            </a:r>
            <a:endParaRPr lang="en-US" sz="2394" dirty="0"/>
          </a:p>
        </p:txBody>
      </p:sp>
      <p:sp>
        <p:nvSpPr>
          <p:cNvPr id="9" name="Text 6"/>
          <p:cNvSpPr txBox="1"/>
          <p:nvPr/>
        </p:nvSpPr>
        <p:spPr>
          <a:xfrm>
            <a:off x="760095" y="2660650"/>
            <a:ext cx="4965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emails that mimic tone, branding, and context with frightening accuracy.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760095" y="3270250"/>
            <a:ext cx="4965954" cy="622300"/>
          </a:xfrm>
          <a:prstGeom prst="roundRect">
            <a:avLst>
              <a:gd name="adj" fmla="val 750"/>
            </a:avLst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7775" y="33528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or fear language designed to bypass critical thinking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760095" y="3994150"/>
            <a:ext cx="4965954" cy="622300"/>
          </a:xfrm>
          <a:prstGeom prst="roundRect">
            <a:avLst>
              <a:gd name="adj" fmla="val 750"/>
            </a:avLst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7775" y="40767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attachments or fake login pages with near-identical URLs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760095" y="4718050"/>
            <a:ext cx="4965954" cy="622300"/>
          </a:xfrm>
          <a:prstGeom prst="roundRect">
            <a:avLst>
              <a:gd name="adj" fmla="val 750"/>
            </a:avLst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7775" y="48006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Mismatched sender domains hidden behind display names</a:t>
            </a:r>
            <a:endParaRPr lang="en-US" sz="1496" dirty="0"/>
          </a:p>
        </p:txBody>
      </p:sp>
      <p:sp>
        <p:nvSpPr>
          <p:cNvPr id="16" name="Shape 13"/>
          <p:cNvSpPr/>
          <p:nvPr/>
        </p:nvSpPr>
        <p:spPr>
          <a:xfrm>
            <a:off x="6182106" y="1416050"/>
            <a:ext cx="5472684" cy="4959350"/>
          </a:xfrm>
          <a:prstGeom prst="roundRect">
            <a:avLst>
              <a:gd name="adj" fmla="val 256"/>
            </a:avLst>
          </a:prstGeom>
          <a:solidFill>
            <a:srgbClr val="F1F4F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5471" y="1670050"/>
            <a:ext cx="329375" cy="330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35471" y="2152650"/>
            <a:ext cx="49659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Hijacking</a:t>
            </a:r>
            <a:endParaRPr lang="en-US" sz="2394" dirty="0"/>
          </a:p>
        </p:txBody>
      </p:sp>
      <p:sp>
        <p:nvSpPr>
          <p:cNvPr id="19" name="Text 15"/>
          <p:cNvSpPr txBox="1"/>
          <p:nvPr/>
        </p:nvSpPr>
        <p:spPr>
          <a:xfrm>
            <a:off x="6435471" y="2660650"/>
            <a:ext cx="4965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steal active session tokens — bypassing both passwords AND MFA.</a:t>
            </a:r>
            <a:endParaRPr lang="en-US" sz="1496" dirty="0"/>
          </a:p>
        </p:txBody>
      </p:sp>
      <p:sp>
        <p:nvSpPr>
          <p:cNvPr id="20" name="Shape 16"/>
          <p:cNvSpPr/>
          <p:nvPr/>
        </p:nvSpPr>
        <p:spPr>
          <a:xfrm>
            <a:off x="6435471" y="3270250"/>
            <a:ext cx="1406176" cy="393700"/>
          </a:xfrm>
          <a:prstGeom prst="roundRect">
            <a:avLst>
              <a:gd name="adj" fmla="val 8370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43151" y="3352800"/>
            <a:ext cx="11908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browser</a:t>
            </a:r>
            <a:endParaRPr lang="en-US" sz="1496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17656" y="3365500"/>
            <a:ext cx="202692" cy="203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196358" y="3270250"/>
            <a:ext cx="1349169" cy="393700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6334">
            <a:solidFill>
              <a:srgbClr val="D726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04038" y="3352800"/>
            <a:ext cx="11338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D72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stolen</a:t>
            </a:r>
            <a:endParaRPr lang="en-US" sz="1496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21536" y="3365500"/>
            <a:ext cx="202692" cy="203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35471" y="3740150"/>
            <a:ext cx="2216944" cy="381000"/>
          </a:xfrm>
          <a:prstGeom prst="roundRect">
            <a:avLst>
              <a:gd name="adj" fmla="val 5486"/>
            </a:avLst>
          </a:prstGeom>
          <a:solidFill>
            <a:srgbClr val="D7263D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536817" y="3816350"/>
            <a:ext cx="20142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logs in as you</a:t>
            </a:r>
            <a:endParaRPr lang="en-US" sz="1496" dirty="0"/>
          </a:p>
        </p:txBody>
      </p:sp>
      <p:sp>
        <p:nvSpPr>
          <p:cNvPr id="28" name="Shape 22"/>
          <p:cNvSpPr/>
          <p:nvPr/>
        </p:nvSpPr>
        <p:spPr>
          <a:xfrm>
            <a:off x="6435471" y="4273550"/>
            <a:ext cx="4965954" cy="3937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543151" y="4356100"/>
            <a:ext cx="47505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sign-in alerts from unknown locations</a:t>
            </a:r>
            <a:endParaRPr lang="en-US" sz="1496" dirty="0"/>
          </a:p>
        </p:txBody>
      </p:sp>
      <p:sp>
        <p:nvSpPr>
          <p:cNvPr id="30" name="Shape 24"/>
          <p:cNvSpPr/>
          <p:nvPr/>
        </p:nvSpPr>
        <p:spPr>
          <a:xfrm>
            <a:off x="6435471" y="4768850"/>
            <a:ext cx="4965954" cy="6223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43151" y="48514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extensions you did not install appearing suddenly</a:t>
            </a:r>
            <a:endParaRPr lang="en-US" sz="1496" dirty="0"/>
          </a:p>
        </p:txBody>
      </p:sp>
      <p:sp>
        <p:nvSpPr>
          <p:cNvPr id="32" name="Shape 26"/>
          <p:cNvSpPr/>
          <p:nvPr/>
        </p:nvSpPr>
        <p:spPr>
          <a:xfrm>
            <a:off x="6435471" y="5492750"/>
            <a:ext cx="4965954" cy="3937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543151" y="5575300"/>
            <a:ext cx="47505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sessions from unfamiliar devices or countries</a:t>
            </a:r>
            <a:endParaRPr lang="en-US" sz="1496" dirty="0"/>
          </a:p>
        </p:txBody>
      </p:sp>
      <p:sp>
        <p:nvSpPr>
          <p:cNvPr id="34" name="Text 2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35" name="Text 29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9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54000"/>
            <a:ext cx="1108472" cy="228600"/>
          </a:xfrm>
          <a:prstGeom prst="roundRect">
            <a:avLst>
              <a:gd name="adj" fmla="val 22854857"/>
            </a:avLst>
          </a:prstGeom>
          <a:solidFill>
            <a:srgbClr val="D726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79400"/>
            <a:ext cx="80443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03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558800"/>
            <a:ext cx="574287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Third-party cloud vulnerabilities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587500"/>
            <a:ext cx="5742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only as secure as the weakest vendor connected to your data.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2197100"/>
            <a:ext cx="5742874" cy="4318000"/>
          </a:xfrm>
          <a:prstGeom prst="roundRect">
            <a:avLst>
              <a:gd name="adj" fmla="val 280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749" y="2349500"/>
            <a:ext cx="54388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Notable Australian breaches via third-party vectors</a:t>
            </a:r>
            <a:endParaRPr lang="en-US" sz="149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749" y="2654300"/>
            <a:ext cx="5434679" cy="3708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56334" y="0"/>
            <a:ext cx="5405087" cy="6616700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2199" b="-12199"/>
          <a:stretch/>
        </p:blipFill>
        <p:spPr>
          <a:xfrm>
            <a:off x="7009699" y="254000"/>
            <a:ext cx="4898357" cy="61087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6521450"/>
            <a:ext cx="12161520" cy="336550"/>
          </a:xfrm>
          <a:prstGeom prst="rect">
            <a:avLst/>
          </a:prstGeom>
          <a:solidFill>
            <a:srgbClr val="FFFFFF"/>
          </a:solidFill>
          <a:ln w="6334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13" name="Text 9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540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INTERNAL SURVEY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4318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our own team told us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908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baseline assessment of awareness, habits, and confidence across the organisation.</a:t>
            </a:r>
            <a:endParaRPr lang="en-US" sz="1496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5273" y="2790825"/>
            <a:ext cx="354711" cy="355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15598" y="3248025"/>
            <a:ext cx="494062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6384" dirty="0"/>
          </a:p>
        </p:txBody>
      </p:sp>
      <p:sp>
        <p:nvSpPr>
          <p:cNvPr id="7" name="Text 4"/>
          <p:cNvSpPr txBox="1"/>
          <p:nvPr/>
        </p:nvSpPr>
        <p:spPr>
          <a:xfrm>
            <a:off x="1450515" y="4137025"/>
            <a:ext cx="18242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surveyed</a:t>
            </a:r>
            <a:endParaRPr lang="en-US" sz="1496" dirty="0"/>
          </a:p>
        </p:txBody>
      </p:sp>
      <p:sp>
        <p:nvSpPr>
          <p:cNvPr id="8" name="Shape 5"/>
          <p:cNvSpPr/>
          <p:nvPr/>
        </p:nvSpPr>
        <p:spPr>
          <a:xfrm>
            <a:off x="4218527" y="1543050"/>
            <a:ext cx="6334" cy="4070350"/>
          </a:xfrm>
          <a:prstGeom prst="rect">
            <a:avLst/>
          </a:prstGeom>
          <a:solidFill>
            <a:srgbClr val="D0D6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03405" y="2790825"/>
            <a:ext cx="354711" cy="355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5875" y="3248025"/>
            <a:ext cx="82977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6384" dirty="0"/>
          </a:p>
        </p:txBody>
      </p:sp>
      <p:sp>
        <p:nvSpPr>
          <p:cNvPr id="11" name="Text 7"/>
          <p:cNvSpPr txBox="1"/>
          <p:nvPr/>
        </p:nvSpPr>
        <p:spPr>
          <a:xfrm>
            <a:off x="5339667" y="4137025"/>
            <a:ext cx="14821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asked</a:t>
            </a:r>
            <a:endParaRPr lang="en-US" sz="1496" dirty="0"/>
          </a:p>
        </p:txBody>
      </p:sp>
      <p:sp>
        <p:nvSpPr>
          <p:cNvPr id="12" name="Shape 8"/>
          <p:cNvSpPr/>
          <p:nvPr/>
        </p:nvSpPr>
        <p:spPr>
          <a:xfrm>
            <a:off x="7936659" y="1543050"/>
            <a:ext cx="6334" cy="4070350"/>
          </a:xfrm>
          <a:prstGeom prst="rect">
            <a:avLst/>
          </a:prstGeom>
          <a:solidFill>
            <a:srgbClr val="D0D6E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21536" y="2790825"/>
            <a:ext cx="354711" cy="355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55028" y="3248025"/>
            <a:ext cx="487728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6384" dirty="0"/>
          </a:p>
        </p:txBody>
      </p:sp>
      <p:sp>
        <p:nvSpPr>
          <p:cNvPr id="15" name="Text 10"/>
          <p:cNvSpPr txBox="1"/>
          <p:nvPr/>
        </p:nvSpPr>
        <p:spPr>
          <a:xfrm>
            <a:off x="8794933" y="4137025"/>
            <a:ext cx="2007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risk areas covered</a:t>
            </a:r>
            <a:endParaRPr lang="en-US" sz="1496" dirty="0"/>
          </a:p>
        </p:txBody>
      </p:sp>
      <p:sp>
        <p:nvSpPr>
          <p:cNvPr id="16" name="Shape 11"/>
          <p:cNvSpPr/>
          <p:nvPr/>
        </p:nvSpPr>
        <p:spPr>
          <a:xfrm>
            <a:off x="1422011" y="5969000"/>
            <a:ext cx="2090261" cy="355600"/>
          </a:xfrm>
          <a:prstGeom prst="roundRect">
            <a:avLst>
              <a:gd name="adj" fmla="val 7791429"/>
            </a:avLst>
          </a:prstGeom>
          <a:solidFill>
            <a:srgbClr val="F1F4F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624703" y="6045200"/>
            <a:ext cx="168487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management</a:t>
            </a:r>
            <a:endParaRPr lang="en-US" sz="1197" dirty="0"/>
          </a:p>
        </p:txBody>
      </p:sp>
      <p:sp>
        <p:nvSpPr>
          <p:cNvPr id="18" name="Shape 13"/>
          <p:cNvSpPr/>
          <p:nvPr/>
        </p:nvSpPr>
        <p:spPr>
          <a:xfrm>
            <a:off x="3664291" y="5969000"/>
            <a:ext cx="1741884" cy="355600"/>
          </a:xfrm>
          <a:prstGeom prst="roundRect">
            <a:avLst>
              <a:gd name="adj" fmla="val 9349714"/>
            </a:avLst>
          </a:prstGeom>
          <a:solidFill>
            <a:srgbClr val="F1F4F8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866983" y="6045200"/>
            <a:ext cx="1336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detection</a:t>
            </a:r>
            <a:endParaRPr lang="en-US" sz="1197" dirty="0"/>
          </a:p>
        </p:txBody>
      </p:sp>
      <p:sp>
        <p:nvSpPr>
          <p:cNvPr id="20" name="Shape 15"/>
          <p:cNvSpPr/>
          <p:nvPr/>
        </p:nvSpPr>
        <p:spPr>
          <a:xfrm>
            <a:off x="5558195" y="5969000"/>
            <a:ext cx="1684877" cy="355600"/>
          </a:xfrm>
          <a:prstGeom prst="roundRect">
            <a:avLst>
              <a:gd name="adj" fmla="val 9666058"/>
            </a:avLst>
          </a:prstGeom>
          <a:solidFill>
            <a:srgbClr val="F1F4F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0887" y="6045200"/>
            <a:ext cx="12794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reporting</a:t>
            </a:r>
            <a:endParaRPr lang="en-US" sz="1197" dirty="0"/>
          </a:p>
        </p:txBody>
      </p:sp>
      <p:sp>
        <p:nvSpPr>
          <p:cNvPr id="22" name="Shape 17"/>
          <p:cNvSpPr/>
          <p:nvPr/>
        </p:nvSpPr>
        <p:spPr>
          <a:xfrm>
            <a:off x="7395091" y="5969000"/>
            <a:ext cx="1672209" cy="355600"/>
          </a:xfrm>
          <a:prstGeom prst="roundRect">
            <a:avLst>
              <a:gd name="adj" fmla="val 9739286"/>
            </a:avLst>
          </a:prstGeom>
          <a:solidFill>
            <a:srgbClr val="F1F4F8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597783" y="6045200"/>
            <a:ext cx="126682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knowledge</a:t>
            </a:r>
            <a:endParaRPr lang="en-US" sz="1197" dirty="0"/>
          </a:p>
        </p:txBody>
      </p:sp>
      <p:sp>
        <p:nvSpPr>
          <p:cNvPr id="24" name="Shape 19"/>
          <p:cNvSpPr/>
          <p:nvPr/>
        </p:nvSpPr>
        <p:spPr>
          <a:xfrm>
            <a:off x="9219319" y="5969000"/>
            <a:ext cx="1520190" cy="355600"/>
          </a:xfrm>
          <a:prstGeom prst="roundRect">
            <a:avLst>
              <a:gd name="adj" fmla="val 10713214"/>
            </a:avLst>
          </a:prstGeom>
          <a:solidFill>
            <a:srgbClr val="F1F4F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422011" y="6045200"/>
            <a:ext cx="1114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&amp; tools</a:t>
            </a:r>
            <a:endParaRPr lang="en-US" sz="1197" dirty="0"/>
          </a:p>
        </p:txBody>
      </p:sp>
      <p:sp>
        <p:nvSpPr>
          <p:cNvPr id="26" name="Text 21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7" name="Text 22"/>
          <p:cNvSpPr txBox="1"/>
          <p:nvPr/>
        </p:nvSpPr>
        <p:spPr>
          <a:xfrm>
            <a:off x="11585115" y="6604000"/>
            <a:ext cx="69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9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114806" cy="228600"/>
          </a:xfrm>
          <a:prstGeom prst="roundRect">
            <a:avLst>
              <a:gd name="adj" fmla="val 22725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81076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01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Password management is in crisis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team only changes passwords when the system forces them to.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289050"/>
            <a:ext cx="6052553" cy="5137150"/>
          </a:xfrm>
          <a:prstGeom prst="roundRect">
            <a:avLst>
              <a:gd name="adj" fmla="val 224"/>
            </a:avLst>
          </a:prstGeom>
          <a:solidFill>
            <a:srgbClr val="F1F4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1105" y="2651125"/>
            <a:ext cx="5643705" cy="2413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12648" y="1339850"/>
            <a:ext cx="484214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in 6 wait for a system prompt before changing a password.</a:t>
            </a:r>
            <a:endParaRPr lang="en-US" sz="2394" dirty="0"/>
          </a:p>
        </p:txBody>
      </p:sp>
      <p:sp>
        <p:nvSpPr>
          <p:cNvPr id="9" name="Text 6"/>
          <p:cNvSpPr txBox="1"/>
          <p:nvPr/>
        </p:nvSpPr>
        <p:spPr>
          <a:xfrm>
            <a:off x="6812648" y="2254250"/>
            <a:ext cx="24069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795" dirty="0"/>
          </a:p>
        </p:txBody>
      </p:sp>
      <p:sp>
        <p:nvSpPr>
          <p:cNvPr id="10" name="Text 7"/>
          <p:cNvSpPr txBox="1"/>
          <p:nvPr/>
        </p:nvSpPr>
        <p:spPr>
          <a:xfrm>
            <a:off x="7180028" y="2254250"/>
            <a:ext cx="44747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Reused passwords across personal and work accounts reported by multiple respondents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6812648" y="28384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795" dirty="0"/>
          </a:p>
        </p:txBody>
      </p:sp>
      <p:sp>
        <p:nvSpPr>
          <p:cNvPr id="12" name="Text 9"/>
          <p:cNvSpPr txBox="1"/>
          <p:nvPr/>
        </p:nvSpPr>
        <p:spPr>
          <a:xfrm>
            <a:off x="7224366" y="2838450"/>
            <a:ext cx="44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Browser-saved passwords still common despite policy</a:t>
            </a:r>
            <a:endParaRPr lang="en-US" sz="1496" dirty="0"/>
          </a:p>
        </p:txBody>
      </p:sp>
      <p:sp>
        <p:nvSpPr>
          <p:cNvPr id="13" name="Text 10"/>
          <p:cNvSpPr txBox="1"/>
          <p:nvPr/>
        </p:nvSpPr>
        <p:spPr>
          <a:xfrm>
            <a:off x="6812648" y="34226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795" dirty="0"/>
          </a:p>
        </p:txBody>
      </p:sp>
      <p:sp>
        <p:nvSpPr>
          <p:cNvPr id="14" name="Text 11"/>
          <p:cNvSpPr txBox="1"/>
          <p:nvPr/>
        </p:nvSpPr>
        <p:spPr>
          <a:xfrm>
            <a:off x="7224366" y="3422650"/>
            <a:ext cx="44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manager adoption inconsistent across the team</a:t>
            </a:r>
            <a:endParaRPr lang="en-US" sz="1496" dirty="0"/>
          </a:p>
        </p:txBody>
      </p:sp>
      <p:sp>
        <p:nvSpPr>
          <p:cNvPr id="15" name="Shape 12"/>
          <p:cNvSpPr/>
          <p:nvPr/>
        </p:nvSpPr>
        <p:spPr>
          <a:xfrm>
            <a:off x="6812648" y="5613400"/>
            <a:ext cx="4842142" cy="762000"/>
          </a:xfrm>
          <a:prstGeom prst="roundRect">
            <a:avLst>
              <a:gd name="adj" fmla="val 1884"/>
            </a:avLst>
          </a:prstGeom>
          <a:solidFill>
            <a:srgbClr val="0B25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15340" y="5765800"/>
            <a:ext cx="4436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credential breach could cascade across our systems.</a:t>
            </a:r>
            <a:endParaRPr lang="en-US" sz="1496" dirty="0"/>
          </a:p>
        </p:txBody>
      </p:sp>
      <p:sp>
        <p:nvSpPr>
          <p:cNvPr id="17" name="Text 14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18" name="Text 15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9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140143" cy="228600"/>
          </a:xfrm>
          <a:prstGeom prst="roundRect">
            <a:avLst>
              <a:gd name="adj" fmla="val 222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83610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02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phishing detection confidence gap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two of our six staff feel confident identifying a phishing attempt.</a:t>
            </a:r>
            <a:endParaRPr lang="en-US" sz="1496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5447" y="2117725"/>
            <a:ext cx="633413" cy="635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21932" y="2828925"/>
            <a:ext cx="880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49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79256" y="2117725"/>
            <a:ext cx="633413" cy="635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55740" y="2828925"/>
            <a:ext cx="880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496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4085" y="2117725"/>
            <a:ext cx="633413" cy="635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89549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59937" y="2117725"/>
            <a:ext cx="633413" cy="635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65400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35788" y="2117725"/>
            <a:ext cx="633413" cy="6350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341251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11639" y="2117725"/>
            <a:ext cx="633413" cy="6350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817102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sp>
        <p:nvSpPr>
          <p:cNvPr id="18" name="Text 10"/>
          <p:cNvSpPr txBox="1"/>
          <p:nvPr/>
        </p:nvSpPr>
        <p:spPr>
          <a:xfrm>
            <a:off x="5231987" y="3209925"/>
            <a:ext cx="1697546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/ 6</a:t>
            </a:r>
            <a:endParaRPr lang="en-US" sz="6384" dirty="0"/>
          </a:p>
        </p:txBody>
      </p:sp>
      <p:sp>
        <p:nvSpPr>
          <p:cNvPr id="19" name="Text 11"/>
          <p:cNvSpPr txBox="1"/>
          <p:nvPr/>
        </p:nvSpPr>
        <p:spPr>
          <a:xfrm>
            <a:off x="4528899" y="4098925"/>
            <a:ext cx="31037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confident identifying phishing</a:t>
            </a:r>
            <a:endParaRPr lang="en-US" sz="1496" dirty="0"/>
          </a:p>
        </p:txBody>
      </p:sp>
      <p:sp>
        <p:nvSpPr>
          <p:cNvPr id="20" name="Shape 12"/>
          <p:cNvSpPr/>
          <p:nvPr/>
        </p:nvSpPr>
        <p:spPr>
          <a:xfrm>
            <a:off x="506730" y="5105400"/>
            <a:ext cx="5472684" cy="1270000"/>
          </a:xfrm>
          <a:prstGeom prst="roundRect">
            <a:avLst>
              <a:gd name="adj" fmla="val 1000"/>
            </a:avLst>
          </a:prstGeom>
          <a:solidFill>
            <a:srgbClr val="F1F4F8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760095" y="5257800"/>
            <a:ext cx="496595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</a:t>
            </a:r>
            <a:endParaRPr lang="en-US" sz="1197" dirty="0"/>
          </a:p>
        </p:txBody>
      </p:sp>
      <p:sp>
        <p:nvSpPr>
          <p:cNvPr id="22" name="Text 14"/>
          <p:cNvSpPr txBox="1"/>
          <p:nvPr/>
        </p:nvSpPr>
        <p:spPr>
          <a:xfrm>
            <a:off x="760095" y="5537200"/>
            <a:ext cx="4965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colleagues are guessing — and AI-crafted phishing now bypasses the visual cues they were taught to look for.</a:t>
            </a:r>
            <a:endParaRPr lang="en-US" sz="1496" dirty="0"/>
          </a:p>
        </p:txBody>
      </p:sp>
      <p:sp>
        <p:nvSpPr>
          <p:cNvPr id="23" name="Shape 15"/>
          <p:cNvSpPr/>
          <p:nvPr/>
        </p:nvSpPr>
        <p:spPr>
          <a:xfrm>
            <a:off x="6182106" y="5105400"/>
            <a:ext cx="5472684" cy="1270000"/>
          </a:xfrm>
          <a:prstGeom prst="roundRect">
            <a:avLst>
              <a:gd name="adj" fmla="val 1000"/>
            </a:avLst>
          </a:prstGeom>
          <a:solidFill>
            <a:srgbClr val="F1F4F8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6435471" y="5257800"/>
            <a:ext cx="496595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97" dirty="0"/>
          </a:p>
        </p:txBody>
      </p:sp>
      <p:sp>
        <p:nvSpPr>
          <p:cNvPr id="25" name="Text 17"/>
          <p:cNvSpPr txBox="1"/>
          <p:nvPr/>
        </p:nvSpPr>
        <p:spPr>
          <a:xfrm>
            <a:off x="6435471" y="5537200"/>
            <a:ext cx="4965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remains the #1 initial access vector for ransomware. One wrong click is enough to compromise the entire network.</a:t>
            </a:r>
            <a:endParaRPr lang="en-US" sz="1496" dirty="0"/>
          </a:p>
        </p:txBody>
      </p:sp>
      <p:sp>
        <p:nvSpPr>
          <p:cNvPr id="26" name="Text 1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7" name="Text 19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9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140143" cy="228600"/>
          </a:xfrm>
          <a:prstGeom prst="roundRect">
            <a:avLst>
              <a:gd name="adj" fmla="val 222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83610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03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 reporting routes are unclear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team would tell their manager first — losing critical response time.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390650"/>
            <a:ext cx="5447348" cy="4375150"/>
          </a:xfrm>
          <a:prstGeom prst="roundRect">
            <a:avLst>
              <a:gd name="adj" fmla="val 292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9422" y="1593850"/>
            <a:ext cx="50419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would you report an incident?</a:t>
            </a:r>
            <a:endParaRPr lang="en-US" sz="149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9422" y="1924050"/>
            <a:ext cx="5041964" cy="36385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59462" y="1724025"/>
            <a:ext cx="529532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correct path</a:t>
            </a:r>
            <a:endParaRPr lang="en-US" sz="1795" dirty="0"/>
          </a:p>
        </p:txBody>
      </p:sp>
      <p:sp>
        <p:nvSpPr>
          <p:cNvPr id="10" name="Shape 7"/>
          <p:cNvSpPr/>
          <p:nvPr/>
        </p:nvSpPr>
        <p:spPr>
          <a:xfrm>
            <a:off x="6359462" y="21812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13B5B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35471" y="2244725"/>
            <a:ext cx="2026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96" dirty="0"/>
          </a:p>
        </p:txBody>
      </p:sp>
      <p:sp>
        <p:nvSpPr>
          <p:cNvPr id="12" name="Text 9"/>
          <p:cNvSpPr txBox="1"/>
          <p:nvPr/>
        </p:nvSpPr>
        <p:spPr>
          <a:xfrm>
            <a:off x="6840855" y="21812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or suspect an incident — stop and do not touch anything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6536817" y="2790825"/>
            <a:ext cx="25337" cy="203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9462" y="30956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13B5B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19636" y="31591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96" dirty="0"/>
          </a:p>
        </p:txBody>
      </p:sp>
      <p:sp>
        <p:nvSpPr>
          <p:cNvPr id="16" name="Text 13"/>
          <p:cNvSpPr txBox="1"/>
          <p:nvPr/>
        </p:nvSpPr>
        <p:spPr>
          <a:xfrm>
            <a:off x="6840855" y="30956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IT Security team immediately — any hour, any day</a:t>
            </a:r>
            <a:endParaRPr lang="en-US" sz="1496" dirty="0"/>
          </a:p>
        </p:txBody>
      </p:sp>
      <p:sp>
        <p:nvSpPr>
          <p:cNvPr id="17" name="Shape 14"/>
          <p:cNvSpPr/>
          <p:nvPr/>
        </p:nvSpPr>
        <p:spPr>
          <a:xfrm>
            <a:off x="6536817" y="3705225"/>
            <a:ext cx="25337" cy="203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9462" y="40100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13B5B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19636" y="40735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96" dirty="0"/>
          </a:p>
        </p:txBody>
      </p:sp>
      <p:sp>
        <p:nvSpPr>
          <p:cNvPr id="20" name="Text 17"/>
          <p:cNvSpPr txBox="1"/>
          <p:nvPr/>
        </p:nvSpPr>
        <p:spPr>
          <a:xfrm>
            <a:off x="6840855" y="40100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contains, investigates, and remote-wipes if necessary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6536817" y="4619625"/>
            <a:ext cx="25337" cy="203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2" name="Shape 19"/>
          <p:cNvSpPr/>
          <p:nvPr/>
        </p:nvSpPr>
        <p:spPr>
          <a:xfrm>
            <a:off x="6359462" y="49244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16469" y="4987925"/>
            <a:ext cx="240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96" dirty="0"/>
          </a:p>
        </p:txBody>
      </p:sp>
      <p:sp>
        <p:nvSpPr>
          <p:cNvPr id="24" name="Text 21"/>
          <p:cNvSpPr txBox="1"/>
          <p:nvPr/>
        </p:nvSpPr>
        <p:spPr>
          <a:xfrm>
            <a:off x="6840855" y="49244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OAIC notified if customer data is at risk under the NDB scheme</a:t>
            </a:r>
            <a:endParaRPr lang="en-US" sz="1496" dirty="0"/>
          </a:p>
        </p:txBody>
      </p:sp>
      <p:sp>
        <p:nvSpPr>
          <p:cNvPr id="25" name="Shape 22"/>
          <p:cNvSpPr/>
          <p:nvPr/>
        </p:nvSpPr>
        <p:spPr>
          <a:xfrm>
            <a:off x="506730" y="5918200"/>
            <a:ext cx="11148060" cy="508000"/>
          </a:xfrm>
          <a:prstGeom prst="roundRect">
            <a:avLst>
              <a:gd name="adj" fmla="val 1227"/>
            </a:avLst>
          </a:prstGeom>
          <a:solidFill>
            <a:srgbClr val="0B2545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0095" y="6045200"/>
            <a:ext cx="253365" cy="2540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165479" y="6057900"/>
            <a:ext cx="85320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minute of delay can trigger Notifiable Data Breach obligations under the Privacy Act 1988.</a:t>
            </a:r>
            <a:endParaRPr lang="en-US" sz="1496" dirty="0"/>
          </a:p>
        </p:txBody>
      </p:sp>
      <p:sp>
        <p:nvSpPr>
          <p:cNvPr id="28" name="Text 24"/>
          <p:cNvSpPr txBox="1"/>
          <p:nvPr/>
        </p:nvSpPr>
        <p:spPr>
          <a:xfrm>
            <a:off x="506730" y="66294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9" name="Text 25"/>
          <p:cNvSpPr txBox="1"/>
          <p:nvPr/>
        </p:nvSpPr>
        <p:spPr>
          <a:xfrm>
            <a:off x="11521773" y="6629400"/>
            <a:ext cx="1330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9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621536" cy="228600"/>
          </a:xfrm>
          <a:prstGeom prst="roundRect">
            <a:avLst>
              <a:gd name="adj" fmla="val 15623438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13174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04 &amp; 05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gaps and a clear ask for better support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staff haven't read the policy recently — and they're telling us what would help.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390650"/>
            <a:ext cx="5447348" cy="4984750"/>
          </a:xfrm>
          <a:prstGeom prst="roundRect">
            <a:avLst>
              <a:gd name="adj" fmla="val 256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0095" y="1644650"/>
            <a:ext cx="49406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 04 · Policy knowledge</a:t>
            </a:r>
            <a:endParaRPr lang="en-US" sz="17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" y="2051050"/>
            <a:ext cx="4940618" cy="33464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0095" y="5549900"/>
            <a:ext cx="49406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2 of 6 have read the policy recently · 1 has never read it</a:t>
            </a:r>
            <a:endParaRPr lang="en-US" sz="1795" dirty="0"/>
          </a:p>
        </p:txBody>
      </p:sp>
      <p:sp>
        <p:nvSpPr>
          <p:cNvPr id="10" name="Shape 7"/>
          <p:cNvSpPr/>
          <p:nvPr/>
        </p:nvSpPr>
        <p:spPr>
          <a:xfrm>
            <a:off x="6207443" y="1390650"/>
            <a:ext cx="5447348" cy="4984750"/>
          </a:xfrm>
          <a:prstGeom prst="roundRect">
            <a:avLst>
              <a:gd name="adj" fmla="val 256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60808" y="1644650"/>
            <a:ext cx="49406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 05 · What staff want</a:t>
            </a:r>
            <a:endParaRPr lang="en-US" sz="1795" dirty="0"/>
          </a:p>
        </p:txBody>
      </p:sp>
      <p:sp>
        <p:nvSpPr>
          <p:cNvPr id="12" name="Text 9"/>
          <p:cNvSpPr txBox="1"/>
          <p:nvPr/>
        </p:nvSpPr>
        <p:spPr>
          <a:xfrm>
            <a:off x="6460808" y="2101850"/>
            <a:ext cx="4940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"Give us practical, scenario-based training — not slides."</a:t>
            </a:r>
            <a:endParaRPr lang="en-US" sz="1496" dirty="0"/>
          </a:p>
        </p:txBody>
      </p:sp>
      <p:sp>
        <p:nvSpPr>
          <p:cNvPr id="13" name="Text 10"/>
          <p:cNvSpPr txBox="1"/>
          <p:nvPr/>
        </p:nvSpPr>
        <p:spPr>
          <a:xfrm>
            <a:off x="6460808" y="2660650"/>
            <a:ext cx="145684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training</a:t>
            </a: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98" dirty="0"/>
          </a:p>
        </p:txBody>
      </p:sp>
      <p:sp>
        <p:nvSpPr>
          <p:cNvPr id="14" name="Shape 11"/>
          <p:cNvSpPr/>
          <p:nvPr/>
        </p:nvSpPr>
        <p:spPr>
          <a:xfrm>
            <a:off x="6460808" y="2990850"/>
            <a:ext cx="4940618" cy="127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60808" y="3155950"/>
            <a:ext cx="4940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current MFA tools are clunky across multiple systems."</a:t>
            </a:r>
            <a:endParaRPr lang="en-US" sz="1496" dirty="0"/>
          </a:p>
        </p:txBody>
      </p:sp>
      <p:sp>
        <p:nvSpPr>
          <p:cNvPr id="16" name="Text 13"/>
          <p:cNvSpPr txBox="1"/>
          <p:nvPr/>
        </p:nvSpPr>
        <p:spPr>
          <a:xfrm>
            <a:off x="6460808" y="3714750"/>
            <a:ext cx="11908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Simpler tools</a:t>
            </a: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98" dirty="0"/>
          </a:p>
        </p:txBody>
      </p:sp>
      <p:sp>
        <p:nvSpPr>
          <p:cNvPr id="17" name="Shape 14"/>
          <p:cNvSpPr/>
          <p:nvPr/>
        </p:nvSpPr>
        <p:spPr>
          <a:xfrm>
            <a:off x="6460808" y="4044950"/>
            <a:ext cx="4940618" cy="127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0808" y="4210050"/>
            <a:ext cx="49406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need clearer guidance on personal devices."</a:t>
            </a:r>
            <a:endParaRPr lang="en-US" sz="1496" dirty="0"/>
          </a:p>
        </p:txBody>
      </p:sp>
      <p:sp>
        <p:nvSpPr>
          <p:cNvPr id="19" name="Text 16"/>
          <p:cNvSpPr txBox="1"/>
          <p:nvPr/>
        </p:nvSpPr>
        <p:spPr>
          <a:xfrm>
            <a:off x="6460808" y="4540250"/>
            <a:ext cx="11528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BYOD clarity</a:t>
            </a: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98" dirty="0"/>
          </a:p>
        </p:txBody>
      </p:sp>
      <p:sp>
        <p:nvSpPr>
          <p:cNvPr id="20" name="Text 17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1" name="Text 18"/>
          <p:cNvSpPr txBox="1"/>
          <p:nvPr/>
        </p:nvSpPr>
        <p:spPr>
          <a:xfrm>
            <a:off x="11553444" y="6604000"/>
            <a:ext cx="1013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9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PRIORITISATION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top risks — ranked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external threat landscape meets our internal gaps.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289050"/>
            <a:ext cx="6536817" cy="5086350"/>
          </a:xfrm>
          <a:prstGeom prst="roundRect">
            <a:avLst>
              <a:gd name="adj" fmla="val 209"/>
            </a:avLst>
          </a:prstGeom>
          <a:solidFill>
            <a:srgbClr val="F1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9422" y="1492250"/>
            <a:ext cx="61314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matrix — Likelihood vs Impact</a:t>
            </a:r>
            <a:endParaRPr lang="en-US" sz="149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9422" y="1822450"/>
            <a:ext cx="6131433" cy="43497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96912" y="1390650"/>
            <a:ext cx="3990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993" dirty="0"/>
          </a:p>
        </p:txBody>
      </p:sp>
      <p:sp>
        <p:nvSpPr>
          <p:cNvPr id="9" name="Text 6"/>
          <p:cNvSpPr txBox="1"/>
          <p:nvPr/>
        </p:nvSpPr>
        <p:spPr>
          <a:xfrm>
            <a:off x="7822644" y="1339850"/>
            <a:ext cx="2172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→ ransomware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7822644" y="1593850"/>
            <a:ext cx="627078" cy="228600"/>
          </a:xfrm>
          <a:prstGeom prst="roundRect">
            <a:avLst>
              <a:gd name="adj" fmla="val 40400000"/>
            </a:avLst>
          </a:prstGeom>
          <a:solidFill>
            <a:srgbClr val="D726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23990" y="1619250"/>
            <a:ext cx="4243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998" dirty="0"/>
          </a:p>
        </p:txBody>
      </p:sp>
      <p:sp>
        <p:nvSpPr>
          <p:cNvPr id="12" name="Text 9"/>
          <p:cNvSpPr txBox="1"/>
          <p:nvPr/>
        </p:nvSpPr>
        <p:spPr>
          <a:xfrm>
            <a:off x="7296912" y="2025650"/>
            <a:ext cx="468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993" dirty="0"/>
          </a:p>
        </p:txBody>
      </p:sp>
      <p:sp>
        <p:nvSpPr>
          <p:cNvPr id="13" name="Text 10"/>
          <p:cNvSpPr txBox="1"/>
          <p:nvPr/>
        </p:nvSpPr>
        <p:spPr>
          <a:xfrm>
            <a:off x="7892320" y="1974850"/>
            <a:ext cx="3179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 reuse &amp; weak passwords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7892320" y="2228850"/>
            <a:ext cx="627078" cy="228600"/>
          </a:xfrm>
          <a:prstGeom prst="roundRect">
            <a:avLst>
              <a:gd name="adj" fmla="val 40400000"/>
            </a:avLst>
          </a:prstGeom>
          <a:solidFill>
            <a:srgbClr val="D726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93666" y="2254250"/>
            <a:ext cx="4243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998" dirty="0"/>
          </a:p>
        </p:txBody>
      </p:sp>
      <p:sp>
        <p:nvSpPr>
          <p:cNvPr id="16" name="Text 13"/>
          <p:cNvSpPr txBox="1"/>
          <p:nvPr/>
        </p:nvSpPr>
        <p:spPr>
          <a:xfrm>
            <a:off x="7296912" y="2660650"/>
            <a:ext cx="468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993" dirty="0"/>
          </a:p>
        </p:txBody>
      </p:sp>
      <p:sp>
        <p:nvSpPr>
          <p:cNvPr id="17" name="Text 14"/>
          <p:cNvSpPr txBox="1"/>
          <p:nvPr/>
        </p:nvSpPr>
        <p:spPr>
          <a:xfrm>
            <a:off x="7892320" y="2609850"/>
            <a:ext cx="3236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/ misrouted incident reports</a:t>
            </a:r>
            <a:endParaRPr lang="en-US" sz="1496" dirty="0"/>
          </a:p>
        </p:txBody>
      </p:sp>
      <p:sp>
        <p:nvSpPr>
          <p:cNvPr id="18" name="Shape 15"/>
          <p:cNvSpPr/>
          <p:nvPr/>
        </p:nvSpPr>
        <p:spPr>
          <a:xfrm>
            <a:off x="7892320" y="2863850"/>
            <a:ext cx="481394" cy="228600"/>
          </a:xfrm>
          <a:prstGeom prst="roundRect">
            <a:avLst>
              <a:gd name="adj" fmla="val 52626316"/>
            </a:avLst>
          </a:prstGeom>
          <a:solidFill>
            <a:srgbClr val="F5A62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93666" y="2889250"/>
            <a:ext cx="27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98" dirty="0"/>
          </a:p>
        </p:txBody>
      </p:sp>
      <p:sp>
        <p:nvSpPr>
          <p:cNvPr id="20" name="Text 17"/>
          <p:cNvSpPr txBox="1"/>
          <p:nvPr/>
        </p:nvSpPr>
        <p:spPr>
          <a:xfrm>
            <a:off x="7296912" y="3295650"/>
            <a:ext cx="48139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993" dirty="0"/>
          </a:p>
        </p:txBody>
      </p:sp>
      <p:sp>
        <p:nvSpPr>
          <p:cNvPr id="21" name="Text 18"/>
          <p:cNvSpPr txBox="1"/>
          <p:nvPr/>
        </p:nvSpPr>
        <p:spPr>
          <a:xfrm>
            <a:off x="7904988" y="3244850"/>
            <a:ext cx="17165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BYOD data leakage</a:t>
            </a:r>
            <a:endParaRPr lang="en-US" sz="1496" dirty="0"/>
          </a:p>
        </p:txBody>
      </p:sp>
      <p:sp>
        <p:nvSpPr>
          <p:cNvPr id="22" name="Shape 19"/>
          <p:cNvSpPr/>
          <p:nvPr/>
        </p:nvSpPr>
        <p:spPr>
          <a:xfrm>
            <a:off x="7904988" y="3498850"/>
            <a:ext cx="481394" cy="228600"/>
          </a:xfrm>
          <a:prstGeom prst="roundRect">
            <a:avLst>
              <a:gd name="adj" fmla="val 52626316"/>
            </a:avLst>
          </a:prstGeom>
          <a:solidFill>
            <a:srgbClr val="F5A62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06334" y="3524250"/>
            <a:ext cx="27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98" dirty="0"/>
          </a:p>
        </p:txBody>
      </p:sp>
      <p:sp>
        <p:nvSpPr>
          <p:cNvPr id="24" name="Text 21"/>
          <p:cNvSpPr txBox="1"/>
          <p:nvPr/>
        </p:nvSpPr>
        <p:spPr>
          <a:xfrm>
            <a:off x="7296912" y="3930650"/>
            <a:ext cx="468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993" dirty="0"/>
          </a:p>
        </p:txBody>
      </p:sp>
      <p:sp>
        <p:nvSpPr>
          <p:cNvPr id="25" name="Text 22"/>
          <p:cNvSpPr txBox="1"/>
          <p:nvPr/>
        </p:nvSpPr>
        <p:spPr>
          <a:xfrm>
            <a:off x="7892320" y="3879850"/>
            <a:ext cx="33887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cloud vendor compromise</a:t>
            </a:r>
            <a:endParaRPr lang="en-US" sz="1496" dirty="0"/>
          </a:p>
        </p:txBody>
      </p:sp>
      <p:sp>
        <p:nvSpPr>
          <p:cNvPr id="26" name="Shape 23"/>
          <p:cNvSpPr/>
          <p:nvPr/>
        </p:nvSpPr>
        <p:spPr>
          <a:xfrm>
            <a:off x="7892320" y="4133850"/>
            <a:ext cx="481394" cy="228600"/>
          </a:xfrm>
          <a:prstGeom prst="roundRect">
            <a:avLst>
              <a:gd name="adj" fmla="val 52626316"/>
            </a:avLst>
          </a:prstGeom>
          <a:solidFill>
            <a:srgbClr val="F5A62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93666" y="4159250"/>
            <a:ext cx="27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98" dirty="0"/>
          </a:p>
        </p:txBody>
      </p:sp>
      <p:sp>
        <p:nvSpPr>
          <p:cNvPr id="28" name="Text 25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9" name="Text 26"/>
          <p:cNvSpPr txBox="1"/>
          <p:nvPr/>
        </p:nvSpPr>
        <p:spPr>
          <a:xfrm>
            <a:off x="11528108" y="6604000"/>
            <a:ext cx="126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9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MITIGATION FRAMEWORK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PACT — a four-step reflex against phishing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by ANZ Bank during the pandemic to keep staff safe under pressure.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0095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</a:t>
            </a:r>
            <a:endParaRPr lang="en-US" sz="6384" dirty="0"/>
          </a:p>
        </p:txBody>
      </p:sp>
      <p:sp>
        <p:nvSpPr>
          <p:cNvPr id="7" name="Text 5"/>
          <p:cNvSpPr txBox="1"/>
          <p:nvPr/>
        </p:nvSpPr>
        <p:spPr>
          <a:xfrm>
            <a:off x="760095" y="2330450"/>
            <a:ext cx="2166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Pause</a:t>
            </a:r>
            <a:endParaRPr lang="en-US" sz="2394" dirty="0"/>
          </a:p>
        </p:txBody>
      </p:sp>
      <p:sp>
        <p:nvSpPr>
          <p:cNvPr id="8" name="Text 6"/>
          <p:cNvSpPr txBox="1"/>
          <p:nvPr/>
        </p:nvSpPr>
        <p:spPr>
          <a:xfrm>
            <a:off x="760095" y="27876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Stop. Don't click. Re-read the message slowly before acting on any request.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3331750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13B5B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5115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6384" dirty="0"/>
          </a:p>
        </p:txBody>
      </p:sp>
      <p:sp>
        <p:nvSpPr>
          <p:cNvPr id="11" name="Text 9"/>
          <p:cNvSpPr txBox="1"/>
          <p:nvPr/>
        </p:nvSpPr>
        <p:spPr>
          <a:xfrm>
            <a:off x="3585115" y="2330450"/>
            <a:ext cx="2166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Activate MFA</a:t>
            </a:r>
            <a:endParaRPr lang="en-US" sz="2394" dirty="0"/>
          </a:p>
        </p:txBody>
      </p:sp>
      <p:sp>
        <p:nvSpPr>
          <p:cNvPr id="12" name="Text 10"/>
          <p:cNvSpPr txBox="1"/>
          <p:nvPr/>
        </p:nvSpPr>
        <p:spPr>
          <a:xfrm>
            <a:off x="3585115" y="27876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multi-factor authentication is enabled on every work account on this device.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6156770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0135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1A1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6384" dirty="0"/>
          </a:p>
        </p:txBody>
      </p:sp>
      <p:sp>
        <p:nvSpPr>
          <p:cNvPr id="15" name="Text 13"/>
          <p:cNvSpPr txBox="1"/>
          <p:nvPr/>
        </p:nvSpPr>
        <p:spPr>
          <a:xfrm>
            <a:off x="6410135" y="2330450"/>
            <a:ext cx="2166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1A1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 to verify</a:t>
            </a:r>
            <a:endParaRPr lang="en-US" sz="2394" dirty="0"/>
          </a:p>
        </p:txBody>
      </p:sp>
      <p:sp>
        <p:nvSpPr>
          <p:cNvPr id="16" name="Text 14"/>
          <p:cNvSpPr txBox="1"/>
          <p:nvPr/>
        </p:nvSpPr>
        <p:spPr>
          <a:xfrm>
            <a:off x="6410135" y="27876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the sender via a known, trusted number — never the one in the email or SMS.</a:t>
            </a:r>
            <a:endParaRPr lang="en-US" sz="1496" dirty="0"/>
          </a:p>
        </p:txBody>
      </p:sp>
      <p:sp>
        <p:nvSpPr>
          <p:cNvPr id="17" name="Shape 15"/>
          <p:cNvSpPr/>
          <p:nvPr/>
        </p:nvSpPr>
        <p:spPr>
          <a:xfrm>
            <a:off x="8981789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D726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154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6384" dirty="0"/>
          </a:p>
        </p:txBody>
      </p:sp>
      <p:sp>
        <p:nvSpPr>
          <p:cNvPr id="19" name="Text 17"/>
          <p:cNvSpPr txBox="1"/>
          <p:nvPr/>
        </p:nvSpPr>
        <p:spPr>
          <a:xfrm>
            <a:off x="9235154" y="2330450"/>
            <a:ext cx="21662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on updates</a:t>
            </a:r>
            <a:endParaRPr lang="en-US" sz="2394" dirty="0"/>
          </a:p>
        </p:txBody>
      </p:sp>
      <p:sp>
        <p:nvSpPr>
          <p:cNvPr id="20" name="Text 18"/>
          <p:cNvSpPr txBox="1"/>
          <p:nvPr/>
        </p:nvSpPr>
        <p:spPr>
          <a:xfrm>
            <a:off x="9235154" y="30924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automatic OS and app updates are enabled on your device at all times.</a:t>
            </a:r>
            <a:endParaRPr lang="en-US" sz="1496" dirty="0"/>
          </a:p>
        </p:txBody>
      </p:sp>
      <p:sp>
        <p:nvSpPr>
          <p:cNvPr id="21" name="Shape 19"/>
          <p:cNvSpPr/>
          <p:nvPr/>
        </p:nvSpPr>
        <p:spPr>
          <a:xfrm>
            <a:off x="506730" y="5892800"/>
            <a:ext cx="11148060" cy="482600"/>
          </a:xfrm>
          <a:prstGeom prst="roundRect">
            <a:avLst>
              <a:gd name="adj" fmla="val 1292"/>
            </a:avLst>
          </a:prstGeom>
          <a:solidFill>
            <a:srgbClr val="F1F4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0095" y="6019800"/>
            <a:ext cx="10641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PACT to every suspicious email, SMS, or login prompt — on any device, work or personal.</a:t>
            </a:r>
            <a:endParaRPr lang="en-US" sz="1496" dirty="0"/>
          </a:p>
        </p:txBody>
      </p:sp>
      <p:sp>
        <p:nvSpPr>
          <p:cNvPr id="23" name="Text 21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4" name="Text 22"/>
          <p:cNvSpPr txBox="1"/>
          <p:nvPr/>
        </p:nvSpPr>
        <p:spPr>
          <a:xfrm>
            <a:off x="11528108" y="6604000"/>
            <a:ext cx="126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9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BYOD POLICY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Using your personal device for work — the rules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organisation's BYOD Cybersecurity Policy 1.0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591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30" y="1822450"/>
            <a:ext cx="278702" cy="279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6730" y="2203450"/>
            <a:ext cx="198129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 Registration</a:t>
            </a:r>
            <a:endParaRPr lang="en-US" sz="1795" dirty="0"/>
          </a:p>
        </p:txBody>
      </p:sp>
      <p:sp>
        <p:nvSpPr>
          <p:cNvPr id="8" name="Shape 5"/>
          <p:cNvSpPr/>
          <p:nvPr/>
        </p:nvSpPr>
        <p:spPr>
          <a:xfrm>
            <a:off x="506730" y="281305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6730" y="29210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BYOD enrolment request via IT portal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506730" y="3683000"/>
            <a:ext cx="1981295" cy="6413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6730" y="3790950"/>
            <a:ext cx="198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installs MDM work container on device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506730" y="43243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6730" y="44323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BYOD Acknowledgement Form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2640044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798397" y="1289050"/>
            <a:ext cx="198139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591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98397" y="1822450"/>
            <a:ext cx="278702" cy="2794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98397" y="2203450"/>
            <a:ext cx="198139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Requirements</a:t>
            </a:r>
            <a:endParaRPr lang="en-US" sz="1795" dirty="0"/>
          </a:p>
        </p:txBody>
      </p:sp>
      <p:sp>
        <p:nvSpPr>
          <p:cNvPr id="18" name="Shape 14"/>
          <p:cNvSpPr/>
          <p:nvPr/>
        </p:nvSpPr>
        <p:spPr>
          <a:xfrm>
            <a:off x="2798397" y="2813050"/>
            <a:ext cx="1981393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798397" y="2921000"/>
            <a:ext cx="1981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OS with full-disk encryption enabled</a:t>
            </a:r>
            <a:endParaRPr lang="en-US" sz="1496" dirty="0"/>
          </a:p>
        </p:txBody>
      </p:sp>
      <p:sp>
        <p:nvSpPr>
          <p:cNvPr id="20" name="Shape 16"/>
          <p:cNvSpPr/>
          <p:nvPr/>
        </p:nvSpPr>
        <p:spPr>
          <a:xfrm>
            <a:off x="2798397" y="3683000"/>
            <a:ext cx="1981393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798397" y="3790950"/>
            <a:ext cx="1981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lock with biometric or strong PIN</a:t>
            </a:r>
            <a:endParaRPr lang="en-US" sz="1496" dirty="0"/>
          </a:p>
        </p:txBody>
      </p:sp>
      <p:sp>
        <p:nvSpPr>
          <p:cNvPr id="22" name="Shape 18"/>
          <p:cNvSpPr/>
          <p:nvPr/>
        </p:nvSpPr>
        <p:spPr>
          <a:xfrm>
            <a:off x="2798397" y="4552950"/>
            <a:ext cx="1981393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798397" y="4660900"/>
            <a:ext cx="1981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jailbroken or rooted devices permitted</a:t>
            </a:r>
            <a:endParaRPr lang="en-US" sz="1496" dirty="0"/>
          </a:p>
        </p:txBody>
      </p:sp>
      <p:sp>
        <p:nvSpPr>
          <p:cNvPr id="24" name="Shape 20"/>
          <p:cNvSpPr/>
          <p:nvPr/>
        </p:nvSpPr>
        <p:spPr>
          <a:xfrm>
            <a:off x="4931809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090162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591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90162" y="1822450"/>
            <a:ext cx="278702" cy="2794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90162" y="2203450"/>
            <a:ext cx="198129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Acceptable Use</a:t>
            </a:r>
            <a:endParaRPr lang="en-US" sz="1795" dirty="0"/>
          </a:p>
        </p:txBody>
      </p:sp>
      <p:sp>
        <p:nvSpPr>
          <p:cNvPr id="28" name="Shape 23"/>
          <p:cNvSpPr/>
          <p:nvPr/>
        </p:nvSpPr>
        <p:spPr>
          <a:xfrm>
            <a:off x="5090162" y="2559050"/>
            <a:ext cx="1981295" cy="6413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090162" y="2667000"/>
            <a:ext cx="198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apps only, accessed via VPN</a:t>
            </a:r>
            <a:endParaRPr lang="en-US" sz="1496" dirty="0"/>
          </a:p>
        </p:txBody>
      </p:sp>
      <p:sp>
        <p:nvSpPr>
          <p:cNvPr id="30" name="Shape 25"/>
          <p:cNvSpPr/>
          <p:nvPr/>
        </p:nvSpPr>
        <p:spPr>
          <a:xfrm>
            <a:off x="5090162" y="320040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090162" y="330835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and approved password manager required</a:t>
            </a:r>
            <a:endParaRPr lang="en-US" sz="1496" dirty="0"/>
          </a:p>
        </p:txBody>
      </p:sp>
      <p:sp>
        <p:nvSpPr>
          <p:cNvPr id="32" name="Shape 27"/>
          <p:cNvSpPr/>
          <p:nvPr/>
        </p:nvSpPr>
        <p:spPr>
          <a:xfrm>
            <a:off x="5090162" y="40703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090162" y="41783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local storage of customer or sensitive data</a:t>
            </a:r>
            <a:endParaRPr lang="en-US" sz="1496" dirty="0"/>
          </a:p>
        </p:txBody>
      </p:sp>
      <p:sp>
        <p:nvSpPr>
          <p:cNvPr id="34" name="Shape 29"/>
          <p:cNvSpPr/>
          <p:nvPr/>
        </p:nvSpPr>
        <p:spPr>
          <a:xfrm>
            <a:off x="7223476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381829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591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81829" y="1822450"/>
            <a:ext cx="278702" cy="2794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381829" y="2203450"/>
            <a:ext cx="198129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 Reporting</a:t>
            </a:r>
            <a:endParaRPr lang="en-US" sz="1795" dirty="0"/>
          </a:p>
        </p:txBody>
      </p:sp>
      <p:sp>
        <p:nvSpPr>
          <p:cNvPr id="38" name="Shape 32"/>
          <p:cNvSpPr/>
          <p:nvPr/>
        </p:nvSpPr>
        <p:spPr>
          <a:xfrm>
            <a:off x="7381829" y="281305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381829" y="29210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loss or theft to IT Security immediately</a:t>
            </a:r>
            <a:endParaRPr lang="en-US" sz="1496" dirty="0"/>
          </a:p>
        </p:txBody>
      </p:sp>
      <p:sp>
        <p:nvSpPr>
          <p:cNvPr id="40" name="Shape 34"/>
          <p:cNvSpPr/>
          <p:nvPr/>
        </p:nvSpPr>
        <p:spPr>
          <a:xfrm>
            <a:off x="7381829" y="368300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381829" y="379095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attempt self-recovery — preserve evidence</a:t>
            </a:r>
            <a:endParaRPr lang="en-US" sz="1496" dirty="0"/>
          </a:p>
        </p:txBody>
      </p:sp>
      <p:sp>
        <p:nvSpPr>
          <p:cNvPr id="42" name="Shape 36"/>
          <p:cNvSpPr/>
          <p:nvPr/>
        </p:nvSpPr>
        <p:spPr>
          <a:xfrm>
            <a:off x="7381829" y="45529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381829" y="46609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Incident Report Form within 24 hours</a:t>
            </a:r>
            <a:endParaRPr lang="en-US" sz="1496" dirty="0"/>
          </a:p>
        </p:txBody>
      </p:sp>
      <p:sp>
        <p:nvSpPr>
          <p:cNvPr id="44" name="Shape 38"/>
          <p:cNvSpPr/>
          <p:nvPr/>
        </p:nvSpPr>
        <p:spPr>
          <a:xfrm>
            <a:off x="9515142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673495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591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73495" y="1822450"/>
            <a:ext cx="278702" cy="27940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673495" y="2203450"/>
            <a:ext cx="198129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Remote Wipe</a:t>
            </a:r>
            <a:endParaRPr lang="en-US" sz="1795" dirty="0"/>
          </a:p>
        </p:txBody>
      </p:sp>
      <p:sp>
        <p:nvSpPr>
          <p:cNvPr id="48" name="Shape 41"/>
          <p:cNvSpPr/>
          <p:nvPr/>
        </p:nvSpPr>
        <p:spPr>
          <a:xfrm>
            <a:off x="9673495" y="2559050"/>
            <a:ext cx="1981295" cy="6413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9673495" y="2667000"/>
            <a:ext cx="198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can wipe the work container only</a:t>
            </a:r>
            <a:endParaRPr lang="en-US" sz="1496" dirty="0"/>
          </a:p>
        </p:txBody>
      </p:sp>
      <p:sp>
        <p:nvSpPr>
          <p:cNvPr id="50" name="Shape 43"/>
          <p:cNvSpPr/>
          <p:nvPr/>
        </p:nvSpPr>
        <p:spPr>
          <a:xfrm>
            <a:off x="9673495" y="320040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9673495" y="330835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photos and messages remain untouched</a:t>
            </a:r>
            <a:endParaRPr lang="en-US" sz="1496" dirty="0"/>
          </a:p>
        </p:txBody>
      </p:sp>
      <p:sp>
        <p:nvSpPr>
          <p:cNvPr id="52" name="Shape 45"/>
          <p:cNvSpPr/>
          <p:nvPr/>
        </p:nvSpPr>
        <p:spPr>
          <a:xfrm>
            <a:off x="9673495" y="40703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9673495" y="41783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on loss, resignation, or compromise</a:t>
            </a:r>
            <a:endParaRPr lang="en-US" sz="1496" dirty="0"/>
          </a:p>
        </p:txBody>
      </p:sp>
      <p:sp>
        <p:nvSpPr>
          <p:cNvPr id="54" name="Shape 47"/>
          <p:cNvSpPr/>
          <p:nvPr/>
        </p:nvSpPr>
        <p:spPr>
          <a:xfrm>
            <a:off x="506730" y="5765800"/>
            <a:ext cx="11148060" cy="660400"/>
          </a:xfrm>
          <a:prstGeom prst="roundRect">
            <a:avLst>
              <a:gd name="adj" fmla="val 944"/>
            </a:avLst>
          </a:prstGeom>
          <a:solidFill>
            <a:srgbClr val="D7263D"/>
          </a:solidFill>
          <a:ln/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0095" y="5969000"/>
            <a:ext cx="253365" cy="254000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1165479" y="5867400"/>
            <a:ext cx="10235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Non-compliance may result in revoked access, formal disciplinary action, or legal liability under the Privacy Act 1988.</a:t>
            </a:r>
            <a:endParaRPr lang="en-US" sz="1496" dirty="0"/>
          </a:p>
        </p:txBody>
      </p:sp>
      <p:sp>
        <p:nvSpPr>
          <p:cNvPr id="57" name="Text 49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58" name="Text 50"/>
          <p:cNvSpPr txBox="1"/>
          <p:nvPr/>
        </p:nvSpPr>
        <p:spPr>
          <a:xfrm>
            <a:off x="11521773" y="6604000"/>
            <a:ext cx="1330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9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NEXT STEPS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awareness to action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each do this week to close the gaps.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289050"/>
            <a:ext cx="760095" cy="304800"/>
          </a:xfrm>
          <a:prstGeom prst="roundRect">
            <a:avLst>
              <a:gd name="adj" fmla="val 24997500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3413" y="1339850"/>
            <a:ext cx="50673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197" dirty="0"/>
          </a:p>
        </p:txBody>
      </p:sp>
      <p:sp>
        <p:nvSpPr>
          <p:cNvPr id="7" name="Shape 5"/>
          <p:cNvSpPr/>
          <p:nvPr/>
        </p:nvSpPr>
        <p:spPr>
          <a:xfrm>
            <a:off x="874109" y="1644650"/>
            <a:ext cx="25337" cy="2286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8844" y="1289050"/>
            <a:ext cx="562470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the BYOD Acknowledgement Form and enrol any personal devices used for work.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506730" y="1974850"/>
            <a:ext cx="937451" cy="304800"/>
          </a:xfrm>
          <a:prstGeom prst="roundRect">
            <a:avLst>
              <a:gd name="adj" fmla="val 2026824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413" y="2025650"/>
            <a:ext cx="68408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DAY 2</a:t>
            </a:r>
            <a:endParaRPr lang="en-US" sz="1197" dirty="0"/>
          </a:p>
        </p:txBody>
      </p:sp>
      <p:sp>
        <p:nvSpPr>
          <p:cNvPr id="11" name="Shape 9"/>
          <p:cNvSpPr/>
          <p:nvPr/>
        </p:nvSpPr>
        <p:spPr>
          <a:xfrm>
            <a:off x="962787" y="2330450"/>
            <a:ext cx="25337" cy="2286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96200" y="1974850"/>
            <a:ext cx="544734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all work credentials into the approved password manager. Enable MFA everywhere.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506730" y="2660650"/>
            <a:ext cx="931116" cy="304800"/>
          </a:xfrm>
          <a:prstGeom prst="roundRect">
            <a:avLst>
              <a:gd name="adj" fmla="val 20406122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3413" y="2711450"/>
            <a:ext cx="67775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DAY 5</a:t>
            </a:r>
            <a:endParaRPr lang="en-US" sz="1197" dirty="0"/>
          </a:p>
        </p:txBody>
      </p:sp>
      <p:sp>
        <p:nvSpPr>
          <p:cNvPr id="15" name="Shape 13"/>
          <p:cNvSpPr/>
          <p:nvPr/>
        </p:nvSpPr>
        <p:spPr>
          <a:xfrm>
            <a:off x="959620" y="3016250"/>
            <a:ext cx="25337" cy="2286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89865" y="2660650"/>
            <a:ext cx="545368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practical phishing recognition exercise and learn the PACT reflex.</a:t>
            </a:r>
            <a:endParaRPr lang="en-US" sz="1496" dirty="0"/>
          </a:p>
        </p:txBody>
      </p:sp>
      <p:sp>
        <p:nvSpPr>
          <p:cNvPr id="17" name="Shape 15"/>
          <p:cNvSpPr/>
          <p:nvPr/>
        </p:nvSpPr>
        <p:spPr>
          <a:xfrm>
            <a:off x="506730" y="3346450"/>
            <a:ext cx="931116" cy="304800"/>
          </a:xfrm>
          <a:prstGeom prst="roundRect">
            <a:avLst>
              <a:gd name="adj" fmla="val 20406122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3413" y="3397250"/>
            <a:ext cx="67775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DAY 7</a:t>
            </a:r>
            <a:endParaRPr lang="en-US" sz="1197" dirty="0"/>
          </a:p>
        </p:txBody>
      </p:sp>
      <p:sp>
        <p:nvSpPr>
          <p:cNvPr id="19" name="Text 17"/>
          <p:cNvSpPr txBox="1"/>
          <p:nvPr/>
        </p:nvSpPr>
        <p:spPr>
          <a:xfrm>
            <a:off x="1589865" y="3346450"/>
            <a:ext cx="545368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Re-read the BYOD Cybersecurity Policy 1.0 and confirm your reporting contact in IT Security.</a:t>
            </a:r>
            <a:endParaRPr lang="en-US" sz="1496" dirty="0"/>
          </a:p>
        </p:txBody>
      </p:sp>
      <p:sp>
        <p:nvSpPr>
          <p:cNvPr id="20" name="Shape 18"/>
          <p:cNvSpPr/>
          <p:nvPr/>
        </p:nvSpPr>
        <p:spPr>
          <a:xfrm>
            <a:off x="7296912" y="1289050"/>
            <a:ext cx="4357878" cy="5060950"/>
          </a:xfrm>
          <a:prstGeom prst="roundRect">
            <a:avLst>
              <a:gd name="adj" fmla="val 316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50277" y="1543050"/>
            <a:ext cx="385114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click can cost millions.</a:t>
            </a:r>
            <a:endParaRPr lang="en-US" sz="2993" dirty="0"/>
          </a:p>
        </p:txBody>
      </p:sp>
      <p:sp>
        <p:nvSpPr>
          <p:cNvPr id="22" name="Text 20"/>
          <p:cNvSpPr txBox="1"/>
          <p:nvPr/>
        </p:nvSpPr>
        <p:spPr>
          <a:xfrm>
            <a:off x="7550277" y="2597150"/>
            <a:ext cx="38511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pause can prevent it.</a:t>
            </a:r>
            <a:endParaRPr lang="en-US" sz="2394" dirty="0"/>
          </a:p>
        </p:txBody>
      </p:sp>
      <p:sp>
        <p:nvSpPr>
          <p:cNvPr id="23" name="Shape 21"/>
          <p:cNvSpPr/>
          <p:nvPr/>
        </p:nvSpPr>
        <p:spPr>
          <a:xfrm>
            <a:off x="7550277" y="3105150"/>
            <a:ext cx="3851148" cy="127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0277" y="3270250"/>
            <a:ext cx="3851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or incidents — contact IT Security</a:t>
            </a:r>
            <a:endParaRPr lang="en-US" sz="1496" dirty="0"/>
          </a:p>
        </p:txBody>
      </p:sp>
      <p:sp>
        <p:nvSpPr>
          <p:cNvPr id="25" name="Text 23"/>
          <p:cNvSpPr txBox="1"/>
          <p:nvPr/>
        </p:nvSpPr>
        <p:spPr>
          <a:xfrm>
            <a:off x="7550277" y="3803650"/>
            <a:ext cx="38511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intranet → IT Security portal</a:t>
            </a:r>
            <a:endParaRPr lang="en-US" sz="1496" dirty="0"/>
          </a:p>
        </p:txBody>
      </p:sp>
      <p:sp>
        <p:nvSpPr>
          <p:cNvPr id="26" name="Text 24"/>
          <p:cNvSpPr txBox="1"/>
          <p:nvPr/>
        </p:nvSpPr>
        <p:spPr>
          <a:xfrm>
            <a:off x="7550277" y="4083050"/>
            <a:ext cx="3851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24/7 — never wait for business hours</a:t>
            </a:r>
            <a:endParaRPr lang="en-US" sz="1496" dirty="0"/>
          </a:p>
        </p:txBody>
      </p:sp>
      <p:sp>
        <p:nvSpPr>
          <p:cNvPr id="27" name="Shape 25"/>
          <p:cNvSpPr/>
          <p:nvPr/>
        </p:nvSpPr>
        <p:spPr>
          <a:xfrm>
            <a:off x="7550277" y="5676900"/>
            <a:ext cx="3851148" cy="4191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56611" y="5835650"/>
            <a:ext cx="383848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— let's PACT up.</a:t>
            </a:r>
            <a:endParaRPr lang="en-US" sz="1795" dirty="0"/>
          </a:p>
        </p:txBody>
      </p:sp>
      <p:sp>
        <p:nvSpPr>
          <p:cNvPr id="29" name="Shape 27"/>
          <p:cNvSpPr/>
          <p:nvPr/>
        </p:nvSpPr>
        <p:spPr>
          <a:xfrm>
            <a:off x="0" y="6451600"/>
            <a:ext cx="12161520" cy="762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31" name="Text 29"/>
          <p:cNvSpPr txBox="1"/>
          <p:nvPr/>
        </p:nvSpPr>
        <p:spPr>
          <a:xfrm>
            <a:off x="11528108" y="6604000"/>
            <a:ext cx="126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9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3">
            <a:extLst>
              <a:ext uri="{FF2B5EF4-FFF2-40B4-BE49-F238E27FC236}">
                <a16:creationId xmlns:a16="http://schemas.microsoft.com/office/drawing/2014/main" id="{C56AC8E5-9724-F454-7E99-300125FC2A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28"/>
            </a:avLst>
          </a:prstGeom>
          <a:solidFill>
            <a:srgbClr val="D7263D"/>
          </a:solidFill>
          <a:ln/>
        </p:spPr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25E11AEF-FF74-ECA7-704F-1CACCDD7EF41}"/>
              </a:ext>
            </a:extLst>
          </p:cNvPr>
          <p:cNvSpPr txBox="1"/>
          <p:nvPr/>
        </p:nvSpPr>
        <p:spPr>
          <a:xfrm>
            <a:off x="0" y="2011680"/>
            <a:ext cx="12191999" cy="2489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200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Thanks!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67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1416</Words>
  <Application>Microsoft Macintosh PowerPoint</Application>
  <PresentationFormat>Widescreen</PresentationFormat>
  <Paragraphs>265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Space Grotesk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cyber-secu-awarensess-program</dc:title>
  <dc:subject/>
  <dc:creator>manuelpz</dc:creator>
  <cp:keywords/>
  <dc:description/>
  <cp:lastModifiedBy>Manuel Perez</cp:lastModifiedBy>
  <cp:revision>7</cp:revision>
  <dcterms:created xsi:type="dcterms:W3CDTF">2026-06-07T00:09:56Z</dcterms:created>
  <dcterms:modified xsi:type="dcterms:W3CDTF">2026-06-07T12:24:59Z</dcterms:modified>
  <cp:category/>
</cp:coreProperties>
</file>