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17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497"/>
    <p:restoredTop sz="94610"/>
  </p:normalViewPr>
  <p:slideViewPr>
    <p:cSldViewPr snapToGrid="0" snapToObjects="1">
      <p:cViewPr>
        <p:scale>
          <a:sx n="130" d="100"/>
          <a:sy n="130" d="100"/>
        </p:scale>
        <p:origin x="1248" y="8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38887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smtClean="0"/>
              <a:pPr/>
              <a:t>4/26/26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745713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smtClean="0"/>
              <a:pPr/>
              <a:t>4/26/26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365837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7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7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smtClean="0"/>
              <a:pPr/>
              <a:t>4/26/26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897609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8"/>
            <a:ext cx="3886200" cy="326350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8"/>
            <a:ext cx="3886200" cy="326350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smtClean="0"/>
              <a:pPr/>
              <a:t>4/26/26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778422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4/26/26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70598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smtClean="0"/>
              <a:pPr/>
              <a:t>4/26/26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8620897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smtClean="0"/>
              <a:pPr/>
              <a:t>4/26/26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697594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smtClean="0"/>
              <a:pPr/>
              <a:t>4/26/26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20697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4/26/26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717234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smtClean="0"/>
              <a:pPr/>
              <a:t>4/26/26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865335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3"/>
            <a:ext cx="1971675" cy="4358879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3"/>
            <a:ext cx="5800725" cy="435887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smtClean="0"/>
              <a:pPr/>
              <a:t>4/26/26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352665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2336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8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B482E8-6E0E-1B4F-B1FD-C69DB9E858D9}" type="datetimeFigureOut">
              <a:rPr lang="en-US" smtClean="0"/>
              <a:pPr/>
              <a:t>4/26/26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3804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8" r:id="rId1"/>
    <p:sldLayoutId id="2147483919" r:id="rId2"/>
    <p:sldLayoutId id="2147483920" r:id="rId3"/>
    <p:sldLayoutId id="2147483921" r:id="rId4"/>
    <p:sldLayoutId id="2147483922" r:id="rId5"/>
    <p:sldLayoutId id="2147483923" r:id="rId6"/>
    <p:sldLayoutId id="2147483924" r:id="rId7"/>
    <p:sldLayoutId id="2147483925" r:id="rId8"/>
    <p:sldLayoutId id="2147483926" r:id="rId9"/>
    <p:sldLayoutId id="2147483927" r:id="rId10"/>
    <p:sldLayoutId id="2147483928" r:id="rId11"/>
    <p:sldLayoutId id="2147483929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 noProof="0" dirty="0"/>
          </a:p>
        </p:txBody>
      </p:sp>
      <p:sp>
        <p:nvSpPr>
          <p:cNvPr id="3" name="Shape 1"/>
          <p:cNvSpPr/>
          <p:nvPr/>
        </p:nvSpPr>
        <p:spPr>
          <a:xfrm>
            <a:off x="3474720" y="0"/>
            <a:ext cx="7315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AU" noProof="0" dirty="0"/>
          </a:p>
        </p:txBody>
      </p:sp>
      <p:sp>
        <p:nvSpPr>
          <p:cNvPr id="5" name="Text 3"/>
          <p:cNvSpPr/>
          <p:nvPr/>
        </p:nvSpPr>
        <p:spPr>
          <a:xfrm>
            <a:off x="347472" y="457200"/>
            <a:ext cx="2834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30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</a:t>
            </a:r>
            <a:endParaRPr lang="en-AU" sz="3000" noProof="0" dirty="0"/>
          </a:p>
          <a:p>
            <a:pPr marL="0" indent="0">
              <a:buNone/>
            </a:pPr>
            <a:r>
              <a:rPr lang="en-AU" sz="30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AU" sz="3000" noProof="0" dirty="0"/>
          </a:p>
          <a:p>
            <a:pPr marL="0" indent="0">
              <a:buNone/>
            </a:pPr>
            <a:r>
              <a:rPr lang="en-AU" sz="30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Effectiveness</a:t>
            </a:r>
            <a:endParaRPr lang="en-AU" sz="3000" noProof="0" dirty="0"/>
          </a:p>
        </p:txBody>
      </p:sp>
      <p:sp>
        <p:nvSpPr>
          <p:cNvPr id="7" name="Text 5"/>
          <p:cNvSpPr/>
          <p:nvPr/>
        </p:nvSpPr>
        <p:spPr>
          <a:xfrm>
            <a:off x="3913632" y="2409445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1600" b="1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Based on Unit 611</a:t>
            </a:r>
            <a:br>
              <a:rPr lang="en-AU" sz="1600" b="1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AU" sz="1600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Cloud-First SaaS &amp; B2C</a:t>
            </a:r>
            <a:endParaRPr lang="en-AU" sz="1600" noProof="0" dirty="0"/>
          </a:p>
          <a:p>
            <a:pPr marL="0" indent="0">
              <a:buNone/>
            </a:pPr>
            <a:r>
              <a:rPr lang="en-AU" sz="1600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Model Implementation</a:t>
            </a:r>
            <a:endParaRPr lang="en-AU" sz="1600" noProof="0" dirty="0"/>
          </a:p>
        </p:txBody>
      </p:sp>
      <p:sp>
        <p:nvSpPr>
          <p:cNvPr id="8" name="Shape 6"/>
          <p:cNvSpPr/>
          <p:nvPr/>
        </p:nvSpPr>
        <p:spPr>
          <a:xfrm>
            <a:off x="3840480" y="2286000"/>
            <a:ext cx="475488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AU" noProof="0" dirty="0"/>
          </a:p>
        </p:txBody>
      </p:sp>
      <p:sp>
        <p:nvSpPr>
          <p:cNvPr id="10" name="Text 8"/>
          <p:cNvSpPr/>
          <p:nvPr/>
        </p:nvSpPr>
        <p:spPr>
          <a:xfrm>
            <a:off x="8180832" y="4823460"/>
            <a:ext cx="826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1000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Manuel Perez</a:t>
            </a:r>
            <a:endParaRPr lang="en-AU" sz="1000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 noProof="0" dirty="0"/>
          </a:p>
        </p:txBody>
      </p:sp>
      <p:sp>
        <p:nvSpPr>
          <p:cNvPr id="3" name="Text 1"/>
          <p:cNvSpPr/>
          <p:nvPr/>
        </p:nvSpPr>
        <p:spPr>
          <a:xfrm>
            <a:off x="365760" y="640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1100" b="1" kern="0" spc="3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AU" sz="1100" noProof="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28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Agenda</a:t>
            </a:r>
            <a:endParaRPr lang="en-AU" sz="2800" noProof="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09728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 noProof="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265176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 noProof="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265176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AU" noProof="0" dirty="0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AU" sz="2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AU" sz="2200" noProof="0" dirty="0"/>
          </a:p>
        </p:txBody>
      </p:sp>
      <p:sp>
        <p:nvSpPr>
          <p:cNvPr id="10" name="Text 8"/>
          <p:cNvSpPr/>
          <p:nvPr/>
        </p:nvSpPr>
        <p:spPr>
          <a:xfrm>
            <a:off x="594360" y="2542032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10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a Team Performance Plan</a:t>
            </a:r>
            <a:endParaRPr lang="en-AU" sz="1000" noProof="0" dirty="0"/>
          </a:p>
        </p:txBody>
      </p:sp>
      <p:sp>
        <p:nvSpPr>
          <p:cNvPr id="11" name="Shape 9"/>
          <p:cNvSpPr/>
          <p:nvPr/>
        </p:nvSpPr>
        <p:spPr>
          <a:xfrm>
            <a:off x="3291840" y="1554480"/>
            <a:ext cx="265176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 noProof="0" dirty="0"/>
          </a:p>
        </p:txBody>
      </p:sp>
      <p:sp>
        <p:nvSpPr>
          <p:cNvPr id="12" name="Shape 10"/>
          <p:cNvSpPr/>
          <p:nvPr/>
        </p:nvSpPr>
        <p:spPr>
          <a:xfrm>
            <a:off x="3291840" y="1554480"/>
            <a:ext cx="265176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 noProof="0" dirty="0"/>
          </a:p>
        </p:txBody>
      </p:sp>
      <p:sp>
        <p:nvSpPr>
          <p:cNvPr id="13" name="Text 11"/>
          <p:cNvSpPr/>
          <p:nvPr/>
        </p:nvSpPr>
        <p:spPr>
          <a:xfrm>
            <a:off x="3291840" y="15544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AU" sz="2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AU" sz="2200" noProof="0" dirty="0"/>
          </a:p>
        </p:txBody>
      </p:sp>
      <p:sp>
        <p:nvSpPr>
          <p:cNvPr id="15" name="Text 13"/>
          <p:cNvSpPr/>
          <p:nvPr/>
        </p:nvSpPr>
        <p:spPr>
          <a:xfrm>
            <a:off x="3429000" y="2542032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10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and Facilitate Team Cohesion</a:t>
            </a:r>
            <a:endParaRPr lang="en-AU" sz="1000" noProof="0" dirty="0"/>
          </a:p>
        </p:txBody>
      </p:sp>
      <p:sp>
        <p:nvSpPr>
          <p:cNvPr id="16" name="Shape 14"/>
          <p:cNvSpPr/>
          <p:nvPr/>
        </p:nvSpPr>
        <p:spPr>
          <a:xfrm>
            <a:off x="6126480" y="1554480"/>
            <a:ext cx="265176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 noProof="0" dirty="0"/>
          </a:p>
        </p:txBody>
      </p:sp>
      <p:sp>
        <p:nvSpPr>
          <p:cNvPr id="17" name="Shape 15"/>
          <p:cNvSpPr/>
          <p:nvPr/>
        </p:nvSpPr>
        <p:spPr>
          <a:xfrm>
            <a:off x="6126480" y="1554480"/>
            <a:ext cx="2651760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AU" noProof="0" dirty="0"/>
          </a:p>
        </p:txBody>
      </p:sp>
      <p:sp>
        <p:nvSpPr>
          <p:cNvPr id="18" name="Text 16"/>
          <p:cNvSpPr/>
          <p:nvPr/>
        </p:nvSpPr>
        <p:spPr>
          <a:xfrm>
            <a:off x="6126480" y="15544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AU" sz="2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AU" sz="2200" noProof="0" dirty="0"/>
          </a:p>
        </p:txBody>
      </p:sp>
      <p:sp>
        <p:nvSpPr>
          <p:cNvPr id="20" name="Text 18"/>
          <p:cNvSpPr/>
          <p:nvPr/>
        </p:nvSpPr>
        <p:spPr>
          <a:xfrm>
            <a:off x="6263640" y="2542032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10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Liaise with Stakeholders</a:t>
            </a:r>
            <a:endParaRPr lang="en-AU" sz="1000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AU" noProof="0" dirty="0"/>
          </a:p>
        </p:txBody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1300" b="1" kern="0" spc="500" noProof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1</a:t>
            </a:r>
            <a:endParaRPr lang="en-AU" sz="1300" noProof="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3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a Team</a:t>
            </a:r>
            <a:endParaRPr lang="en-AU" sz="3800" noProof="0" dirty="0"/>
          </a:p>
          <a:p>
            <a:pPr marL="0" indent="0">
              <a:buNone/>
            </a:pPr>
            <a:r>
              <a:rPr lang="en-AU" sz="3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Plan</a:t>
            </a:r>
            <a:endParaRPr lang="en-AU" sz="3800" noProof="0" dirty="0"/>
          </a:p>
        </p:txBody>
      </p:sp>
      <p:sp>
        <p:nvSpPr>
          <p:cNvPr id="6" name="Text 4"/>
          <p:cNvSpPr/>
          <p:nvPr/>
        </p:nvSpPr>
        <p:spPr>
          <a:xfrm>
            <a:off x="548640" y="42062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11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Worlducation I+D</a:t>
            </a:r>
            <a:endParaRPr lang="en-AU" sz="1100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 noProof="0" dirty="0"/>
          </a:p>
        </p:txBody>
      </p:sp>
      <p:sp>
        <p:nvSpPr>
          <p:cNvPr id="3" name="Text 1"/>
          <p:cNvSpPr/>
          <p:nvPr/>
        </p:nvSpPr>
        <p:spPr>
          <a:xfrm>
            <a:off x="365760" y="640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1100" b="1" kern="0" spc="3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1 - TEAM PERFORMANCE PLAN</a:t>
            </a:r>
            <a:endParaRPr lang="en-AU" sz="1100" noProof="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28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Composition &amp; Roles</a:t>
            </a:r>
            <a:endParaRPr lang="en-AU" sz="2800" noProof="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09728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 noProof="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20574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 noProof="0" dirty="0"/>
          </a:p>
        </p:txBody>
      </p:sp>
      <p:sp>
        <p:nvSpPr>
          <p:cNvPr id="7" name="Shape 5"/>
          <p:cNvSpPr/>
          <p:nvPr/>
        </p:nvSpPr>
        <p:spPr>
          <a:xfrm>
            <a:off x="274320" y="1508760"/>
            <a:ext cx="20574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AU" noProof="0" dirty="0"/>
          </a:p>
        </p:txBody>
      </p:sp>
      <p:sp>
        <p:nvSpPr>
          <p:cNvPr id="8" name="Text 6"/>
          <p:cNvSpPr/>
          <p:nvPr/>
        </p:nvSpPr>
        <p:spPr>
          <a:xfrm>
            <a:off x="347472" y="202996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11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 Perez</a:t>
            </a:r>
            <a:endParaRPr lang="en-AU" sz="1100" noProof="0" dirty="0"/>
          </a:p>
        </p:txBody>
      </p:sp>
      <p:sp>
        <p:nvSpPr>
          <p:cNvPr id="9" name="Text 7"/>
          <p:cNvSpPr/>
          <p:nvPr/>
        </p:nvSpPr>
        <p:spPr>
          <a:xfrm>
            <a:off x="347472" y="23774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95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Manager I+D</a:t>
            </a:r>
            <a:endParaRPr lang="en-AU" sz="950" noProof="0" dirty="0"/>
          </a:p>
        </p:txBody>
      </p:sp>
      <p:sp>
        <p:nvSpPr>
          <p:cNvPr id="10" name="Shape 8"/>
          <p:cNvSpPr/>
          <p:nvPr/>
        </p:nvSpPr>
        <p:spPr>
          <a:xfrm>
            <a:off x="347472" y="2670048"/>
            <a:ext cx="1874520" cy="27432"/>
          </a:xfrm>
          <a:prstGeom prst="rect">
            <a:avLst/>
          </a:prstGeom>
          <a:solidFill>
            <a:srgbClr val="D0E4EA"/>
          </a:solidFill>
          <a:ln w="12700">
            <a:solidFill>
              <a:srgbClr val="D0E4EA"/>
            </a:solidFill>
            <a:prstDash val="solid"/>
          </a:ln>
        </p:spPr>
        <p:txBody>
          <a:bodyPr/>
          <a:lstStyle/>
          <a:p>
            <a:endParaRPr lang="en-AU" noProof="0" dirty="0"/>
          </a:p>
        </p:txBody>
      </p:sp>
      <p:sp>
        <p:nvSpPr>
          <p:cNvPr id="11" name="Text 9"/>
          <p:cNvSpPr/>
          <p:nvPr/>
        </p:nvSpPr>
        <p:spPr>
          <a:xfrm>
            <a:off x="347472" y="27157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85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to: CEO - Lucas Lopez</a:t>
            </a:r>
            <a:endParaRPr lang="en-AU" sz="850" noProof="0" dirty="0"/>
          </a:p>
        </p:txBody>
      </p:sp>
      <p:sp>
        <p:nvSpPr>
          <p:cNvPr id="12" name="Text 10"/>
          <p:cNvSpPr/>
          <p:nvPr/>
        </p:nvSpPr>
        <p:spPr>
          <a:xfrm>
            <a:off x="347472" y="3017520"/>
            <a:ext cx="1920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9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years IT banking. Technical Consultant &amp; Business Analyst. Leads Cloud-First SaaS project.</a:t>
            </a:r>
            <a:endParaRPr lang="en-AU" sz="900" noProof="0" dirty="0"/>
          </a:p>
        </p:txBody>
      </p:sp>
      <p:sp>
        <p:nvSpPr>
          <p:cNvPr id="13" name="Shape 11"/>
          <p:cNvSpPr/>
          <p:nvPr/>
        </p:nvSpPr>
        <p:spPr>
          <a:xfrm>
            <a:off x="2450592" y="1508760"/>
            <a:ext cx="20574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 noProof="0" dirty="0"/>
          </a:p>
        </p:txBody>
      </p:sp>
      <p:sp>
        <p:nvSpPr>
          <p:cNvPr id="14" name="Shape 12"/>
          <p:cNvSpPr/>
          <p:nvPr/>
        </p:nvSpPr>
        <p:spPr>
          <a:xfrm>
            <a:off x="2450592" y="1508760"/>
            <a:ext cx="205740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 noProof="0" dirty="0"/>
          </a:p>
        </p:txBody>
      </p:sp>
      <p:sp>
        <p:nvSpPr>
          <p:cNvPr id="15" name="Text 13"/>
          <p:cNvSpPr/>
          <p:nvPr/>
        </p:nvSpPr>
        <p:spPr>
          <a:xfrm>
            <a:off x="2523744" y="202996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11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 Hyland</a:t>
            </a:r>
            <a:endParaRPr lang="en-AU" sz="1100" noProof="0" dirty="0"/>
          </a:p>
        </p:txBody>
      </p:sp>
      <p:sp>
        <p:nvSpPr>
          <p:cNvPr id="16" name="Text 14"/>
          <p:cNvSpPr/>
          <p:nvPr/>
        </p:nvSpPr>
        <p:spPr>
          <a:xfrm>
            <a:off x="2523744" y="23774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950" b="1" noProof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Manager</a:t>
            </a:r>
            <a:endParaRPr lang="en-AU" sz="950" noProof="0" dirty="0"/>
          </a:p>
        </p:txBody>
      </p:sp>
      <p:sp>
        <p:nvSpPr>
          <p:cNvPr id="17" name="Shape 15"/>
          <p:cNvSpPr/>
          <p:nvPr/>
        </p:nvSpPr>
        <p:spPr>
          <a:xfrm>
            <a:off x="2523744" y="2670048"/>
            <a:ext cx="1874520" cy="27432"/>
          </a:xfrm>
          <a:prstGeom prst="rect">
            <a:avLst/>
          </a:prstGeom>
          <a:solidFill>
            <a:srgbClr val="D0E4EA"/>
          </a:solidFill>
          <a:ln w="12700">
            <a:solidFill>
              <a:srgbClr val="D0E4EA"/>
            </a:solidFill>
            <a:prstDash val="solid"/>
          </a:ln>
        </p:spPr>
        <p:txBody>
          <a:bodyPr/>
          <a:lstStyle/>
          <a:p>
            <a:endParaRPr lang="en-AU" noProof="0" dirty="0"/>
          </a:p>
        </p:txBody>
      </p:sp>
      <p:sp>
        <p:nvSpPr>
          <p:cNvPr id="18" name="Text 16"/>
          <p:cNvSpPr/>
          <p:nvPr/>
        </p:nvSpPr>
        <p:spPr>
          <a:xfrm>
            <a:off x="2523744" y="27157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85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to: CEO - Lucas Lopez</a:t>
            </a:r>
            <a:endParaRPr lang="en-AU" sz="850" noProof="0" dirty="0"/>
          </a:p>
        </p:txBody>
      </p:sp>
      <p:sp>
        <p:nvSpPr>
          <p:cNvPr id="19" name="Text 17"/>
          <p:cNvSpPr/>
          <p:nvPr/>
        </p:nvSpPr>
        <p:spPr>
          <a:xfrm>
            <a:off x="2523744" y="3017520"/>
            <a:ext cx="1920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9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years IT. Completing Master of IT. Leads cloud infrastructure &amp; cybersecurity.</a:t>
            </a:r>
            <a:endParaRPr lang="en-AU" sz="900" noProof="0" dirty="0"/>
          </a:p>
        </p:txBody>
      </p:sp>
      <p:sp>
        <p:nvSpPr>
          <p:cNvPr id="20" name="Shape 18"/>
          <p:cNvSpPr/>
          <p:nvPr/>
        </p:nvSpPr>
        <p:spPr>
          <a:xfrm>
            <a:off x="4626864" y="1508760"/>
            <a:ext cx="20574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 noProof="0" dirty="0"/>
          </a:p>
        </p:txBody>
      </p:sp>
      <p:sp>
        <p:nvSpPr>
          <p:cNvPr id="21" name="Shape 19"/>
          <p:cNvSpPr/>
          <p:nvPr/>
        </p:nvSpPr>
        <p:spPr>
          <a:xfrm>
            <a:off x="4626864" y="1508760"/>
            <a:ext cx="205740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 noProof="0" dirty="0"/>
          </a:p>
        </p:txBody>
      </p:sp>
      <p:sp>
        <p:nvSpPr>
          <p:cNvPr id="22" name="Text 20"/>
          <p:cNvSpPr/>
          <p:nvPr/>
        </p:nvSpPr>
        <p:spPr>
          <a:xfrm>
            <a:off x="4700016" y="202996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11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Helen Hunt</a:t>
            </a:r>
            <a:endParaRPr lang="en-AU" sz="1100" noProof="0" dirty="0"/>
          </a:p>
        </p:txBody>
      </p:sp>
      <p:sp>
        <p:nvSpPr>
          <p:cNvPr id="23" name="Text 21"/>
          <p:cNvSpPr/>
          <p:nvPr/>
        </p:nvSpPr>
        <p:spPr>
          <a:xfrm>
            <a:off x="4700016" y="23774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950" b="1" noProof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Support Officer</a:t>
            </a:r>
            <a:endParaRPr lang="en-AU" sz="950" noProof="0" dirty="0"/>
          </a:p>
        </p:txBody>
      </p:sp>
      <p:sp>
        <p:nvSpPr>
          <p:cNvPr id="24" name="Shape 22"/>
          <p:cNvSpPr/>
          <p:nvPr/>
        </p:nvSpPr>
        <p:spPr>
          <a:xfrm>
            <a:off x="4700016" y="2670048"/>
            <a:ext cx="1874520" cy="27432"/>
          </a:xfrm>
          <a:prstGeom prst="rect">
            <a:avLst/>
          </a:prstGeom>
          <a:solidFill>
            <a:srgbClr val="D0E4EA"/>
          </a:solidFill>
          <a:ln w="12700">
            <a:solidFill>
              <a:srgbClr val="D0E4EA"/>
            </a:solidFill>
            <a:prstDash val="solid"/>
          </a:ln>
        </p:spPr>
        <p:txBody>
          <a:bodyPr/>
          <a:lstStyle/>
          <a:p>
            <a:endParaRPr lang="en-AU" noProof="0" dirty="0"/>
          </a:p>
        </p:txBody>
      </p:sp>
      <p:sp>
        <p:nvSpPr>
          <p:cNvPr id="25" name="Text 23"/>
          <p:cNvSpPr/>
          <p:nvPr/>
        </p:nvSpPr>
        <p:spPr>
          <a:xfrm>
            <a:off x="4700016" y="27157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85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to: IT Manager I+D</a:t>
            </a:r>
            <a:endParaRPr lang="en-AU" sz="850" noProof="0" dirty="0"/>
          </a:p>
        </p:txBody>
      </p:sp>
      <p:sp>
        <p:nvSpPr>
          <p:cNvPr id="26" name="Text 24"/>
          <p:cNvSpPr/>
          <p:nvPr/>
        </p:nvSpPr>
        <p:spPr>
          <a:xfrm>
            <a:off x="4700016" y="3017520"/>
            <a:ext cx="1920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9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years IT support. Completing Bachelor of IT. Leads SaaS platform development &amp; testing.</a:t>
            </a:r>
            <a:endParaRPr lang="en-AU" sz="900" noProof="0" dirty="0"/>
          </a:p>
        </p:txBody>
      </p:sp>
      <p:sp>
        <p:nvSpPr>
          <p:cNvPr id="27" name="Shape 25"/>
          <p:cNvSpPr/>
          <p:nvPr/>
        </p:nvSpPr>
        <p:spPr>
          <a:xfrm>
            <a:off x="6803136" y="1508760"/>
            <a:ext cx="20574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 noProof="0" dirty="0"/>
          </a:p>
        </p:txBody>
      </p:sp>
      <p:sp>
        <p:nvSpPr>
          <p:cNvPr id="28" name="Shape 26"/>
          <p:cNvSpPr/>
          <p:nvPr/>
        </p:nvSpPr>
        <p:spPr>
          <a:xfrm>
            <a:off x="6803136" y="1508760"/>
            <a:ext cx="2057400" cy="4572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AU" noProof="0" dirty="0"/>
          </a:p>
        </p:txBody>
      </p:sp>
      <p:sp>
        <p:nvSpPr>
          <p:cNvPr id="29" name="Text 27"/>
          <p:cNvSpPr/>
          <p:nvPr/>
        </p:nvSpPr>
        <p:spPr>
          <a:xfrm>
            <a:off x="6876288" y="202996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11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Hayley Hill</a:t>
            </a:r>
            <a:endParaRPr lang="en-AU" sz="1100" noProof="0" dirty="0"/>
          </a:p>
        </p:txBody>
      </p:sp>
      <p:sp>
        <p:nvSpPr>
          <p:cNvPr id="30" name="Text 28"/>
          <p:cNvSpPr/>
          <p:nvPr/>
        </p:nvSpPr>
        <p:spPr>
          <a:xfrm>
            <a:off x="6876288" y="23774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950" b="1" noProof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Desk Officer</a:t>
            </a:r>
            <a:endParaRPr lang="en-AU" sz="950" noProof="0" dirty="0"/>
          </a:p>
        </p:txBody>
      </p:sp>
      <p:sp>
        <p:nvSpPr>
          <p:cNvPr id="31" name="Shape 29"/>
          <p:cNvSpPr/>
          <p:nvPr/>
        </p:nvSpPr>
        <p:spPr>
          <a:xfrm>
            <a:off x="6876288" y="2670048"/>
            <a:ext cx="1874520" cy="27432"/>
          </a:xfrm>
          <a:prstGeom prst="rect">
            <a:avLst/>
          </a:prstGeom>
          <a:solidFill>
            <a:srgbClr val="D0E4EA"/>
          </a:solidFill>
          <a:ln w="12700">
            <a:solidFill>
              <a:srgbClr val="D0E4EA"/>
            </a:solidFill>
            <a:prstDash val="solid"/>
          </a:ln>
        </p:spPr>
        <p:txBody>
          <a:bodyPr/>
          <a:lstStyle/>
          <a:p>
            <a:endParaRPr lang="en-AU" noProof="0" dirty="0"/>
          </a:p>
        </p:txBody>
      </p:sp>
      <p:sp>
        <p:nvSpPr>
          <p:cNvPr id="32" name="Text 30"/>
          <p:cNvSpPr/>
          <p:nvPr/>
        </p:nvSpPr>
        <p:spPr>
          <a:xfrm>
            <a:off x="6876288" y="27157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85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to: IT Manager I+D</a:t>
            </a:r>
            <a:endParaRPr lang="en-AU" sz="850" noProof="0" dirty="0"/>
          </a:p>
        </p:txBody>
      </p:sp>
      <p:sp>
        <p:nvSpPr>
          <p:cNvPr id="33" name="Text 31"/>
          <p:cNvSpPr/>
          <p:nvPr/>
        </p:nvSpPr>
        <p:spPr>
          <a:xfrm>
            <a:off x="6876288" y="3017520"/>
            <a:ext cx="1920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9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&amp; customer service background. Leads helpdesk redesign &amp; staff training.</a:t>
            </a:r>
            <a:endParaRPr lang="en-AU" sz="900" noProof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 noProof="0" dirty="0"/>
          </a:p>
        </p:txBody>
      </p:sp>
      <p:sp>
        <p:nvSpPr>
          <p:cNvPr id="3" name="Text 1"/>
          <p:cNvSpPr/>
          <p:nvPr/>
        </p:nvSpPr>
        <p:spPr>
          <a:xfrm>
            <a:off x="365760" y="640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1100" b="1" kern="0" spc="3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1 - TEAM PERFORMANCE PLAN</a:t>
            </a:r>
            <a:endParaRPr lang="en-AU" sz="1100" noProof="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28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&amp; Strategic Alignment</a:t>
            </a:r>
            <a:endParaRPr lang="en-AU" sz="2800" noProof="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09728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 noProof="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40233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 noProof="0" dirty="0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64008" cy="1371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 noProof="0" dirty="0"/>
          </a:p>
        </p:txBody>
      </p:sp>
      <p:sp>
        <p:nvSpPr>
          <p:cNvPr id="8" name="Text 6"/>
          <p:cNvSpPr/>
          <p:nvPr/>
        </p:nvSpPr>
        <p:spPr>
          <a:xfrm>
            <a:off x="530352" y="161848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11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Profitability</a:t>
            </a:r>
            <a:endParaRPr lang="en-AU" sz="1100" noProof="0" dirty="0"/>
          </a:p>
        </p:txBody>
      </p:sp>
      <p:sp>
        <p:nvSpPr>
          <p:cNvPr id="9" name="Text 7"/>
          <p:cNvSpPr/>
          <p:nvPr/>
        </p:nvSpPr>
        <p:spPr>
          <a:xfrm>
            <a:off x="530352" y="194767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10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 10% net profit margin through cloud-based SaaS model, eliminating hardware cost dependency.</a:t>
            </a:r>
            <a:endParaRPr lang="en-AU" sz="1000" noProof="0" dirty="0"/>
          </a:p>
        </p:txBody>
      </p:sp>
      <p:sp>
        <p:nvSpPr>
          <p:cNvPr id="10" name="Shape 8"/>
          <p:cNvSpPr/>
          <p:nvPr/>
        </p:nvSpPr>
        <p:spPr>
          <a:xfrm>
            <a:off x="4663440" y="1508760"/>
            <a:ext cx="40233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 noProof="0" dirty="0"/>
          </a:p>
        </p:txBody>
      </p:sp>
      <p:sp>
        <p:nvSpPr>
          <p:cNvPr id="11" name="Shape 9"/>
          <p:cNvSpPr/>
          <p:nvPr/>
        </p:nvSpPr>
        <p:spPr>
          <a:xfrm>
            <a:off x="4663440" y="1508760"/>
            <a:ext cx="64008" cy="1371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 noProof="0" dirty="0"/>
          </a:p>
        </p:txBody>
      </p:sp>
      <p:sp>
        <p:nvSpPr>
          <p:cNvPr id="12" name="Text 10"/>
          <p:cNvSpPr/>
          <p:nvPr/>
        </p:nvSpPr>
        <p:spPr>
          <a:xfrm>
            <a:off x="4828032" y="161848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11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Reach</a:t>
            </a:r>
            <a:endParaRPr lang="en-AU" sz="1100" noProof="0" dirty="0"/>
          </a:p>
        </p:txBody>
      </p:sp>
      <p:sp>
        <p:nvSpPr>
          <p:cNvPr id="13" name="Text 11"/>
          <p:cNvSpPr/>
          <p:nvPr/>
        </p:nvSpPr>
        <p:spPr>
          <a:xfrm>
            <a:off x="4828032" y="194767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10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from B2B to B2C, allowing individual consumers to subscribe directly to educational software.</a:t>
            </a:r>
            <a:endParaRPr lang="en-AU" sz="1000" noProof="0" dirty="0"/>
          </a:p>
        </p:txBody>
      </p:sp>
      <p:sp>
        <p:nvSpPr>
          <p:cNvPr id="14" name="Shape 12"/>
          <p:cNvSpPr/>
          <p:nvPr/>
        </p:nvSpPr>
        <p:spPr>
          <a:xfrm>
            <a:off x="365760" y="3063240"/>
            <a:ext cx="40233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 noProof="0" dirty="0"/>
          </a:p>
        </p:txBody>
      </p:sp>
      <p:sp>
        <p:nvSpPr>
          <p:cNvPr id="15" name="Shape 13"/>
          <p:cNvSpPr/>
          <p:nvPr/>
        </p:nvSpPr>
        <p:spPr>
          <a:xfrm>
            <a:off x="365760" y="3063240"/>
            <a:ext cx="64008" cy="1371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 noProof="0" dirty="0"/>
          </a:p>
        </p:txBody>
      </p:sp>
      <p:sp>
        <p:nvSpPr>
          <p:cNvPr id="16" name="Text 14"/>
          <p:cNvSpPr/>
          <p:nvPr/>
        </p:nvSpPr>
        <p:spPr>
          <a:xfrm>
            <a:off x="530352" y="317296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11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</a:t>
            </a:r>
            <a:endParaRPr lang="en-AU" sz="1100" noProof="0" dirty="0"/>
          </a:p>
        </p:txBody>
      </p:sp>
      <p:sp>
        <p:nvSpPr>
          <p:cNvPr id="17" name="Text 15"/>
          <p:cNvSpPr/>
          <p:nvPr/>
        </p:nvSpPr>
        <p:spPr>
          <a:xfrm>
            <a:off x="530352" y="350215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10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cloud updates keep the product competitive and aligned with evolving customer demands.</a:t>
            </a:r>
            <a:endParaRPr lang="en-AU" sz="1000" noProof="0" dirty="0"/>
          </a:p>
        </p:txBody>
      </p:sp>
      <p:sp>
        <p:nvSpPr>
          <p:cNvPr id="18" name="Shape 16"/>
          <p:cNvSpPr/>
          <p:nvPr/>
        </p:nvSpPr>
        <p:spPr>
          <a:xfrm>
            <a:off x="4663440" y="3063240"/>
            <a:ext cx="40233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 noProof="0" dirty="0"/>
          </a:p>
        </p:txBody>
      </p:sp>
      <p:sp>
        <p:nvSpPr>
          <p:cNvPr id="19" name="Shape 17"/>
          <p:cNvSpPr/>
          <p:nvPr/>
        </p:nvSpPr>
        <p:spPr>
          <a:xfrm>
            <a:off x="4663440" y="3063240"/>
            <a:ext cx="64008" cy="1371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 noProof="0" dirty="0"/>
          </a:p>
        </p:txBody>
      </p:sp>
      <p:sp>
        <p:nvSpPr>
          <p:cNvPr id="20" name="Text 18"/>
          <p:cNvSpPr/>
          <p:nvPr/>
        </p:nvSpPr>
        <p:spPr>
          <a:xfrm>
            <a:off x="4828032" y="317296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11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&amp; People</a:t>
            </a:r>
            <a:endParaRPr lang="en-AU" sz="1100" noProof="0" dirty="0"/>
          </a:p>
        </p:txBody>
      </p:sp>
      <p:sp>
        <p:nvSpPr>
          <p:cNvPr id="21" name="Text 19"/>
          <p:cNvSpPr/>
          <p:nvPr/>
        </p:nvSpPr>
        <p:spPr>
          <a:xfrm>
            <a:off x="4828032" y="350215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10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internal cloud capabilities and upskill staff, positioning Worlducation as a technology-driven organisation.</a:t>
            </a:r>
            <a:endParaRPr lang="en-AU" sz="1000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 noProof="0" dirty="0"/>
          </a:p>
        </p:txBody>
      </p:sp>
      <p:sp>
        <p:nvSpPr>
          <p:cNvPr id="3" name="Text 1"/>
          <p:cNvSpPr/>
          <p:nvPr/>
        </p:nvSpPr>
        <p:spPr>
          <a:xfrm>
            <a:off x="365760" y="640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1100" b="1" kern="0" spc="3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1 - TEAM PERFORMANCE PLAN</a:t>
            </a:r>
            <a:endParaRPr lang="en-AU" sz="1100" noProof="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28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Allocation &amp; KPIs</a:t>
            </a:r>
            <a:endParaRPr lang="en-AU" sz="2800" noProof="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09728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 noProof="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1951422"/>
              </p:ext>
            </p:extLst>
          </p:nvPr>
        </p:nvGraphicFramePr>
        <p:xfrm>
          <a:off x="274320" y="1508760"/>
          <a:ext cx="8595360" cy="283464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AU" sz="10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Member</a:t>
                      </a:r>
                      <a:endParaRPr lang="en-AU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AU" sz="10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AU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AU" sz="10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Timeline</a:t>
                      </a:r>
                      <a:endParaRPr lang="en-AU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AU" sz="10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 1</a:t>
                      </a:r>
                      <a:endParaRPr lang="en-AU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AU" sz="10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 2</a:t>
                      </a:r>
                      <a:endParaRPr lang="en-AU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AU" sz="900" noProof="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Manuel Perez</a:t>
                      </a:r>
                      <a:endParaRPr lang="en-AU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AU" sz="900" noProof="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Oversight &amp; ERP</a:t>
                      </a:r>
                      <a:endParaRPr lang="en-AU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AU" sz="900" noProof="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Mar–Dec 21</a:t>
                      </a:r>
                      <a:endParaRPr lang="en-AU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AU" sz="900" noProof="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ERP integrated, zero critical errors by Sep 2021</a:t>
                      </a:r>
                      <a:endParaRPr lang="en-AU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AU" sz="900" noProof="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CEO reports, 100% milestones tracked</a:t>
                      </a:r>
                      <a:endParaRPr lang="en-AU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AU" sz="900" noProof="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 Hyland</a:t>
                      </a:r>
                      <a:endParaRPr lang="en-AU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AU" sz="900" noProof="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Infra &amp; Cybersecurity</a:t>
                      </a:r>
                      <a:endParaRPr lang="en-AU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AU" sz="900" noProof="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Mar–Sep 21</a:t>
                      </a:r>
                      <a:endParaRPr lang="en-AU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AU" sz="900" noProof="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deployed within $2M budget by Jun 2021</a:t>
                      </a:r>
                      <a:endParaRPr lang="en-AU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AU" sz="900" noProof="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Cybersecurity compliant with Privacy Act by Sep 2021</a:t>
                      </a:r>
                      <a:endParaRPr lang="en-AU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AU" sz="900" noProof="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Helen Hunt</a:t>
                      </a:r>
                      <a:endParaRPr lang="en-AU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AU" sz="900" noProof="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SaaS Dev &amp; Testing</a:t>
                      </a:r>
                      <a:endParaRPr lang="en-AU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AU" sz="900" noProof="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Apr–Oct 21</a:t>
                      </a:r>
                      <a:endParaRPr lang="en-AU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AU" sz="900" noProof="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B2B unaffected during migration by Aug 2021</a:t>
                      </a:r>
                      <a:endParaRPr lang="en-AU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AU" sz="900" noProof="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QA testing &lt;2% error rate by Oct 2021</a:t>
                      </a:r>
                      <a:endParaRPr lang="en-AU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AU" sz="900" noProof="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Hayley Hill</a:t>
                      </a:r>
                      <a:endParaRPr lang="en-AU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AU" sz="900" noProof="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Helpdesk &amp; Training</a:t>
                      </a:r>
                      <a:endParaRPr lang="en-AU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AU" sz="900" noProof="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May–Nov 21</a:t>
                      </a:r>
                      <a:endParaRPr lang="en-AU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AU" sz="900" noProof="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B2C helpdesk with 24hr response by Aug 2021</a:t>
                      </a:r>
                      <a:endParaRPr lang="en-AU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AU" sz="900" noProof="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staff trained before go-live Oct 2021</a:t>
                      </a:r>
                      <a:endParaRPr lang="en-AU" sz="9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1300" b="1" kern="0" spc="500" noProof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2</a:t>
            </a:r>
            <a:endParaRPr lang="en-AU" sz="13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36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and Facilitate</a:t>
            </a:r>
            <a:endParaRPr lang="en-AU" sz="3600" noProof="0" dirty="0"/>
          </a:p>
          <a:p>
            <a:pPr marL="0" indent="0">
              <a:buNone/>
            </a:pPr>
            <a:r>
              <a:rPr lang="en-AU" sz="36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Cohesion</a:t>
            </a:r>
            <a:endParaRPr lang="en-AU" sz="3600" noProof="0" dirty="0"/>
          </a:p>
        </p:txBody>
      </p:sp>
      <p:sp>
        <p:nvSpPr>
          <p:cNvPr id="5" name="Text 3"/>
          <p:cNvSpPr/>
          <p:nvPr/>
        </p:nvSpPr>
        <p:spPr>
          <a:xfrm>
            <a:off x="548640" y="42062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11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Use Policy  |  Issues &amp; Feedback  |  Collaboration Tools</a:t>
            </a:r>
            <a:endParaRPr lang="en-AU" sz="1100" noProof="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 noProof="0" dirty="0"/>
          </a:p>
        </p:txBody>
      </p:sp>
      <p:sp>
        <p:nvSpPr>
          <p:cNvPr id="3" name="Text 1"/>
          <p:cNvSpPr/>
          <p:nvPr/>
        </p:nvSpPr>
        <p:spPr>
          <a:xfrm>
            <a:off x="365760" y="640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1100" b="1" kern="0" spc="3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2 - TEAM COHESION</a:t>
            </a:r>
            <a:endParaRPr lang="en-AU" sz="1100" noProof="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28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Identified - Risks to Project Delivery</a:t>
            </a:r>
            <a:endParaRPr lang="en-AU" sz="2800" noProof="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09728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 noProof="0" dirty="0"/>
          </a:p>
        </p:txBody>
      </p:sp>
      <p:sp>
        <p:nvSpPr>
          <p:cNvPr id="6" name="Shape 4"/>
          <p:cNvSpPr/>
          <p:nvPr/>
        </p:nvSpPr>
        <p:spPr>
          <a:xfrm>
            <a:off x="320040" y="1508760"/>
            <a:ext cx="850392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 noProof="0" dirty="0"/>
          </a:p>
        </p:txBody>
      </p:sp>
      <p:sp>
        <p:nvSpPr>
          <p:cNvPr id="7" name="Shape 5"/>
          <p:cNvSpPr/>
          <p:nvPr/>
        </p:nvSpPr>
        <p:spPr>
          <a:xfrm>
            <a:off x="320040" y="1508760"/>
            <a:ext cx="77724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AU" noProof="0" dirty="0"/>
          </a:p>
        </p:txBody>
      </p:sp>
      <p:sp>
        <p:nvSpPr>
          <p:cNvPr id="8" name="Text 6"/>
          <p:cNvSpPr/>
          <p:nvPr/>
        </p:nvSpPr>
        <p:spPr>
          <a:xfrm>
            <a:off x="320040" y="1508760"/>
            <a:ext cx="777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AU" sz="2000" b="1" noProof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AU" sz="2000" noProof="0" dirty="0"/>
          </a:p>
        </p:txBody>
      </p:sp>
      <p:sp>
        <p:nvSpPr>
          <p:cNvPr id="9" name="Text 7"/>
          <p:cNvSpPr/>
          <p:nvPr/>
        </p:nvSpPr>
        <p:spPr>
          <a:xfrm>
            <a:off x="1188720" y="157276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12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Information Sharing</a:t>
            </a:r>
            <a:endParaRPr lang="en-AU" sz="1200" noProof="0" dirty="0"/>
          </a:p>
        </p:txBody>
      </p:sp>
      <p:sp>
        <p:nvSpPr>
          <p:cNvPr id="10" name="Text 8"/>
          <p:cNvSpPr/>
          <p:nvPr/>
        </p:nvSpPr>
        <p:spPr>
          <a:xfrm>
            <a:off x="1188720" y="18745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95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 not sharing progress updates, causing work duplication between Helen Hunt and Hal Hyland during the cloud infrastructure testing phase.</a:t>
            </a:r>
            <a:endParaRPr lang="en-AU" sz="950" noProof="0" dirty="0"/>
          </a:p>
        </p:txBody>
      </p:sp>
      <p:sp>
        <p:nvSpPr>
          <p:cNvPr id="11" name="Shape 9"/>
          <p:cNvSpPr/>
          <p:nvPr/>
        </p:nvSpPr>
        <p:spPr>
          <a:xfrm>
            <a:off x="6355080" y="1508760"/>
            <a:ext cx="2468880" cy="1005840"/>
          </a:xfrm>
          <a:prstGeom prst="rect">
            <a:avLst/>
          </a:prstGeom>
          <a:solidFill>
            <a:srgbClr val="EAF4F6"/>
          </a:solidFill>
          <a:ln w="6350">
            <a:solidFill>
              <a:srgbClr val="D0E4EA"/>
            </a:solidFill>
            <a:prstDash val="solid"/>
          </a:ln>
        </p:spPr>
        <p:txBody>
          <a:bodyPr/>
          <a:lstStyle/>
          <a:p>
            <a:endParaRPr lang="en-AU" noProof="0" dirty="0"/>
          </a:p>
        </p:txBody>
      </p:sp>
      <p:sp>
        <p:nvSpPr>
          <p:cNvPr id="12" name="Text 10"/>
          <p:cNvSpPr/>
          <p:nvPr/>
        </p:nvSpPr>
        <p:spPr>
          <a:xfrm>
            <a:off x="6400800" y="150876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AU" sz="950" b="1" noProof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Delayed go-live &amp; increased costs</a:t>
            </a:r>
            <a:endParaRPr lang="en-AU" sz="950" noProof="0" dirty="0"/>
          </a:p>
        </p:txBody>
      </p:sp>
      <p:sp>
        <p:nvSpPr>
          <p:cNvPr id="13" name="Shape 11"/>
          <p:cNvSpPr/>
          <p:nvPr/>
        </p:nvSpPr>
        <p:spPr>
          <a:xfrm>
            <a:off x="320040" y="2624328"/>
            <a:ext cx="850392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 noProof="0" dirty="0"/>
          </a:p>
        </p:txBody>
      </p:sp>
      <p:sp>
        <p:nvSpPr>
          <p:cNvPr id="14" name="Shape 12"/>
          <p:cNvSpPr/>
          <p:nvPr/>
        </p:nvSpPr>
        <p:spPr>
          <a:xfrm>
            <a:off x="320040" y="2624328"/>
            <a:ext cx="77724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AU" noProof="0" dirty="0"/>
          </a:p>
        </p:txBody>
      </p:sp>
      <p:sp>
        <p:nvSpPr>
          <p:cNvPr id="15" name="Text 13"/>
          <p:cNvSpPr/>
          <p:nvPr/>
        </p:nvSpPr>
        <p:spPr>
          <a:xfrm>
            <a:off x="320040" y="2624328"/>
            <a:ext cx="777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AU" sz="2000" b="1" noProof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AU" sz="2000" noProof="0" dirty="0"/>
          </a:p>
        </p:txBody>
      </p:sp>
      <p:sp>
        <p:nvSpPr>
          <p:cNvPr id="16" name="Text 14"/>
          <p:cNvSpPr/>
          <p:nvPr/>
        </p:nvSpPr>
        <p:spPr>
          <a:xfrm>
            <a:off x="1188720" y="268833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12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Inappropriate Internet Use</a:t>
            </a:r>
            <a:endParaRPr lang="en-AU" sz="1200" noProof="0" dirty="0"/>
          </a:p>
        </p:txBody>
      </p:sp>
      <p:sp>
        <p:nvSpPr>
          <p:cNvPr id="17" name="Text 15"/>
          <p:cNvSpPr/>
          <p:nvPr/>
        </p:nvSpPr>
        <p:spPr>
          <a:xfrm>
            <a:off x="1188720" y="299008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95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team member was using the internet for personal purposes during work hours, creating cybersecurity risk and team morale issues.</a:t>
            </a:r>
            <a:endParaRPr lang="en-AU" sz="950" noProof="0" dirty="0"/>
          </a:p>
        </p:txBody>
      </p:sp>
      <p:sp>
        <p:nvSpPr>
          <p:cNvPr id="18" name="Shape 16"/>
          <p:cNvSpPr/>
          <p:nvPr/>
        </p:nvSpPr>
        <p:spPr>
          <a:xfrm>
            <a:off x="6355080" y="2624328"/>
            <a:ext cx="2468880" cy="1005840"/>
          </a:xfrm>
          <a:prstGeom prst="rect">
            <a:avLst/>
          </a:prstGeom>
          <a:solidFill>
            <a:srgbClr val="EAF4F6"/>
          </a:solidFill>
          <a:ln w="6350">
            <a:solidFill>
              <a:srgbClr val="D0E4EA"/>
            </a:solidFill>
            <a:prstDash val="solid"/>
          </a:ln>
        </p:spPr>
        <p:txBody>
          <a:bodyPr/>
          <a:lstStyle/>
          <a:p>
            <a:endParaRPr lang="en-AU" noProof="0" dirty="0"/>
          </a:p>
        </p:txBody>
      </p:sp>
      <p:sp>
        <p:nvSpPr>
          <p:cNvPr id="19" name="Text 17"/>
          <p:cNvSpPr/>
          <p:nvPr/>
        </p:nvSpPr>
        <p:spPr>
          <a:xfrm>
            <a:off x="6400800" y="2624328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AU" sz="950" b="1" noProof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Security breach &amp; team tension</a:t>
            </a:r>
            <a:endParaRPr lang="en-AU" sz="950" noProof="0" dirty="0"/>
          </a:p>
        </p:txBody>
      </p:sp>
      <p:sp>
        <p:nvSpPr>
          <p:cNvPr id="20" name="Shape 18"/>
          <p:cNvSpPr/>
          <p:nvPr/>
        </p:nvSpPr>
        <p:spPr>
          <a:xfrm>
            <a:off x="320040" y="3739896"/>
            <a:ext cx="850392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 noProof="0" dirty="0"/>
          </a:p>
        </p:txBody>
      </p:sp>
      <p:sp>
        <p:nvSpPr>
          <p:cNvPr id="21" name="Shape 19"/>
          <p:cNvSpPr/>
          <p:nvPr/>
        </p:nvSpPr>
        <p:spPr>
          <a:xfrm>
            <a:off x="320040" y="3739896"/>
            <a:ext cx="77724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AU" noProof="0" dirty="0"/>
          </a:p>
        </p:txBody>
      </p:sp>
      <p:sp>
        <p:nvSpPr>
          <p:cNvPr id="22" name="Text 20"/>
          <p:cNvSpPr/>
          <p:nvPr/>
        </p:nvSpPr>
        <p:spPr>
          <a:xfrm>
            <a:off x="320040" y="3739896"/>
            <a:ext cx="777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AU" sz="2000" b="1" noProof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AU" sz="2000" noProof="0" dirty="0"/>
          </a:p>
        </p:txBody>
      </p:sp>
      <p:sp>
        <p:nvSpPr>
          <p:cNvPr id="23" name="Text 21"/>
          <p:cNvSpPr/>
          <p:nvPr/>
        </p:nvSpPr>
        <p:spPr>
          <a:xfrm>
            <a:off x="1188720" y="380390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12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Resistance to Cloud Adoption</a:t>
            </a:r>
            <a:endParaRPr lang="en-AU" sz="1200" noProof="0" dirty="0"/>
          </a:p>
        </p:txBody>
      </p:sp>
      <p:sp>
        <p:nvSpPr>
          <p:cNvPr id="24" name="Text 22"/>
          <p:cNvSpPr/>
          <p:nvPr/>
        </p:nvSpPr>
        <p:spPr>
          <a:xfrm>
            <a:off x="1188720" y="4105656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95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Experienced team members resisted cloud technologies, citing concerns about enterprise maturity, directly threatening the Cloud-First project timeline.</a:t>
            </a:r>
            <a:endParaRPr lang="en-AU" sz="950" noProof="0" dirty="0"/>
          </a:p>
        </p:txBody>
      </p:sp>
      <p:sp>
        <p:nvSpPr>
          <p:cNvPr id="25" name="Shape 23"/>
          <p:cNvSpPr/>
          <p:nvPr/>
        </p:nvSpPr>
        <p:spPr>
          <a:xfrm>
            <a:off x="6355080" y="3739896"/>
            <a:ext cx="2468880" cy="1005840"/>
          </a:xfrm>
          <a:prstGeom prst="rect">
            <a:avLst/>
          </a:prstGeom>
          <a:solidFill>
            <a:srgbClr val="EAF4F6"/>
          </a:solidFill>
          <a:ln w="6350">
            <a:solidFill>
              <a:srgbClr val="D0E4EA"/>
            </a:solidFill>
            <a:prstDash val="solid"/>
          </a:ln>
        </p:spPr>
        <p:txBody>
          <a:bodyPr/>
          <a:lstStyle/>
          <a:p>
            <a:endParaRPr lang="en-AU" noProof="0" dirty="0"/>
          </a:p>
        </p:txBody>
      </p:sp>
      <p:sp>
        <p:nvSpPr>
          <p:cNvPr id="26" name="Text 24"/>
          <p:cNvSpPr/>
          <p:nvPr/>
        </p:nvSpPr>
        <p:spPr>
          <a:xfrm>
            <a:off x="6400800" y="3739896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AU" sz="950" b="1" noProof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Sprint delays &amp; team friction</a:t>
            </a:r>
            <a:endParaRPr lang="en-AU" sz="950" noProof="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 noProof="0" dirty="0"/>
          </a:p>
        </p:txBody>
      </p:sp>
      <p:sp>
        <p:nvSpPr>
          <p:cNvPr id="3" name="Text 1"/>
          <p:cNvSpPr/>
          <p:nvPr/>
        </p:nvSpPr>
        <p:spPr>
          <a:xfrm>
            <a:off x="365760" y="640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1100" b="1" kern="0" spc="3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2 - TEAM COHESION</a:t>
            </a:r>
            <a:endParaRPr lang="en-AU" sz="1100" noProof="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28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 Implemented</a:t>
            </a:r>
            <a:endParaRPr lang="en-AU" sz="2800" noProof="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09728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 noProof="0" dirty="0"/>
          </a:p>
        </p:txBody>
      </p:sp>
      <p:sp>
        <p:nvSpPr>
          <p:cNvPr id="6" name="Shape 4"/>
          <p:cNvSpPr/>
          <p:nvPr/>
        </p:nvSpPr>
        <p:spPr>
          <a:xfrm>
            <a:off x="320040" y="1508760"/>
            <a:ext cx="411480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 noProof="0" dirty="0"/>
          </a:p>
        </p:txBody>
      </p:sp>
      <p:sp>
        <p:nvSpPr>
          <p:cNvPr id="7" name="Shape 5"/>
          <p:cNvSpPr/>
          <p:nvPr/>
        </p:nvSpPr>
        <p:spPr>
          <a:xfrm>
            <a:off x="320040" y="1508760"/>
            <a:ext cx="41148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 noProof="0" dirty="0"/>
          </a:p>
        </p:txBody>
      </p:sp>
      <p:sp>
        <p:nvSpPr>
          <p:cNvPr id="8" name="Text 6"/>
          <p:cNvSpPr/>
          <p:nvPr/>
        </p:nvSpPr>
        <p:spPr>
          <a:xfrm>
            <a:off x="484632" y="161848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11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Use Policy</a:t>
            </a:r>
            <a:endParaRPr lang="en-AU" sz="1100" noProof="0" dirty="0"/>
          </a:p>
        </p:txBody>
      </p:sp>
      <p:sp>
        <p:nvSpPr>
          <p:cNvPr id="9" name="Text 7"/>
          <p:cNvSpPr/>
          <p:nvPr/>
        </p:nvSpPr>
        <p:spPr>
          <a:xfrm>
            <a:off x="484632" y="1929384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95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from scratch aligned with Privacy Act 1988, Cybercrime Act 2001 &amp; ACSC guidelines. Approved by CEO Lucas Lopez.</a:t>
            </a:r>
            <a:endParaRPr lang="en-AU" sz="950" noProof="0" dirty="0"/>
          </a:p>
        </p:txBody>
      </p:sp>
      <p:sp>
        <p:nvSpPr>
          <p:cNvPr id="10" name="Text 8"/>
          <p:cNvSpPr/>
          <p:nvPr/>
        </p:nvSpPr>
        <p:spPr>
          <a:xfrm>
            <a:off x="484632" y="262432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850" b="1" noProof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IT_Policy_InternetUsage_v1.0</a:t>
            </a:r>
            <a:endParaRPr lang="en-AU" sz="850" noProof="0" dirty="0"/>
          </a:p>
        </p:txBody>
      </p:sp>
      <p:sp>
        <p:nvSpPr>
          <p:cNvPr id="11" name="Shape 9"/>
          <p:cNvSpPr/>
          <p:nvPr/>
        </p:nvSpPr>
        <p:spPr>
          <a:xfrm>
            <a:off x="4663440" y="1508760"/>
            <a:ext cx="411480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 noProof="0" dirty="0"/>
          </a:p>
        </p:txBody>
      </p:sp>
      <p:sp>
        <p:nvSpPr>
          <p:cNvPr id="12" name="Shape 10"/>
          <p:cNvSpPr/>
          <p:nvPr/>
        </p:nvSpPr>
        <p:spPr>
          <a:xfrm>
            <a:off x="4663440" y="1508760"/>
            <a:ext cx="41148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 noProof="0" dirty="0"/>
          </a:p>
        </p:txBody>
      </p:sp>
      <p:sp>
        <p:nvSpPr>
          <p:cNvPr id="13" name="Text 11"/>
          <p:cNvSpPr/>
          <p:nvPr/>
        </p:nvSpPr>
        <p:spPr>
          <a:xfrm>
            <a:off x="4828032" y="161848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11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Nominal Group Technique</a:t>
            </a:r>
            <a:endParaRPr lang="en-AU" sz="1100" noProof="0" dirty="0"/>
          </a:p>
        </p:txBody>
      </p:sp>
      <p:sp>
        <p:nvSpPr>
          <p:cNvPr id="14" name="Text 12"/>
          <p:cNvSpPr/>
          <p:nvPr/>
        </p:nvSpPr>
        <p:spPr>
          <a:xfrm>
            <a:off x="4828032" y="1929384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95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concern resolution: silent idea generation, round-robin sharing, group discussion, and voting. Formalised as standard team process.</a:t>
            </a:r>
            <a:endParaRPr lang="en-AU" sz="950" noProof="0" dirty="0"/>
          </a:p>
        </p:txBody>
      </p:sp>
      <p:sp>
        <p:nvSpPr>
          <p:cNvPr id="15" name="Text 13"/>
          <p:cNvSpPr/>
          <p:nvPr/>
        </p:nvSpPr>
        <p:spPr>
          <a:xfrm>
            <a:off x="4828032" y="262432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850" b="1" noProof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5-Step Concern Process</a:t>
            </a:r>
            <a:endParaRPr lang="en-AU" sz="850" noProof="0" dirty="0"/>
          </a:p>
        </p:txBody>
      </p:sp>
      <p:sp>
        <p:nvSpPr>
          <p:cNvPr id="16" name="Shape 14"/>
          <p:cNvSpPr/>
          <p:nvPr/>
        </p:nvSpPr>
        <p:spPr>
          <a:xfrm>
            <a:off x="320040" y="3108960"/>
            <a:ext cx="411480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 noProof="0" dirty="0"/>
          </a:p>
        </p:txBody>
      </p:sp>
      <p:sp>
        <p:nvSpPr>
          <p:cNvPr id="17" name="Shape 15"/>
          <p:cNvSpPr/>
          <p:nvPr/>
        </p:nvSpPr>
        <p:spPr>
          <a:xfrm>
            <a:off x="320040" y="3108960"/>
            <a:ext cx="41148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 noProof="0" dirty="0"/>
          </a:p>
        </p:txBody>
      </p:sp>
      <p:sp>
        <p:nvSpPr>
          <p:cNvPr id="18" name="Text 16"/>
          <p:cNvSpPr/>
          <p:nvPr/>
        </p:nvSpPr>
        <p:spPr>
          <a:xfrm>
            <a:off x="484632" y="321868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11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+ Trello</a:t>
            </a:r>
            <a:endParaRPr lang="en-AU" sz="1100" noProof="0" dirty="0"/>
          </a:p>
        </p:txBody>
      </p:sp>
      <p:sp>
        <p:nvSpPr>
          <p:cNvPr id="19" name="Text 17"/>
          <p:cNvSpPr/>
          <p:nvPr/>
        </p:nvSpPr>
        <p:spPr>
          <a:xfrm>
            <a:off x="484632" y="3529584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95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Two-week sprint cycles with daily standups and retrospectives. Trello board provides real-time task visibility and shared accountability.</a:t>
            </a:r>
            <a:endParaRPr lang="en-AU" sz="950" noProof="0" dirty="0"/>
          </a:p>
        </p:txBody>
      </p:sp>
      <p:sp>
        <p:nvSpPr>
          <p:cNvPr id="20" name="Text 18"/>
          <p:cNvSpPr/>
          <p:nvPr/>
        </p:nvSpPr>
        <p:spPr>
          <a:xfrm>
            <a:off x="484632" y="422452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850" b="1" noProof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 Framework</a:t>
            </a:r>
            <a:endParaRPr lang="en-AU" sz="850" noProof="0" dirty="0"/>
          </a:p>
        </p:txBody>
      </p:sp>
      <p:sp>
        <p:nvSpPr>
          <p:cNvPr id="21" name="Shape 19"/>
          <p:cNvSpPr/>
          <p:nvPr/>
        </p:nvSpPr>
        <p:spPr>
          <a:xfrm>
            <a:off x="4663440" y="3108960"/>
            <a:ext cx="411480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 noProof="0" dirty="0"/>
          </a:p>
        </p:txBody>
      </p:sp>
      <p:sp>
        <p:nvSpPr>
          <p:cNvPr id="22" name="Shape 20"/>
          <p:cNvSpPr/>
          <p:nvPr/>
        </p:nvSpPr>
        <p:spPr>
          <a:xfrm>
            <a:off x="4663440" y="3108960"/>
            <a:ext cx="41148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 noProof="0" dirty="0"/>
          </a:p>
        </p:txBody>
      </p:sp>
      <p:sp>
        <p:nvSpPr>
          <p:cNvPr id="23" name="Text 21"/>
          <p:cNvSpPr/>
          <p:nvPr/>
        </p:nvSpPr>
        <p:spPr>
          <a:xfrm>
            <a:off x="4828032" y="321868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11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Knowledge-Sharing Session</a:t>
            </a:r>
            <a:endParaRPr lang="en-AU" sz="1100" noProof="0" dirty="0"/>
          </a:p>
        </p:txBody>
      </p:sp>
      <p:sp>
        <p:nvSpPr>
          <p:cNvPr id="24" name="Text 22"/>
          <p:cNvSpPr/>
          <p:nvPr/>
        </p:nvSpPr>
        <p:spPr>
          <a:xfrm>
            <a:off x="4828032" y="3529584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95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cloud case studies presented by Hal Hyland. Financial analysis shared to demonstrate the business rationale for cloud adoption.</a:t>
            </a:r>
            <a:endParaRPr lang="en-AU" sz="950" noProof="0" dirty="0"/>
          </a:p>
        </p:txBody>
      </p:sp>
      <p:sp>
        <p:nvSpPr>
          <p:cNvPr id="25" name="Text 23"/>
          <p:cNvSpPr/>
          <p:nvPr/>
        </p:nvSpPr>
        <p:spPr>
          <a:xfrm>
            <a:off x="4828032" y="422452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850" b="1" noProof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Adoption Strategy</a:t>
            </a:r>
            <a:endParaRPr lang="en-AU" sz="850" noProof="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 noProof="0" dirty="0"/>
          </a:p>
        </p:txBody>
      </p:sp>
      <p:sp>
        <p:nvSpPr>
          <p:cNvPr id="3" name="Text 1"/>
          <p:cNvSpPr/>
          <p:nvPr/>
        </p:nvSpPr>
        <p:spPr>
          <a:xfrm>
            <a:off x="365760" y="640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1100" b="1" kern="0" spc="3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2 - TEAM COHESION</a:t>
            </a:r>
            <a:endParaRPr lang="en-AU" sz="1100" noProof="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28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Skills in Feedback</a:t>
            </a:r>
            <a:endParaRPr lang="en-AU" sz="2800" noProof="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09728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 noProof="0" dirty="0"/>
          </a:p>
        </p:txBody>
      </p:sp>
      <p:sp>
        <p:nvSpPr>
          <p:cNvPr id="6" name="Shape 4"/>
          <p:cNvSpPr/>
          <p:nvPr/>
        </p:nvSpPr>
        <p:spPr>
          <a:xfrm>
            <a:off x="320040" y="1508760"/>
            <a:ext cx="411480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 noProof="0" dirty="0"/>
          </a:p>
        </p:txBody>
      </p:sp>
      <p:sp>
        <p:nvSpPr>
          <p:cNvPr id="7" name="Shape 5"/>
          <p:cNvSpPr/>
          <p:nvPr/>
        </p:nvSpPr>
        <p:spPr>
          <a:xfrm>
            <a:off x="320040" y="1508760"/>
            <a:ext cx="64008" cy="1417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 noProof="0" dirty="0"/>
          </a:p>
        </p:txBody>
      </p:sp>
      <p:sp>
        <p:nvSpPr>
          <p:cNvPr id="8" name="Text 6"/>
          <p:cNvSpPr/>
          <p:nvPr/>
        </p:nvSpPr>
        <p:spPr>
          <a:xfrm>
            <a:off x="457200" y="158191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1100" b="1" noProof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Listening</a:t>
            </a:r>
            <a:endParaRPr lang="en-AU" sz="1100" noProof="0" dirty="0"/>
          </a:p>
        </p:txBody>
      </p:sp>
      <p:sp>
        <p:nvSpPr>
          <p:cNvPr id="9" name="Text 7"/>
          <p:cNvSpPr/>
          <p:nvPr/>
        </p:nvSpPr>
        <p:spPr>
          <a:xfrm>
            <a:off x="457200" y="1856232"/>
            <a:ext cx="39136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AU" sz="10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 shared perspectives without interruption before any feedback was delivered. Ensured feedback was based on full understanding, not assumptions.</a:t>
            </a:r>
            <a:endParaRPr lang="en-AU" sz="1000" noProof="0" dirty="0"/>
          </a:p>
        </p:txBody>
      </p:sp>
      <p:sp>
        <p:nvSpPr>
          <p:cNvPr id="10" name="Shape 8"/>
          <p:cNvSpPr/>
          <p:nvPr/>
        </p:nvSpPr>
        <p:spPr>
          <a:xfrm>
            <a:off x="4663440" y="1508760"/>
            <a:ext cx="411480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 noProof="0" dirty="0"/>
          </a:p>
        </p:txBody>
      </p:sp>
      <p:sp>
        <p:nvSpPr>
          <p:cNvPr id="11" name="Shape 9"/>
          <p:cNvSpPr/>
          <p:nvPr/>
        </p:nvSpPr>
        <p:spPr>
          <a:xfrm>
            <a:off x="4663440" y="1508760"/>
            <a:ext cx="64008" cy="1417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 noProof="0" dirty="0"/>
          </a:p>
        </p:txBody>
      </p:sp>
      <p:sp>
        <p:nvSpPr>
          <p:cNvPr id="12" name="Text 10"/>
          <p:cNvSpPr/>
          <p:nvPr/>
        </p:nvSpPr>
        <p:spPr>
          <a:xfrm>
            <a:off x="4800600" y="158191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1100" b="1" noProof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Sandwich Method</a:t>
            </a:r>
            <a:endParaRPr lang="en-AU" sz="1100" noProof="0" dirty="0"/>
          </a:p>
        </p:txBody>
      </p:sp>
      <p:sp>
        <p:nvSpPr>
          <p:cNvPr id="13" name="Text 11"/>
          <p:cNvSpPr/>
          <p:nvPr/>
        </p:nvSpPr>
        <p:spPr>
          <a:xfrm>
            <a:off x="4800600" y="1856232"/>
            <a:ext cx="39136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AU" sz="10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structured as: positive recognition -&gt; specific improvement area </a:t>
            </a:r>
            <a:br>
              <a:rPr lang="en-AU" sz="10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AU" sz="10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encouragement. Used especially when addressing resistance to cloud technology.</a:t>
            </a:r>
            <a:endParaRPr lang="en-AU" sz="1000" noProof="0" dirty="0"/>
          </a:p>
        </p:txBody>
      </p:sp>
      <p:sp>
        <p:nvSpPr>
          <p:cNvPr id="14" name="Shape 12"/>
          <p:cNvSpPr/>
          <p:nvPr/>
        </p:nvSpPr>
        <p:spPr>
          <a:xfrm>
            <a:off x="320040" y="3108960"/>
            <a:ext cx="411480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 noProof="0" dirty="0"/>
          </a:p>
        </p:txBody>
      </p:sp>
      <p:sp>
        <p:nvSpPr>
          <p:cNvPr id="15" name="Shape 13"/>
          <p:cNvSpPr/>
          <p:nvPr/>
        </p:nvSpPr>
        <p:spPr>
          <a:xfrm>
            <a:off x="320040" y="3108960"/>
            <a:ext cx="64008" cy="1417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 noProof="0" dirty="0"/>
          </a:p>
        </p:txBody>
      </p:sp>
      <p:sp>
        <p:nvSpPr>
          <p:cNvPr id="16" name="Text 14"/>
          <p:cNvSpPr/>
          <p:nvPr/>
        </p:nvSpPr>
        <p:spPr>
          <a:xfrm>
            <a:off x="457200" y="318211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1100" b="1" noProof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"I" Statements</a:t>
            </a:r>
            <a:endParaRPr lang="en-AU" sz="1100" noProof="0" dirty="0"/>
          </a:p>
        </p:txBody>
      </p:sp>
      <p:sp>
        <p:nvSpPr>
          <p:cNvPr id="17" name="Text 15"/>
          <p:cNvSpPr/>
          <p:nvPr/>
        </p:nvSpPr>
        <p:spPr>
          <a:xfrm>
            <a:off x="457200" y="3456432"/>
            <a:ext cx="39136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AU" sz="10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have noticed that cloud concerns are affecting sprint velocity. I would like us to explore this together." Prevented defensiveness and kept conversations constructive.</a:t>
            </a:r>
            <a:endParaRPr lang="en-AU" sz="1000" noProof="0" dirty="0"/>
          </a:p>
        </p:txBody>
      </p:sp>
      <p:sp>
        <p:nvSpPr>
          <p:cNvPr id="18" name="Shape 16"/>
          <p:cNvSpPr/>
          <p:nvPr/>
        </p:nvSpPr>
        <p:spPr>
          <a:xfrm>
            <a:off x="4663440" y="3108960"/>
            <a:ext cx="411480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 noProof="0" dirty="0"/>
          </a:p>
        </p:txBody>
      </p:sp>
      <p:sp>
        <p:nvSpPr>
          <p:cNvPr id="19" name="Shape 17"/>
          <p:cNvSpPr/>
          <p:nvPr/>
        </p:nvSpPr>
        <p:spPr>
          <a:xfrm>
            <a:off x="4663440" y="3108960"/>
            <a:ext cx="64008" cy="1417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 noProof="0" dirty="0"/>
          </a:p>
        </p:txBody>
      </p:sp>
      <p:sp>
        <p:nvSpPr>
          <p:cNvPr id="20" name="Text 18"/>
          <p:cNvSpPr/>
          <p:nvPr/>
        </p:nvSpPr>
        <p:spPr>
          <a:xfrm>
            <a:off x="4800600" y="318211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1100" b="1" noProof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Scrum-Based Communication</a:t>
            </a:r>
            <a:endParaRPr lang="en-AU" sz="1100" noProof="0" dirty="0"/>
          </a:p>
        </p:txBody>
      </p:sp>
      <p:sp>
        <p:nvSpPr>
          <p:cNvPr id="21" name="Text 19"/>
          <p:cNvSpPr/>
          <p:nvPr/>
        </p:nvSpPr>
        <p:spPr>
          <a:xfrm>
            <a:off x="4800600" y="3456432"/>
            <a:ext cx="39136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AU" sz="10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standups and sprint retrospectives normalised feedback as ongoing dialogue, not a formal event, reducing anxiety and increasing engagement.</a:t>
            </a:r>
            <a:endParaRPr lang="en-AU" sz="1000" noProof="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 noProof="0" dirty="0"/>
          </a:p>
        </p:txBody>
      </p:sp>
      <p:sp>
        <p:nvSpPr>
          <p:cNvPr id="3" name="Text 1"/>
          <p:cNvSpPr/>
          <p:nvPr/>
        </p:nvSpPr>
        <p:spPr>
          <a:xfrm>
            <a:off x="365760" y="640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1100" b="1" kern="0" spc="3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2 - TEAM COHESION</a:t>
            </a:r>
            <a:endParaRPr lang="en-AU" sz="1100" noProof="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28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5-Step Concern Resolution Process (NGT)</a:t>
            </a:r>
            <a:endParaRPr lang="en-AU" sz="2800" noProof="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09728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 noProof="0" dirty="0"/>
          </a:p>
        </p:txBody>
      </p:sp>
      <p:sp>
        <p:nvSpPr>
          <p:cNvPr id="6" name="Shape 4"/>
          <p:cNvSpPr/>
          <p:nvPr/>
        </p:nvSpPr>
        <p:spPr>
          <a:xfrm>
            <a:off x="365760" y="1527048"/>
            <a:ext cx="347472" cy="3474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 noProof="0" dirty="0"/>
          </a:p>
        </p:txBody>
      </p:sp>
      <p:sp>
        <p:nvSpPr>
          <p:cNvPr id="7" name="Text 5"/>
          <p:cNvSpPr/>
          <p:nvPr/>
        </p:nvSpPr>
        <p:spPr>
          <a:xfrm>
            <a:off x="365760" y="15270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AU" sz="13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AU" sz="1300" noProof="0" dirty="0"/>
          </a:p>
        </p:txBody>
      </p:sp>
      <p:sp>
        <p:nvSpPr>
          <p:cNvPr id="8" name="Text 6"/>
          <p:cNvSpPr/>
          <p:nvPr/>
        </p:nvSpPr>
        <p:spPr>
          <a:xfrm>
            <a:off x="804672" y="150876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11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&amp; Raise</a:t>
            </a:r>
            <a:endParaRPr lang="en-AU" sz="1100" noProof="0" dirty="0"/>
          </a:p>
        </p:txBody>
      </p:sp>
      <p:sp>
        <p:nvSpPr>
          <p:cNvPr id="9" name="Text 7"/>
          <p:cNvSpPr/>
          <p:nvPr/>
        </p:nvSpPr>
        <p:spPr>
          <a:xfrm>
            <a:off x="804672" y="176479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95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-&gt; standup</a:t>
            </a:r>
            <a:endParaRPr lang="en-AU" sz="950" noProof="0" dirty="0"/>
          </a:p>
          <a:p>
            <a:pPr marL="0" indent="0">
              <a:buNone/>
            </a:pPr>
            <a:r>
              <a:rPr lang="en-AU" sz="95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Behavioural -&gt; 1-on-1</a:t>
            </a:r>
            <a:endParaRPr lang="en-AU" sz="950" noProof="0" dirty="0"/>
          </a:p>
          <a:p>
            <a:pPr marL="0" indent="0">
              <a:buNone/>
            </a:pPr>
            <a:r>
              <a:rPr lang="en-AU" sz="95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-&gt; retrospective</a:t>
            </a:r>
            <a:endParaRPr lang="en-AU" sz="950" noProof="0" dirty="0"/>
          </a:p>
        </p:txBody>
      </p:sp>
      <p:sp>
        <p:nvSpPr>
          <p:cNvPr id="11" name="Shape 9"/>
          <p:cNvSpPr/>
          <p:nvPr/>
        </p:nvSpPr>
        <p:spPr>
          <a:xfrm>
            <a:off x="3200400" y="1527048"/>
            <a:ext cx="347472" cy="3474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 noProof="0" dirty="0"/>
          </a:p>
        </p:txBody>
      </p:sp>
      <p:sp>
        <p:nvSpPr>
          <p:cNvPr id="12" name="Text 10"/>
          <p:cNvSpPr/>
          <p:nvPr/>
        </p:nvSpPr>
        <p:spPr>
          <a:xfrm>
            <a:off x="3200400" y="15270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AU" sz="13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AU" sz="1300" noProof="0" dirty="0"/>
          </a:p>
        </p:txBody>
      </p:sp>
      <p:sp>
        <p:nvSpPr>
          <p:cNvPr id="13" name="Text 11"/>
          <p:cNvSpPr/>
          <p:nvPr/>
        </p:nvSpPr>
        <p:spPr>
          <a:xfrm>
            <a:off x="3639312" y="150876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11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 &amp; Document</a:t>
            </a:r>
            <a:endParaRPr lang="en-AU" sz="1100" noProof="0" dirty="0"/>
          </a:p>
        </p:txBody>
      </p:sp>
      <p:sp>
        <p:nvSpPr>
          <p:cNvPr id="14" name="Text 12"/>
          <p:cNvSpPr/>
          <p:nvPr/>
        </p:nvSpPr>
        <p:spPr>
          <a:xfrm>
            <a:off x="3639312" y="176479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95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Manager I+D responds within 24hrs. Logged in Trello Concern Register.</a:t>
            </a:r>
            <a:endParaRPr lang="en-AU" sz="950" noProof="0" dirty="0"/>
          </a:p>
        </p:txBody>
      </p:sp>
      <p:sp>
        <p:nvSpPr>
          <p:cNvPr id="16" name="Shape 14"/>
          <p:cNvSpPr/>
          <p:nvPr/>
        </p:nvSpPr>
        <p:spPr>
          <a:xfrm>
            <a:off x="6035040" y="1527048"/>
            <a:ext cx="347472" cy="3474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 noProof="0" dirty="0"/>
          </a:p>
        </p:txBody>
      </p:sp>
      <p:sp>
        <p:nvSpPr>
          <p:cNvPr id="17" name="Text 15"/>
          <p:cNvSpPr/>
          <p:nvPr/>
        </p:nvSpPr>
        <p:spPr>
          <a:xfrm>
            <a:off x="6035040" y="15270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AU" sz="13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AU" sz="1300" noProof="0" dirty="0"/>
          </a:p>
        </p:txBody>
      </p:sp>
      <p:sp>
        <p:nvSpPr>
          <p:cNvPr id="18" name="Text 16"/>
          <p:cNvSpPr/>
          <p:nvPr/>
        </p:nvSpPr>
        <p:spPr>
          <a:xfrm>
            <a:off x="6473952" y="150876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11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&amp; Discuss</a:t>
            </a:r>
            <a:endParaRPr lang="en-AU" sz="1100" noProof="0" dirty="0"/>
          </a:p>
        </p:txBody>
      </p:sp>
      <p:sp>
        <p:nvSpPr>
          <p:cNvPr id="19" name="Text 17"/>
          <p:cNvSpPr/>
          <p:nvPr/>
        </p:nvSpPr>
        <p:spPr>
          <a:xfrm>
            <a:off x="6473952" y="176479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95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discussion or brought to retrospective for collective resolution.</a:t>
            </a:r>
            <a:endParaRPr lang="en-AU" sz="950" noProof="0" dirty="0"/>
          </a:p>
        </p:txBody>
      </p:sp>
      <p:sp>
        <p:nvSpPr>
          <p:cNvPr id="20" name="Shape 18"/>
          <p:cNvSpPr/>
          <p:nvPr/>
        </p:nvSpPr>
        <p:spPr>
          <a:xfrm>
            <a:off x="365760" y="3264408"/>
            <a:ext cx="347472" cy="3474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 noProof="0" dirty="0"/>
          </a:p>
        </p:txBody>
      </p:sp>
      <p:sp>
        <p:nvSpPr>
          <p:cNvPr id="21" name="Text 19"/>
          <p:cNvSpPr/>
          <p:nvPr/>
        </p:nvSpPr>
        <p:spPr>
          <a:xfrm>
            <a:off x="365760" y="32644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AU" sz="13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AU" sz="1300" noProof="0" dirty="0"/>
          </a:p>
        </p:txBody>
      </p:sp>
      <p:sp>
        <p:nvSpPr>
          <p:cNvPr id="22" name="Text 20"/>
          <p:cNvSpPr/>
          <p:nvPr/>
        </p:nvSpPr>
        <p:spPr>
          <a:xfrm>
            <a:off x="804672" y="324612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11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NGT - Agree Solution</a:t>
            </a:r>
            <a:endParaRPr lang="en-AU" sz="1100" noProof="0" dirty="0"/>
          </a:p>
        </p:txBody>
      </p:sp>
      <p:sp>
        <p:nvSpPr>
          <p:cNvPr id="23" name="Text 21"/>
          <p:cNvSpPr/>
          <p:nvPr/>
        </p:nvSpPr>
        <p:spPr>
          <a:xfrm>
            <a:off x="804672" y="350215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95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ideas -&gt; round-robin -&gt; discussion -&gt; vote -&gt; document with owner &amp; timeline.</a:t>
            </a:r>
            <a:endParaRPr lang="en-AU" sz="950" noProof="0" dirty="0"/>
          </a:p>
        </p:txBody>
      </p:sp>
      <p:sp>
        <p:nvSpPr>
          <p:cNvPr id="24" name="Shape 22"/>
          <p:cNvSpPr/>
          <p:nvPr/>
        </p:nvSpPr>
        <p:spPr>
          <a:xfrm>
            <a:off x="3200400" y="3264408"/>
            <a:ext cx="347472" cy="3474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 noProof="0" dirty="0"/>
          </a:p>
        </p:txBody>
      </p:sp>
      <p:sp>
        <p:nvSpPr>
          <p:cNvPr id="25" name="Text 23"/>
          <p:cNvSpPr/>
          <p:nvPr/>
        </p:nvSpPr>
        <p:spPr>
          <a:xfrm>
            <a:off x="3200400" y="32644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AU" sz="13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AU" sz="1300" noProof="0" dirty="0"/>
          </a:p>
        </p:txBody>
      </p:sp>
      <p:sp>
        <p:nvSpPr>
          <p:cNvPr id="26" name="Text 24"/>
          <p:cNvSpPr/>
          <p:nvPr/>
        </p:nvSpPr>
        <p:spPr>
          <a:xfrm>
            <a:off x="3639312" y="324612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11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&amp; Monitor</a:t>
            </a:r>
            <a:endParaRPr lang="en-AU" sz="1100" noProof="0" dirty="0"/>
          </a:p>
        </p:txBody>
      </p:sp>
      <p:sp>
        <p:nvSpPr>
          <p:cNvPr id="27" name="Text 25"/>
          <p:cNvSpPr/>
          <p:nvPr/>
        </p:nvSpPr>
        <p:spPr>
          <a:xfrm>
            <a:off x="3639312" y="350215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95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reviewed at next retrospective. Escalated to CEO if unresolved.</a:t>
            </a:r>
            <a:endParaRPr lang="en-AU" sz="950" noProof="0" dirty="0"/>
          </a:p>
        </p:txBody>
      </p:sp>
      <p:sp>
        <p:nvSpPr>
          <p:cNvPr id="28" name="Shape 26"/>
          <p:cNvSpPr/>
          <p:nvPr/>
        </p:nvSpPr>
        <p:spPr>
          <a:xfrm>
            <a:off x="320040" y="3063240"/>
            <a:ext cx="8503920" cy="36576"/>
          </a:xfrm>
          <a:prstGeom prst="rect">
            <a:avLst/>
          </a:prstGeom>
          <a:solidFill>
            <a:srgbClr val="D0E4EA"/>
          </a:solidFill>
          <a:ln w="12700">
            <a:solidFill>
              <a:srgbClr val="D0E4EA"/>
            </a:solidFill>
            <a:prstDash val="solid"/>
          </a:ln>
        </p:spPr>
        <p:txBody>
          <a:bodyPr/>
          <a:lstStyle/>
          <a:p>
            <a:endParaRPr lang="en-AU" noProof="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AU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1300" b="1" kern="0" spc="500" noProof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3</a:t>
            </a:r>
            <a:endParaRPr lang="en-AU" sz="13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4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Liaise with</a:t>
            </a:r>
            <a:endParaRPr lang="en-AU" sz="4200" noProof="0" dirty="0"/>
          </a:p>
          <a:p>
            <a:pPr marL="0" indent="0">
              <a:buNone/>
            </a:pPr>
            <a:r>
              <a:rPr lang="en-AU" sz="4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</a:t>
            </a:r>
            <a:endParaRPr lang="en-AU" sz="4200" noProof="0" dirty="0"/>
          </a:p>
        </p:txBody>
      </p:sp>
      <p:sp>
        <p:nvSpPr>
          <p:cNvPr id="5" name="Text 3"/>
          <p:cNvSpPr/>
          <p:nvPr/>
        </p:nvSpPr>
        <p:spPr>
          <a:xfrm>
            <a:off x="548640" y="42062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1100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Management Communication  |  Stakeholder Feedback  |  Action Plan</a:t>
            </a:r>
            <a:endParaRPr lang="en-AU" sz="1100" noProof="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 noProof="0" dirty="0"/>
          </a:p>
        </p:txBody>
      </p:sp>
      <p:sp>
        <p:nvSpPr>
          <p:cNvPr id="3" name="Text 1"/>
          <p:cNvSpPr/>
          <p:nvPr/>
        </p:nvSpPr>
        <p:spPr>
          <a:xfrm>
            <a:off x="365760" y="640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1100" b="1" kern="0" spc="3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3 - STAKEHOLDER LIAISON</a:t>
            </a:r>
            <a:endParaRPr lang="en-AU" sz="1100" noProof="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28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Flow with Line Management</a:t>
            </a:r>
            <a:endParaRPr lang="en-AU" sz="2800" noProof="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09728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 noProof="0" dirty="0"/>
          </a:p>
        </p:txBody>
      </p:sp>
      <p:sp>
        <p:nvSpPr>
          <p:cNvPr id="6" name="Shape 4"/>
          <p:cNvSpPr/>
          <p:nvPr/>
        </p:nvSpPr>
        <p:spPr>
          <a:xfrm>
            <a:off x="320040" y="1508760"/>
            <a:ext cx="393192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 noProof="0" dirty="0"/>
          </a:p>
        </p:txBody>
      </p:sp>
      <p:sp>
        <p:nvSpPr>
          <p:cNvPr id="7" name="Shape 5"/>
          <p:cNvSpPr/>
          <p:nvPr/>
        </p:nvSpPr>
        <p:spPr>
          <a:xfrm>
            <a:off x="320040" y="1508760"/>
            <a:ext cx="39319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AU" noProof="0" dirty="0"/>
          </a:p>
        </p:txBody>
      </p:sp>
      <p:sp>
        <p:nvSpPr>
          <p:cNvPr id="8" name="Text 6"/>
          <p:cNvSpPr/>
          <p:nvPr/>
        </p:nvSpPr>
        <p:spPr>
          <a:xfrm>
            <a:off x="457200" y="157276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10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1 - To CEO Lucas Lopez</a:t>
            </a:r>
            <a:endParaRPr lang="en-AU" sz="1000" noProof="0" dirty="0"/>
          </a:p>
        </p:txBody>
      </p:sp>
      <p:sp>
        <p:nvSpPr>
          <p:cNvPr id="9" name="Text 7"/>
          <p:cNvSpPr/>
          <p:nvPr/>
        </p:nvSpPr>
        <p:spPr>
          <a:xfrm>
            <a:off x="502920" y="2103120"/>
            <a:ext cx="36118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AU" sz="10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3 team issues as project risks</a:t>
            </a:r>
            <a:endParaRPr lang="en-AU" sz="1000" noProof="0" dirty="0"/>
          </a:p>
          <a:p>
            <a:pPr marL="342900" indent="-342900">
              <a:buSzPct val="100000"/>
              <a:buChar char="•"/>
            </a:pPr>
            <a:r>
              <a:rPr lang="en-AU" sz="10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Internet Use Policy (v1.0)</a:t>
            </a:r>
            <a:endParaRPr lang="en-AU" sz="1000" noProof="0" dirty="0"/>
          </a:p>
          <a:p>
            <a:pPr marL="342900" indent="-342900">
              <a:buSzPct val="100000"/>
              <a:buChar char="•"/>
            </a:pPr>
            <a:r>
              <a:rPr lang="en-AU" sz="10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Outlined NGT concern resolution process</a:t>
            </a:r>
            <a:endParaRPr lang="en-AU" sz="1000" noProof="0" dirty="0"/>
          </a:p>
          <a:p>
            <a:pPr marL="342900" indent="-342900">
              <a:buSzPct val="100000"/>
              <a:buChar char="•"/>
            </a:pPr>
            <a:r>
              <a:rPr lang="en-AU" sz="10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Scrum + Trello framework</a:t>
            </a:r>
            <a:endParaRPr lang="en-AU" sz="1000" noProof="0" dirty="0"/>
          </a:p>
          <a:p>
            <a:pPr marL="342900" indent="-342900">
              <a:buSzPct val="100000"/>
              <a:buChar char="•"/>
            </a:pPr>
            <a:r>
              <a:rPr lang="en-AU" sz="10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Requested approval for Microsoft Teams</a:t>
            </a:r>
            <a:endParaRPr lang="en-AU" sz="1000" noProof="0" dirty="0"/>
          </a:p>
        </p:txBody>
      </p:sp>
      <p:sp>
        <p:nvSpPr>
          <p:cNvPr id="10" name="Shape 8"/>
          <p:cNvSpPr/>
          <p:nvPr/>
        </p:nvSpPr>
        <p:spPr>
          <a:xfrm>
            <a:off x="4251960" y="3108960"/>
            <a:ext cx="64008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 noProof="0" dirty="0"/>
          </a:p>
        </p:txBody>
      </p:sp>
      <p:sp>
        <p:nvSpPr>
          <p:cNvPr id="11" name="Text 9"/>
          <p:cNvSpPr/>
          <p:nvPr/>
        </p:nvSpPr>
        <p:spPr>
          <a:xfrm>
            <a:off x="4248765" y="2400300"/>
            <a:ext cx="685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AU" sz="800" b="1" noProof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</a:t>
            </a:r>
            <a:endParaRPr lang="en-AU" sz="800" noProof="0" dirty="0"/>
          </a:p>
          <a:p>
            <a:pPr marL="0" indent="0" algn="ctr">
              <a:buNone/>
            </a:pPr>
            <a:r>
              <a:rPr lang="en-AU" sz="800" b="1" noProof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AU" sz="800" noProof="0" dirty="0"/>
          </a:p>
          <a:p>
            <a:pPr marL="0" indent="0" algn="ctr">
              <a:buNone/>
            </a:pPr>
            <a:r>
              <a:rPr lang="en-AU" sz="800" b="1" noProof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Teams</a:t>
            </a:r>
            <a:endParaRPr lang="en-AU" sz="800" noProof="0" dirty="0"/>
          </a:p>
        </p:txBody>
      </p:sp>
      <p:sp>
        <p:nvSpPr>
          <p:cNvPr id="12" name="Shape 10"/>
          <p:cNvSpPr/>
          <p:nvPr/>
        </p:nvSpPr>
        <p:spPr>
          <a:xfrm>
            <a:off x="4892040" y="1508760"/>
            <a:ext cx="393192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 noProof="0" dirty="0"/>
          </a:p>
        </p:txBody>
      </p:sp>
      <p:sp>
        <p:nvSpPr>
          <p:cNvPr id="13" name="Shape 11"/>
          <p:cNvSpPr/>
          <p:nvPr/>
        </p:nvSpPr>
        <p:spPr>
          <a:xfrm>
            <a:off x="4892040" y="1508760"/>
            <a:ext cx="393192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 noProof="0" dirty="0"/>
          </a:p>
        </p:txBody>
      </p:sp>
      <p:sp>
        <p:nvSpPr>
          <p:cNvPr id="14" name="Text 12"/>
          <p:cNvSpPr/>
          <p:nvPr/>
        </p:nvSpPr>
        <p:spPr>
          <a:xfrm>
            <a:off x="5029200" y="157276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10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2 - To Team</a:t>
            </a:r>
            <a:endParaRPr lang="en-AU" sz="1000" noProof="0" dirty="0"/>
          </a:p>
        </p:txBody>
      </p:sp>
      <p:sp>
        <p:nvSpPr>
          <p:cNvPr id="15" name="Text 13"/>
          <p:cNvSpPr/>
          <p:nvPr/>
        </p:nvSpPr>
        <p:spPr>
          <a:xfrm>
            <a:off x="5029200" y="2103120"/>
            <a:ext cx="36118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AU" sz="10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Teams approved by CEO</a:t>
            </a:r>
            <a:endParaRPr lang="en-AU" sz="1000" noProof="0" dirty="0"/>
          </a:p>
          <a:p>
            <a:pPr marL="342900" indent="-342900">
              <a:buSzPct val="100000"/>
              <a:buChar char="•"/>
            </a:pPr>
            <a:r>
              <a:rPr lang="en-AU" sz="10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1 July 2021</a:t>
            </a:r>
            <a:endParaRPr lang="en-AU" sz="1000" noProof="0" dirty="0"/>
          </a:p>
          <a:p>
            <a:pPr marL="342900" indent="-342900">
              <a:buSzPct val="100000"/>
              <a:buChar char="•"/>
            </a:pPr>
            <a:r>
              <a:rPr lang="en-AU" sz="10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(1 Jul): Access + onboarding session</a:t>
            </a:r>
            <a:endParaRPr lang="en-AU" sz="1000" noProof="0" dirty="0"/>
          </a:p>
          <a:p>
            <a:pPr marL="342900" indent="-342900">
              <a:buSzPct val="100000"/>
              <a:buChar char="•"/>
            </a:pPr>
            <a:r>
              <a:rPr lang="en-AU" sz="10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(15 Jul): Primary platform for all comms</a:t>
            </a:r>
            <a:endParaRPr lang="en-AU" sz="1000" noProof="0" dirty="0"/>
          </a:p>
          <a:p>
            <a:pPr marL="342900" indent="-342900">
              <a:buSzPct val="100000"/>
              <a:buChar char="•"/>
            </a:pPr>
            <a:r>
              <a:rPr lang="en-AU" sz="10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impact on collaboration &amp; cohesion</a:t>
            </a:r>
            <a:endParaRPr lang="en-AU" sz="1000" noProof="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 noProof="0" dirty="0"/>
          </a:p>
        </p:txBody>
      </p:sp>
      <p:sp>
        <p:nvSpPr>
          <p:cNvPr id="3" name="Text 1"/>
          <p:cNvSpPr/>
          <p:nvPr/>
        </p:nvSpPr>
        <p:spPr>
          <a:xfrm>
            <a:off x="365760" y="640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1100" b="1" kern="0" spc="3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3 - STAKEHOLDER LIAISON</a:t>
            </a:r>
            <a:endParaRPr lang="en-AU" sz="1100" noProof="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28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Feedback Received</a:t>
            </a:r>
            <a:endParaRPr lang="en-AU" sz="2800" noProof="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09728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 noProof="0" dirty="0"/>
          </a:p>
        </p:txBody>
      </p:sp>
      <p:sp>
        <p:nvSpPr>
          <p:cNvPr id="6" name="Shape 4"/>
          <p:cNvSpPr/>
          <p:nvPr/>
        </p:nvSpPr>
        <p:spPr>
          <a:xfrm>
            <a:off x="320040" y="1508760"/>
            <a:ext cx="850392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 noProof="0" dirty="0"/>
          </a:p>
        </p:txBody>
      </p:sp>
      <p:sp>
        <p:nvSpPr>
          <p:cNvPr id="7" name="Shape 5"/>
          <p:cNvSpPr/>
          <p:nvPr/>
        </p:nvSpPr>
        <p:spPr>
          <a:xfrm>
            <a:off x="320040" y="1508760"/>
            <a:ext cx="1463040" cy="10789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AU" noProof="0" dirty="0"/>
          </a:p>
        </p:txBody>
      </p:sp>
      <p:sp>
        <p:nvSpPr>
          <p:cNvPr id="8" name="Text 6"/>
          <p:cNvSpPr/>
          <p:nvPr/>
        </p:nvSpPr>
        <p:spPr>
          <a:xfrm>
            <a:off x="365760" y="1508760"/>
            <a:ext cx="13716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AU" sz="9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Noah Jones</a:t>
            </a:r>
            <a:endParaRPr lang="en-AU" sz="900" noProof="0" dirty="0"/>
          </a:p>
          <a:p>
            <a:pPr marL="0" indent="0" algn="ctr">
              <a:buNone/>
            </a:pPr>
            <a:r>
              <a:rPr lang="en-AU" sz="9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Team Manager</a:t>
            </a:r>
            <a:endParaRPr lang="en-AU" sz="900" noProof="0" dirty="0"/>
          </a:p>
        </p:txBody>
      </p:sp>
      <p:sp>
        <p:nvSpPr>
          <p:cNvPr id="9" name="Text 7"/>
          <p:cNvSpPr/>
          <p:nvPr/>
        </p:nvSpPr>
        <p:spPr>
          <a:xfrm>
            <a:off x="1920240" y="16002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9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Concern:</a:t>
            </a:r>
            <a:endParaRPr lang="en-AU" sz="900" noProof="0" dirty="0"/>
          </a:p>
        </p:txBody>
      </p:sp>
      <p:sp>
        <p:nvSpPr>
          <p:cNvPr id="10" name="Text 8"/>
          <p:cNvSpPr/>
          <p:nvPr/>
        </p:nvSpPr>
        <p:spPr>
          <a:xfrm>
            <a:off x="1920240" y="1810512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85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Questioned feasibility of staff upskilling from hardware to cloud. Requested cost comparison (manufacturing savings vs. B2C costs) and liquidity risk mitigation plan for 2026.</a:t>
            </a:r>
            <a:endParaRPr lang="en-AU" sz="850" noProof="0" dirty="0"/>
          </a:p>
        </p:txBody>
      </p:sp>
      <p:sp>
        <p:nvSpPr>
          <p:cNvPr id="11" name="Shape 9"/>
          <p:cNvSpPr/>
          <p:nvPr/>
        </p:nvSpPr>
        <p:spPr>
          <a:xfrm>
            <a:off x="5257800" y="1600200"/>
            <a:ext cx="36576" cy="868680"/>
          </a:xfrm>
          <a:prstGeom prst="rect">
            <a:avLst/>
          </a:prstGeom>
          <a:solidFill>
            <a:srgbClr val="D0E4EA"/>
          </a:solidFill>
          <a:ln w="12700">
            <a:solidFill>
              <a:srgbClr val="D0E4EA"/>
            </a:solidFill>
            <a:prstDash val="solid"/>
          </a:ln>
        </p:spPr>
        <p:txBody>
          <a:bodyPr/>
          <a:lstStyle/>
          <a:p>
            <a:endParaRPr lang="en-AU" noProof="0" dirty="0"/>
          </a:p>
        </p:txBody>
      </p:sp>
      <p:sp>
        <p:nvSpPr>
          <p:cNvPr id="12" name="Text 10"/>
          <p:cNvSpPr/>
          <p:nvPr/>
        </p:nvSpPr>
        <p:spPr>
          <a:xfrm>
            <a:off x="5394960" y="160020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900" b="1" noProof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Response:</a:t>
            </a:r>
            <a:endParaRPr lang="en-AU" sz="900" noProof="0" dirty="0"/>
          </a:p>
        </p:txBody>
      </p:sp>
      <p:sp>
        <p:nvSpPr>
          <p:cNvPr id="13" name="Text 11"/>
          <p:cNvSpPr/>
          <p:nvPr/>
        </p:nvSpPr>
        <p:spPr>
          <a:xfrm>
            <a:off x="5394960" y="1810512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85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Initiated Workforce Impact Analysis. Committed to detailed B2C cost audit for next stakeholder meeting. Updated risk register with liquidity thresholds.</a:t>
            </a:r>
            <a:endParaRPr lang="en-AU" sz="850" noProof="0" dirty="0"/>
          </a:p>
        </p:txBody>
      </p:sp>
      <p:sp>
        <p:nvSpPr>
          <p:cNvPr id="14" name="Shape 12"/>
          <p:cNvSpPr/>
          <p:nvPr/>
        </p:nvSpPr>
        <p:spPr>
          <a:xfrm>
            <a:off x="320040" y="2679192"/>
            <a:ext cx="850392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 noProof="0" dirty="0"/>
          </a:p>
        </p:txBody>
      </p:sp>
      <p:sp>
        <p:nvSpPr>
          <p:cNvPr id="15" name="Shape 13"/>
          <p:cNvSpPr/>
          <p:nvPr/>
        </p:nvSpPr>
        <p:spPr>
          <a:xfrm>
            <a:off x="320040" y="2679192"/>
            <a:ext cx="1463040" cy="10789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 noProof="0" dirty="0"/>
          </a:p>
        </p:txBody>
      </p:sp>
      <p:sp>
        <p:nvSpPr>
          <p:cNvPr id="16" name="Text 14"/>
          <p:cNvSpPr/>
          <p:nvPr/>
        </p:nvSpPr>
        <p:spPr>
          <a:xfrm>
            <a:off x="365760" y="2679192"/>
            <a:ext cx="13716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AU" sz="9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Luiz Ricardo</a:t>
            </a:r>
            <a:endParaRPr lang="en-AU" sz="900" noProof="0" dirty="0"/>
          </a:p>
          <a:p>
            <a:pPr marL="0" indent="0" algn="ctr">
              <a:buNone/>
            </a:pPr>
            <a:r>
              <a:rPr lang="en-AU" sz="9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&amp; Business Analyst</a:t>
            </a:r>
            <a:endParaRPr lang="en-AU" sz="900" noProof="0" dirty="0"/>
          </a:p>
        </p:txBody>
      </p:sp>
      <p:sp>
        <p:nvSpPr>
          <p:cNvPr id="17" name="Text 15"/>
          <p:cNvSpPr/>
          <p:nvPr/>
        </p:nvSpPr>
        <p:spPr>
          <a:xfrm>
            <a:off x="1920240" y="277063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9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Concern:</a:t>
            </a:r>
            <a:endParaRPr lang="en-AU" sz="900" noProof="0" dirty="0"/>
          </a:p>
        </p:txBody>
      </p:sp>
      <p:sp>
        <p:nvSpPr>
          <p:cNvPr id="18" name="Text 16"/>
          <p:cNvSpPr/>
          <p:nvPr/>
        </p:nvSpPr>
        <p:spPr>
          <a:xfrm>
            <a:off x="1920240" y="2980944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85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Endorsed Cloud-First model based on 2020 financial data (negative cash flow, declining margins). Offered historical customer data. Asked about 1,500 undelivered tablets.</a:t>
            </a:r>
            <a:endParaRPr lang="en-AU" sz="850" noProof="0" dirty="0"/>
          </a:p>
        </p:txBody>
      </p:sp>
      <p:sp>
        <p:nvSpPr>
          <p:cNvPr id="19" name="Shape 17"/>
          <p:cNvSpPr/>
          <p:nvPr/>
        </p:nvSpPr>
        <p:spPr>
          <a:xfrm>
            <a:off x="5257800" y="2770632"/>
            <a:ext cx="36576" cy="868680"/>
          </a:xfrm>
          <a:prstGeom prst="rect">
            <a:avLst/>
          </a:prstGeom>
          <a:solidFill>
            <a:srgbClr val="D0E4EA"/>
          </a:solidFill>
          <a:ln w="12700">
            <a:solidFill>
              <a:srgbClr val="D0E4EA"/>
            </a:solidFill>
            <a:prstDash val="solid"/>
          </a:ln>
        </p:spPr>
        <p:txBody>
          <a:bodyPr/>
          <a:lstStyle/>
          <a:p>
            <a:endParaRPr lang="en-AU" noProof="0" dirty="0"/>
          </a:p>
        </p:txBody>
      </p:sp>
      <p:sp>
        <p:nvSpPr>
          <p:cNvPr id="20" name="Text 18"/>
          <p:cNvSpPr/>
          <p:nvPr/>
        </p:nvSpPr>
        <p:spPr>
          <a:xfrm>
            <a:off x="5394960" y="2770632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900" b="1" noProof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Response:</a:t>
            </a:r>
            <a:endParaRPr lang="en-AU" sz="900" noProof="0" dirty="0"/>
          </a:p>
        </p:txBody>
      </p:sp>
      <p:sp>
        <p:nvSpPr>
          <p:cNvPr id="21" name="Text 19"/>
          <p:cNvSpPr/>
          <p:nvPr/>
        </p:nvSpPr>
        <p:spPr>
          <a:xfrm>
            <a:off x="5394960" y="2980944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85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data-sharing offer. Established data protocol. Proposed affected schools receive free SaaS access as compensation, pending CEO approval.</a:t>
            </a:r>
            <a:endParaRPr lang="en-AU" sz="850" noProof="0" dirty="0"/>
          </a:p>
        </p:txBody>
      </p:sp>
      <p:sp>
        <p:nvSpPr>
          <p:cNvPr id="22" name="Shape 20"/>
          <p:cNvSpPr/>
          <p:nvPr/>
        </p:nvSpPr>
        <p:spPr>
          <a:xfrm>
            <a:off x="320040" y="3849624"/>
            <a:ext cx="850392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 noProof="0" dirty="0"/>
          </a:p>
        </p:txBody>
      </p:sp>
      <p:sp>
        <p:nvSpPr>
          <p:cNvPr id="23" name="Shape 21"/>
          <p:cNvSpPr/>
          <p:nvPr/>
        </p:nvSpPr>
        <p:spPr>
          <a:xfrm>
            <a:off x="320040" y="3849624"/>
            <a:ext cx="1463040" cy="10789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AU" noProof="0" dirty="0"/>
          </a:p>
        </p:txBody>
      </p:sp>
      <p:sp>
        <p:nvSpPr>
          <p:cNvPr id="24" name="Text 22"/>
          <p:cNvSpPr/>
          <p:nvPr/>
        </p:nvSpPr>
        <p:spPr>
          <a:xfrm>
            <a:off x="365760" y="3849624"/>
            <a:ext cx="13716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AU" sz="9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Victorine </a:t>
            </a:r>
            <a:r>
              <a:rPr lang="en-AU" sz="9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Satore</a:t>
            </a:r>
            <a:endParaRPr lang="en-AU" sz="900" noProof="0" dirty="0"/>
          </a:p>
          <a:p>
            <a:pPr marL="0" indent="0" algn="ctr">
              <a:buNone/>
            </a:pPr>
            <a:r>
              <a:rPr lang="en-AU" sz="9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Team Manager</a:t>
            </a:r>
            <a:endParaRPr lang="en-AU" sz="900" noProof="0" dirty="0"/>
          </a:p>
        </p:txBody>
      </p:sp>
      <p:sp>
        <p:nvSpPr>
          <p:cNvPr id="25" name="Text 23"/>
          <p:cNvSpPr/>
          <p:nvPr/>
        </p:nvSpPr>
        <p:spPr>
          <a:xfrm>
            <a:off x="1920240" y="394106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9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Concern:</a:t>
            </a:r>
            <a:endParaRPr lang="en-AU" sz="900" noProof="0" dirty="0"/>
          </a:p>
        </p:txBody>
      </p:sp>
      <p:sp>
        <p:nvSpPr>
          <p:cNvPr id="26" name="Text 24"/>
          <p:cNvSpPr/>
          <p:nvPr/>
        </p:nvSpPr>
        <p:spPr>
          <a:xfrm>
            <a:off x="1920240" y="4151376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85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Concerned about lack of a clear transition roadmap for sales team. Requested new role definitions, SaaS training workshops, and a formal transition communication plan.</a:t>
            </a:r>
            <a:endParaRPr lang="en-AU" sz="850" noProof="0" dirty="0"/>
          </a:p>
        </p:txBody>
      </p:sp>
      <p:sp>
        <p:nvSpPr>
          <p:cNvPr id="27" name="Shape 25"/>
          <p:cNvSpPr/>
          <p:nvPr/>
        </p:nvSpPr>
        <p:spPr>
          <a:xfrm>
            <a:off x="5257800" y="3941064"/>
            <a:ext cx="36576" cy="868680"/>
          </a:xfrm>
          <a:prstGeom prst="rect">
            <a:avLst/>
          </a:prstGeom>
          <a:solidFill>
            <a:srgbClr val="D0E4EA"/>
          </a:solidFill>
          <a:ln w="12700">
            <a:solidFill>
              <a:srgbClr val="D0E4EA"/>
            </a:solidFill>
            <a:prstDash val="solid"/>
          </a:ln>
        </p:spPr>
        <p:txBody>
          <a:bodyPr/>
          <a:lstStyle/>
          <a:p>
            <a:endParaRPr lang="en-AU" noProof="0" dirty="0"/>
          </a:p>
        </p:txBody>
      </p:sp>
      <p:sp>
        <p:nvSpPr>
          <p:cNvPr id="28" name="Text 26"/>
          <p:cNvSpPr/>
          <p:nvPr/>
        </p:nvSpPr>
        <p:spPr>
          <a:xfrm>
            <a:off x="5394960" y="3941064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900" b="1" noProof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Response:</a:t>
            </a:r>
            <a:endParaRPr lang="en-AU" sz="900" noProof="0" dirty="0"/>
          </a:p>
        </p:txBody>
      </p:sp>
      <p:sp>
        <p:nvSpPr>
          <p:cNvPr id="29" name="Text 27"/>
          <p:cNvSpPr/>
          <p:nvPr/>
        </p:nvSpPr>
        <p:spPr>
          <a:xfrm>
            <a:off x="5394960" y="4151376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85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B2C sales role framework (digital sales, customer success, subscriptions). Designed SaaS training programme. Created formal transition communication plan.</a:t>
            </a:r>
            <a:endParaRPr lang="en-AU" sz="850" noProof="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6BCC67F-6611-A15F-02B5-93ED8E83B933}"/>
              </a:ext>
            </a:extLst>
          </p:cNvPr>
          <p:cNvSpPr txBox="1"/>
          <p:nvPr/>
        </p:nvSpPr>
        <p:spPr>
          <a:xfrm>
            <a:off x="0" y="1802309"/>
            <a:ext cx="91440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8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AU" sz="8800" dirty="0"/>
          </a:p>
        </p:txBody>
      </p:sp>
    </p:spTree>
    <p:extLst>
      <p:ext uri="{BB962C8B-B14F-4D97-AF65-F5344CB8AC3E}">
        <p14:creationId xmlns:p14="http://schemas.microsoft.com/office/powerpoint/2010/main" val="21710257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1D9A78"/>
    </a:accent1>
    <a:accent2>
      <a:srgbClr val="8BC145"/>
    </a:accent2>
    <a:accent3>
      <a:srgbClr val="36AFCE"/>
    </a:accent3>
    <a:accent4>
      <a:srgbClr val="1D6FA9"/>
    </a:accent4>
    <a:accent5>
      <a:srgbClr val="B74919"/>
    </a:accent5>
    <a:accent6>
      <a:srgbClr val="F19D19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</TotalTime>
  <Words>1142</Words>
  <Application>Microsoft Macintosh PowerPoint</Application>
  <PresentationFormat>On-screen Show (16:9)</PresentationFormat>
  <Paragraphs>190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502-presentantation</dc:title>
  <dc:subject/>
  <dc:creator>Manuel Perez</dc:creator>
  <cp:keywords/>
  <dc:description/>
  <cp:lastModifiedBy>Manuel Perez</cp:lastModifiedBy>
  <cp:revision>5</cp:revision>
  <dcterms:created xsi:type="dcterms:W3CDTF">2026-04-26T09:00:55Z</dcterms:created>
  <dcterms:modified xsi:type="dcterms:W3CDTF">2026-04-26T09:35:18Z</dcterms:modified>
  <cp:category/>
</cp:coreProperties>
</file>