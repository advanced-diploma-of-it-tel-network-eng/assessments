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10287000" cx="18288000"/>
  <p:notesSz cx="6858000" cy="9144000"/>
  <p:embeddedFontLst>
    <p:embeddedFont>
      <p:font typeface="Montserrat Light"/>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3" roundtripDataSignature="AMtx7mi2EreADgQeAcscQau0wKxknglA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Light-boldItalic.fntdata"/><Relationship Id="rId61" Type="http://schemas.openxmlformats.org/officeDocument/2006/relationships/font" Target="fonts/MontserratLight-italic.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MontserratLight-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MontserratLight-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 name="Google Shape;82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 name="Google Shape;94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5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5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5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6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6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6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6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3"/>
          <p:cNvSpPr/>
          <p:nvPr>
            <p:ph idx="2" type="pic"/>
          </p:nvPr>
        </p:nvSpPr>
        <p:spPr>
          <a:xfrm>
            <a:off x="1792288" y="612775"/>
            <a:ext cx="5486400" cy="4114800"/>
          </a:xfrm>
          <a:prstGeom prst="rect">
            <a:avLst/>
          </a:prstGeom>
          <a:noFill/>
          <a:ln>
            <a:noFill/>
          </a:ln>
        </p:spPr>
      </p:sp>
      <p:sp>
        <p:nvSpPr>
          <p:cNvPr id="68" name="Google Shape;68;p6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www.crowe-associates.co.uk/teams-and-groups/team-plans/"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testyourself.psychtests.com/testid/3113"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projectmanager.com/training/8-essential-kpi-metrics-teams" TargetMode="Externa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youtube.com/watch?v=hEJaz3sinEs" TargetMode="External"/><Relationship Id="rId4" Type="http://schemas.openxmlformats.org/officeDocument/2006/relationships/hyperlink" Target="https://www.youtube.com/watch?v=wuo13FrNX6g" TargetMode="External"/><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online.maryville.edu/blog/4-things-to-know-about-group-dynamics-in-the-workplace/" TargetMode="External"/><Relationship Id="rId4" Type="http://schemas.openxmlformats.org/officeDocument/2006/relationships/hyperlink" Target="https://www.mindtools.com/pages/article/improving-group-dynamics.htm" TargetMode="External"/><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youtube.com/watch?v=BjrpvUOeHqI" TargetMode="Externa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www.youtube.com/watch?v=IkYUDQCYGHA" TargetMode="External"/><Relationship Id="rId4" Type="http://schemas.openxmlformats.org/officeDocument/2006/relationships/hyperlink" Target="https://www.youtube.com/watch?v=gdp4sPviV74" TargetMode="External"/><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youtube.com/watch?v=jIch3rpD7Zo" TargetMode="Externa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hyperlink" Target="https://work.chron.com/effective-techniques-encourage-team-members-contribute-project-5121.html" TargetMode="Externa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hyperlink" Target="https://www.youtube.com/watch?v=hniJfc2FqPQ" TargetMode="External"/><Relationship Id="rId4" Type="http://schemas.openxmlformats.org/officeDocument/2006/relationships/hyperlink" Target="https://www.youtube.com/watch?v=bRXLTZMvy-U" TargetMode="External"/><Relationship Id="rId5"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hyperlink" Target="http://www.mindtools.com/pages/article/newLDR_81.htm" TargetMode="External"/><Relationship Id="rId4" Type="http://schemas.openxmlformats.org/officeDocument/2006/relationships/hyperlink" Target="https://www.leadstrat.com/3-techniques-for-building-consensus-2/" TargetMode="External"/><Relationship Id="rId5"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87" name="Shape 87"/>
        <p:cNvGrpSpPr/>
        <p:nvPr/>
      </p:nvGrpSpPr>
      <p:grpSpPr>
        <a:xfrm>
          <a:off x="0" y="0"/>
          <a:ext cx="0" cy="0"/>
          <a:chOff x="0" y="0"/>
          <a:chExt cx="0" cy="0"/>
        </a:xfrm>
      </p:grpSpPr>
      <p:sp>
        <p:nvSpPr>
          <p:cNvPr id="88" name="Google Shape;88;p1"/>
          <p:cNvSpPr/>
          <p:nvPr/>
        </p:nvSpPr>
        <p:spPr>
          <a:xfrm>
            <a:off x="0" y="8136093"/>
            <a:ext cx="18288000" cy="2150907"/>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txBox="1"/>
          <p:nvPr/>
        </p:nvSpPr>
        <p:spPr>
          <a:xfrm>
            <a:off x="1028700" y="1798927"/>
            <a:ext cx="7120939" cy="92538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6000" u="none" cap="none" strike="noStrike">
                <a:solidFill>
                  <a:schemeClr val="lt1"/>
                </a:solidFill>
                <a:latin typeface="Arial"/>
                <a:ea typeface="Arial"/>
                <a:cs typeface="Arial"/>
                <a:sym typeface="Arial"/>
              </a:rPr>
              <a:t>BSBTWK502</a:t>
            </a:r>
            <a:endParaRPr/>
          </a:p>
        </p:txBody>
      </p:sp>
      <p:grpSp>
        <p:nvGrpSpPr>
          <p:cNvPr id="90" name="Google Shape;90;p1"/>
          <p:cNvGrpSpPr/>
          <p:nvPr/>
        </p:nvGrpSpPr>
        <p:grpSpPr>
          <a:xfrm>
            <a:off x="1028700" y="876300"/>
            <a:ext cx="17590875" cy="227806"/>
            <a:chOff x="0" y="-24217"/>
            <a:chExt cx="23454501" cy="303741"/>
          </a:xfrm>
        </p:grpSpPr>
        <p:sp>
          <p:nvSpPr>
            <p:cNvPr id="91" name="Google Shape;91;p1"/>
            <p:cNvSpPr/>
            <p:nvPr/>
          </p:nvSpPr>
          <p:spPr>
            <a:xfrm>
              <a:off x="0" y="125899"/>
              <a:ext cx="23454501" cy="2772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
            <p:cNvSpPr/>
            <p:nvPr/>
          </p:nvSpPr>
          <p:spPr>
            <a:xfrm>
              <a:off x="0" y="-24217"/>
              <a:ext cx="292033" cy="27952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7770499" y="0"/>
              <a:ext cx="292033" cy="279524"/>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p:nvPr/>
          </p:nvSpPr>
          <p:spPr>
            <a:xfrm>
              <a:off x="15540998" y="0"/>
              <a:ext cx="292033" cy="279524"/>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
          <p:cNvSpPr txBox="1"/>
          <p:nvPr/>
        </p:nvSpPr>
        <p:spPr>
          <a:xfrm>
            <a:off x="2494756" y="3568509"/>
            <a:ext cx="14421644" cy="771109"/>
          </a:xfrm>
          <a:prstGeom prst="rect">
            <a:avLst/>
          </a:prstGeom>
          <a:noFill/>
          <a:ln>
            <a:noFill/>
          </a:ln>
        </p:spPr>
        <p:txBody>
          <a:bodyPr anchorCtr="0" anchor="t" bIns="0" lIns="0" spcFirstLastPara="1" rIns="0" wrap="square" tIns="0">
            <a:spAutoFit/>
          </a:bodyPr>
          <a:lstStyle/>
          <a:p>
            <a:pPr indent="0" lvl="0" marL="0" marR="0" rtl="0" algn="l">
              <a:lnSpc>
                <a:spcPct val="129500"/>
              </a:lnSpc>
              <a:spcBef>
                <a:spcPts val="0"/>
              </a:spcBef>
              <a:spcAft>
                <a:spcPts val="0"/>
              </a:spcAft>
              <a:buNone/>
            </a:pPr>
            <a:r>
              <a:rPr b="0" i="0" lang="en-US" sz="5000" u="none" cap="none" strike="noStrike">
                <a:solidFill>
                  <a:schemeClr val="lt1"/>
                </a:solidFill>
                <a:latin typeface="Arial"/>
                <a:ea typeface="Arial"/>
                <a:cs typeface="Arial"/>
                <a:sym typeface="Arial"/>
              </a:rPr>
              <a:t>Manage team effectiveness </a:t>
            </a:r>
            <a:endParaRPr/>
          </a:p>
        </p:txBody>
      </p:sp>
      <p:pic>
        <p:nvPicPr>
          <p:cNvPr id="96" name="Google Shape;96;p1"/>
          <p:cNvPicPr preferRelativeResize="0"/>
          <p:nvPr/>
        </p:nvPicPr>
        <p:blipFill>
          <a:blip r:embed="rId3">
            <a:alphaModFix/>
          </a:blip>
          <a:stretch>
            <a:fillRect/>
          </a:stretch>
        </p:blipFill>
        <p:spPr>
          <a:xfrm>
            <a:off x="12934150" y="8600895"/>
            <a:ext cx="5032576" cy="1221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
          <p:cNvSpPr/>
          <p:nvPr/>
        </p:nvSpPr>
        <p:spPr>
          <a:xfrm>
            <a:off x="0" y="1290497"/>
            <a:ext cx="18288000" cy="8196478"/>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txBox="1"/>
          <p:nvPr/>
        </p:nvSpPr>
        <p:spPr>
          <a:xfrm>
            <a:off x="1044000" y="1866900"/>
            <a:ext cx="16655652" cy="83599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200" u="none" cap="none" strike="noStrike">
                <a:solidFill>
                  <a:schemeClr val="lt1"/>
                </a:solidFill>
                <a:latin typeface="Arial"/>
                <a:ea typeface="Arial"/>
                <a:cs typeface="Arial"/>
                <a:sym typeface="Arial"/>
              </a:rPr>
              <a:t>Topic 1: Establish team performance plan</a:t>
            </a:r>
            <a:endParaRPr/>
          </a:p>
        </p:txBody>
      </p:sp>
      <p:grpSp>
        <p:nvGrpSpPr>
          <p:cNvPr id="104" name="Google Shape;104;p2"/>
          <p:cNvGrpSpPr/>
          <p:nvPr/>
        </p:nvGrpSpPr>
        <p:grpSpPr>
          <a:xfrm>
            <a:off x="1028700" y="495300"/>
            <a:ext cx="17259300" cy="218203"/>
            <a:chOff x="1028700" y="723900"/>
            <a:chExt cx="17259300" cy="218203"/>
          </a:xfrm>
        </p:grpSpPr>
        <p:sp>
          <p:nvSpPr>
            <p:cNvPr id="105" name="Google Shape;105;p2"/>
            <p:cNvSpPr/>
            <p:nvPr/>
          </p:nvSpPr>
          <p:spPr>
            <a:xfrm>
              <a:off x="1044000" y="826884"/>
              <a:ext cx="17244000" cy="20795"/>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1028700" y="72390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6856574" y="73246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12684448" y="73246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110" name="Google Shape;110;p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111" name="Google Shape;111;p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pic>
        <p:nvPicPr>
          <p:cNvPr descr="man standing in front of group of men" id="112" name="Google Shape;112;p2"/>
          <p:cNvPicPr preferRelativeResize="0"/>
          <p:nvPr/>
        </p:nvPicPr>
        <p:blipFill rotWithShape="1">
          <a:blip r:embed="rId3">
            <a:alphaModFix/>
          </a:blip>
          <a:srcRect b="0" l="0" r="0" t="0"/>
          <a:stretch/>
        </p:blipFill>
        <p:spPr>
          <a:xfrm>
            <a:off x="4851717" y="3597141"/>
            <a:ext cx="8584565" cy="4822959"/>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3"/>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118" name="Google Shape;118;p3"/>
          <p:cNvGrpSpPr/>
          <p:nvPr/>
        </p:nvGrpSpPr>
        <p:grpSpPr>
          <a:xfrm>
            <a:off x="1028700" y="446788"/>
            <a:ext cx="17244000" cy="220041"/>
            <a:chOff x="0" y="0"/>
            <a:chExt cx="23454501" cy="293387"/>
          </a:xfrm>
        </p:grpSpPr>
        <p:sp>
          <p:nvSpPr>
            <p:cNvPr id="119" name="Google Shape;119;p3"/>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3"/>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1: Establish team performance plan</a:t>
            </a:r>
            <a:endParaRPr/>
          </a:p>
        </p:txBody>
      </p:sp>
      <p:sp>
        <p:nvSpPr>
          <p:cNvPr id="125" name="Google Shape;125;p3"/>
          <p:cNvSpPr txBox="1"/>
          <p:nvPr/>
        </p:nvSpPr>
        <p:spPr>
          <a:xfrm>
            <a:off x="1028700" y="1676834"/>
            <a:ext cx="12687300" cy="2215030"/>
          </a:xfrm>
          <a:prstGeom prst="rect">
            <a:avLst/>
          </a:prstGeom>
          <a:noFill/>
          <a:ln>
            <a:noFill/>
          </a:ln>
        </p:spPr>
        <p:txBody>
          <a:bodyPr anchorCtr="0" anchor="t" bIns="0" lIns="0" spcFirstLastPara="1" rIns="0" wrap="square" tIns="0">
            <a:spAutoFit/>
          </a:bodyPr>
          <a:lstStyle/>
          <a:p>
            <a:pPr indent="-457200" lvl="0" marL="457200" marR="0" rtl="0" algn="l">
              <a:lnSpc>
                <a:spcPct val="114000"/>
              </a:lnSpc>
              <a:spcBef>
                <a:spcPts val="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Goal setting is one of the first steps in reaching performance expectations set by an organisation.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A team needs goals and clear objectives so that performance and achievements can be tracked. </a:t>
            </a:r>
            <a:endParaRPr b="0" i="0" sz="2500" u="none" cap="none" strike="noStrike">
              <a:solidFill>
                <a:srgbClr val="31859C"/>
              </a:solidFill>
              <a:latin typeface="Arial"/>
              <a:ea typeface="Arial"/>
              <a:cs typeface="Arial"/>
              <a:sym typeface="Arial"/>
            </a:endParaRPr>
          </a:p>
        </p:txBody>
      </p:sp>
      <p:sp>
        <p:nvSpPr>
          <p:cNvPr id="126" name="Google Shape;126;p3"/>
          <p:cNvSpPr txBox="1"/>
          <p:nvPr/>
        </p:nvSpPr>
        <p:spPr>
          <a:xfrm>
            <a:off x="15108850" y="9844200"/>
            <a:ext cx="2895600" cy="442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solidFill>
                <a:srgbClr val="31859C"/>
              </a:solidFill>
            </a:endParaRPr>
          </a:p>
          <a:p>
            <a:pPr indent="0" lvl="0" marL="0" rtl="0" algn="r">
              <a:spcBef>
                <a:spcPts val="0"/>
              </a:spcBef>
              <a:spcAft>
                <a:spcPts val="0"/>
              </a:spcAft>
              <a:buClr>
                <a:schemeClr val="dk1"/>
              </a:buClr>
              <a:buFont typeface="Arial"/>
              <a:buNone/>
            </a:pPr>
            <a:r>
              <a:t/>
            </a:r>
            <a:endParaRPr sz="1200">
              <a:solidFill>
                <a:srgbClr val="31859C"/>
              </a:solidFill>
            </a:endParaRPr>
          </a:p>
          <a:p>
            <a:pPr indent="0" lvl="0" marL="0" marR="0" rtl="0" algn="r">
              <a:spcBef>
                <a:spcPts val="0"/>
              </a:spcBef>
              <a:spcAft>
                <a:spcPts val="0"/>
              </a:spcAft>
              <a:buNone/>
            </a:pPr>
            <a:r>
              <a:t/>
            </a:r>
            <a:endParaRPr sz="1200">
              <a:solidFill>
                <a:srgbClr val="31859C"/>
              </a:solidFill>
            </a:endParaRPr>
          </a:p>
        </p:txBody>
      </p:sp>
      <p:sp>
        <p:nvSpPr>
          <p:cNvPr id="127" name="Google Shape;127;p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128" name="Google Shape;128;p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133" name="Shape 133"/>
        <p:cNvGrpSpPr/>
        <p:nvPr/>
      </p:nvGrpSpPr>
      <p:grpSpPr>
        <a:xfrm>
          <a:off x="0" y="0"/>
          <a:ext cx="0" cy="0"/>
          <a:chOff x="0" y="0"/>
          <a:chExt cx="0" cy="0"/>
        </a:xfrm>
      </p:grpSpPr>
      <p:sp>
        <p:nvSpPr>
          <p:cNvPr id="134" name="Google Shape;134;p4"/>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136" name="Google Shape;136;p4"/>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GROUP WORK</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Work in your teams:</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Research a few examples of business plans, look at the headings used to identify the primary purpose of the plan. Find one plan that the team thinks is the best example, and each keeps a copy for future reference.</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Explore how team performance plans link to overall business objectives.</a:t>
            </a:r>
            <a:endParaRPr/>
          </a:p>
        </p:txBody>
      </p:sp>
      <p:grpSp>
        <p:nvGrpSpPr>
          <p:cNvPr id="137" name="Google Shape;137;p4"/>
          <p:cNvGrpSpPr/>
          <p:nvPr/>
        </p:nvGrpSpPr>
        <p:grpSpPr>
          <a:xfrm>
            <a:off x="1028700" y="495300"/>
            <a:ext cx="17259300" cy="218203"/>
            <a:chOff x="1028700" y="723900"/>
            <a:chExt cx="17259300" cy="218203"/>
          </a:xfrm>
        </p:grpSpPr>
        <p:sp>
          <p:nvSpPr>
            <p:cNvPr id="138" name="Google Shape;138;p4"/>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142" name="Google Shape;142;p4"/>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143" name="Google Shape;143;p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a:p>
            <a:pPr indent="0" lvl="0" marL="0" marR="0" rtl="0" algn="r">
              <a:spcBef>
                <a:spcPts val="0"/>
              </a:spcBef>
              <a:spcAft>
                <a:spcPts val="0"/>
              </a:spcAft>
              <a:buNone/>
            </a:pPr>
            <a:r>
              <a:t/>
            </a:r>
            <a:endParaRPr sz="1200">
              <a:solidFill>
                <a:schemeClr val="lt1"/>
              </a:solidFill>
            </a:endParaRPr>
          </a:p>
        </p:txBody>
      </p:sp>
      <p:sp>
        <p:nvSpPr>
          <p:cNvPr id="144" name="Google Shape;144;p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145" name="Google Shape;145;p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5"/>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151" name="Google Shape;151;p5"/>
          <p:cNvGrpSpPr/>
          <p:nvPr/>
        </p:nvGrpSpPr>
        <p:grpSpPr>
          <a:xfrm>
            <a:off x="1028700" y="446788"/>
            <a:ext cx="17244000" cy="220041"/>
            <a:chOff x="0" y="0"/>
            <a:chExt cx="23454501" cy="293387"/>
          </a:xfrm>
        </p:grpSpPr>
        <p:sp>
          <p:nvSpPr>
            <p:cNvPr id="152" name="Google Shape;152;p5"/>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5"/>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1: Establish team performance plan</a:t>
            </a:r>
            <a:endParaRPr/>
          </a:p>
        </p:txBody>
      </p:sp>
      <p:sp>
        <p:nvSpPr>
          <p:cNvPr id="158" name="Google Shape;158;p5"/>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TEAM PERFORMANCE PLANS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A team performance plan is a detailed plan that specifies team goals and objectives, as well as actions to achieve these, responsibilities, timelines for achieving actions and performance indicators that will be used to measure performance.</a:t>
            </a:r>
            <a:endParaRPr/>
          </a:p>
        </p:txBody>
      </p:sp>
      <p:sp>
        <p:nvSpPr>
          <p:cNvPr id="159" name="Google Shape;159;p5"/>
          <p:cNvSpPr txBox="1"/>
          <p:nvPr/>
        </p:nvSpPr>
        <p:spPr>
          <a:xfrm>
            <a:off x="15108850" y="9583070"/>
            <a:ext cx="2895600" cy="53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t/>
            </a:r>
            <a:endParaRPr>
              <a:solidFill>
                <a:srgbClr val="31859C"/>
              </a:solidFill>
            </a:endParaRPr>
          </a:p>
          <a:p>
            <a:pPr indent="0" lvl="0" marL="0" rtl="0" algn="r">
              <a:spcBef>
                <a:spcPts val="0"/>
              </a:spcBef>
              <a:spcAft>
                <a:spcPts val="0"/>
              </a:spcAft>
              <a:buNone/>
            </a:pPr>
            <a:r>
              <a:t/>
            </a:r>
            <a:endParaRPr sz="1200">
              <a:solidFill>
                <a:srgbClr val="31859C"/>
              </a:solidFill>
            </a:endParaRPr>
          </a:p>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sz="1200">
              <a:solidFill>
                <a:srgbClr val="31859C"/>
              </a:solidFill>
            </a:endParaRPr>
          </a:p>
          <a:p>
            <a:pPr indent="0" lvl="0" marL="0" marR="0" rtl="0" algn="r">
              <a:spcBef>
                <a:spcPts val="0"/>
              </a:spcBef>
              <a:spcAft>
                <a:spcPts val="0"/>
              </a:spcAft>
              <a:buNone/>
            </a:pPr>
            <a:r>
              <a:t/>
            </a:r>
            <a:endParaRPr sz="1200">
              <a:solidFill>
                <a:srgbClr val="31859C"/>
              </a:solidFill>
            </a:endParaRPr>
          </a:p>
        </p:txBody>
      </p:sp>
      <p:sp>
        <p:nvSpPr>
          <p:cNvPr id="160" name="Google Shape;160;p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161" name="Google Shape;161;p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166" name="Shape 166"/>
        <p:cNvGrpSpPr/>
        <p:nvPr/>
      </p:nvGrpSpPr>
      <p:grpSpPr>
        <a:xfrm>
          <a:off x="0" y="0"/>
          <a:ext cx="0" cy="0"/>
          <a:chOff x="0" y="0"/>
          <a:chExt cx="0" cy="0"/>
        </a:xfrm>
      </p:grpSpPr>
      <p:sp>
        <p:nvSpPr>
          <p:cNvPr id="167" name="Google Shape;167;p6"/>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169" name="Google Shape;169;p6"/>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READ</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Review information about team performance plans at:</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http://www.crowe-associates.co.uk/teams-and-groups/team-plans/</a:t>
            </a:r>
            <a:r>
              <a:rPr b="0" i="0" lang="en-US" sz="3000" u="none" cap="none" strike="noStrike">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Take any notes to summarise what you have read and keep for future reference.</a:t>
            </a:r>
            <a:endParaRPr/>
          </a:p>
        </p:txBody>
      </p:sp>
      <p:grpSp>
        <p:nvGrpSpPr>
          <p:cNvPr id="170" name="Google Shape;170;p6"/>
          <p:cNvGrpSpPr/>
          <p:nvPr/>
        </p:nvGrpSpPr>
        <p:grpSpPr>
          <a:xfrm>
            <a:off x="1028700" y="495300"/>
            <a:ext cx="17259300" cy="218203"/>
            <a:chOff x="1028700" y="723900"/>
            <a:chExt cx="17259300" cy="218203"/>
          </a:xfrm>
        </p:grpSpPr>
        <p:sp>
          <p:nvSpPr>
            <p:cNvPr id="171" name="Google Shape;171;p6"/>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175" name="Google Shape;175;p6"/>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176" name="Google Shape;176;p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177" name="Google Shape;177;p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178" name="Google Shape;178;p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184" name="Google Shape;184;p7"/>
          <p:cNvGrpSpPr/>
          <p:nvPr/>
        </p:nvGrpSpPr>
        <p:grpSpPr>
          <a:xfrm>
            <a:off x="1028700" y="446788"/>
            <a:ext cx="17244000" cy="220041"/>
            <a:chOff x="0" y="0"/>
            <a:chExt cx="23454501" cy="293387"/>
          </a:xfrm>
        </p:grpSpPr>
        <p:sp>
          <p:nvSpPr>
            <p:cNvPr id="185" name="Google Shape;185;p7"/>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7"/>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1: Establish team performance plan</a:t>
            </a:r>
            <a:endParaRPr/>
          </a:p>
        </p:txBody>
      </p:sp>
      <p:sp>
        <p:nvSpPr>
          <p:cNvPr id="191" name="Google Shape;191;p7"/>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TEAM PLAYERS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Teams will consist of people with particular strengths and weaknesses. Team members vary in the role that they play for example some could be practical and organised whereas others could be a good communicators or problem.</a:t>
            </a:r>
            <a:endParaRPr/>
          </a:p>
        </p:txBody>
      </p:sp>
      <p:sp>
        <p:nvSpPr>
          <p:cNvPr id="192" name="Google Shape;192;p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193" name="Google Shape;193;p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194" name="Google Shape;194;p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199" name="Shape 199"/>
        <p:cNvGrpSpPr/>
        <p:nvPr/>
      </p:nvGrpSpPr>
      <p:grpSpPr>
        <a:xfrm>
          <a:off x="0" y="0"/>
          <a:ext cx="0" cy="0"/>
          <a:chOff x="0" y="0"/>
          <a:chExt cx="0" cy="0"/>
        </a:xfrm>
      </p:grpSpPr>
      <p:sp>
        <p:nvSpPr>
          <p:cNvPr id="200" name="Google Shape;200;p8"/>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202" name="Google Shape;202;p8"/>
          <p:cNvSpPr txBox="1"/>
          <p:nvPr/>
        </p:nvSpPr>
        <p:spPr>
          <a:xfrm>
            <a:off x="2209800" y="1676834"/>
            <a:ext cx="149352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Using the Internet, search for your ideal career or job position. Read the job description – did it match your expectations of the desired role? Make notes.</a:t>
            </a:r>
            <a:endParaRPr/>
          </a:p>
        </p:txBody>
      </p:sp>
      <p:grpSp>
        <p:nvGrpSpPr>
          <p:cNvPr id="203" name="Google Shape;203;p8"/>
          <p:cNvGrpSpPr/>
          <p:nvPr/>
        </p:nvGrpSpPr>
        <p:grpSpPr>
          <a:xfrm>
            <a:off x="1028700" y="495300"/>
            <a:ext cx="17259300" cy="218203"/>
            <a:chOff x="1028700" y="723900"/>
            <a:chExt cx="17259300" cy="218203"/>
          </a:xfrm>
        </p:grpSpPr>
        <p:sp>
          <p:nvSpPr>
            <p:cNvPr id="204" name="Google Shape;204;p8"/>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208" name="Google Shape;208;p8"/>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09" name="Google Shape;209;p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10" name="Google Shape;210;p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211" name="Google Shape;211;p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217" name="Google Shape;217;p9"/>
          <p:cNvGrpSpPr/>
          <p:nvPr/>
        </p:nvGrpSpPr>
        <p:grpSpPr>
          <a:xfrm>
            <a:off x="1028700" y="446788"/>
            <a:ext cx="17244000" cy="220041"/>
            <a:chOff x="0" y="0"/>
            <a:chExt cx="23454501" cy="293387"/>
          </a:xfrm>
        </p:grpSpPr>
        <p:sp>
          <p:nvSpPr>
            <p:cNvPr id="218" name="Google Shape;218;p9"/>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9"/>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1: Establish team performance plan</a:t>
            </a:r>
            <a:endParaRPr/>
          </a:p>
        </p:txBody>
      </p:sp>
      <p:sp>
        <p:nvSpPr>
          <p:cNvPr id="224" name="Google Shape;224;p9"/>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BELBIN TEST</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Several different theories have been developed, which categorise the different types of roles and personalities people display.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 Belbin test was designed to identify the different types of roles team members prefer precisely.</a:t>
            </a:r>
            <a:endParaRPr/>
          </a:p>
        </p:txBody>
      </p:sp>
      <p:sp>
        <p:nvSpPr>
          <p:cNvPr id="225" name="Google Shape;225;p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226" name="Google Shape;226;p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227" name="Google Shape;227;p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232" name="Shape 232"/>
        <p:cNvGrpSpPr/>
        <p:nvPr/>
      </p:nvGrpSpPr>
      <p:grpSpPr>
        <a:xfrm>
          <a:off x="0" y="0"/>
          <a:ext cx="0" cy="0"/>
          <a:chOff x="0" y="0"/>
          <a:chExt cx="0" cy="0"/>
        </a:xfrm>
      </p:grpSpPr>
      <p:sp>
        <p:nvSpPr>
          <p:cNvPr id="233" name="Google Shape;233;p10"/>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235" name="Google Shape;235;p10"/>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Visit the Belbin website to view the explanations for each role.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Research the various roles that team members take on. Which role are you likely to be? Which role do you have in your current class team? Is it the same role?</a:t>
            </a:r>
            <a:endParaRPr/>
          </a:p>
        </p:txBody>
      </p:sp>
      <p:grpSp>
        <p:nvGrpSpPr>
          <p:cNvPr id="236" name="Google Shape;236;p10"/>
          <p:cNvGrpSpPr/>
          <p:nvPr/>
        </p:nvGrpSpPr>
        <p:grpSpPr>
          <a:xfrm>
            <a:off x="1028700" y="495300"/>
            <a:ext cx="17259300" cy="218203"/>
            <a:chOff x="1028700" y="723900"/>
            <a:chExt cx="17259300" cy="218203"/>
          </a:xfrm>
        </p:grpSpPr>
        <p:sp>
          <p:nvSpPr>
            <p:cNvPr id="237" name="Google Shape;237;p10"/>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241" name="Google Shape;241;p10"/>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42" name="Google Shape;242;p1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43" name="Google Shape;243;p1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244" name="Google Shape;244;p1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249" name="Shape 249"/>
        <p:cNvGrpSpPr/>
        <p:nvPr/>
      </p:nvGrpSpPr>
      <p:grpSpPr>
        <a:xfrm>
          <a:off x="0" y="0"/>
          <a:ext cx="0" cy="0"/>
          <a:chOff x="0" y="0"/>
          <a:chExt cx="0" cy="0"/>
        </a:xfrm>
      </p:grpSpPr>
      <p:sp>
        <p:nvSpPr>
          <p:cNvPr id="250" name="Google Shape;250;p11"/>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252" name="Google Shape;252;p11"/>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REFLECT</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Complete the following quiz, which will help you to identify what type of role your personality suits:</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http://testyourself.psychtests.com/testid/3113</a:t>
            </a:r>
            <a:r>
              <a:rPr b="0" i="0" lang="en-US" sz="3000" u="none" cap="none" strike="noStrike">
                <a:solidFill>
                  <a:schemeClr val="lt1"/>
                </a:solidFill>
                <a:latin typeface="Arial"/>
                <a:ea typeface="Arial"/>
                <a:cs typeface="Arial"/>
                <a:sym typeface="Arial"/>
              </a:rPr>
              <a:t>  </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Is this the same role that you specified earlier?</a:t>
            </a:r>
            <a:endParaRPr/>
          </a:p>
        </p:txBody>
      </p:sp>
      <p:grpSp>
        <p:nvGrpSpPr>
          <p:cNvPr id="253" name="Google Shape;253;p11"/>
          <p:cNvGrpSpPr/>
          <p:nvPr/>
        </p:nvGrpSpPr>
        <p:grpSpPr>
          <a:xfrm>
            <a:off x="1028700" y="495300"/>
            <a:ext cx="17259300" cy="218203"/>
            <a:chOff x="1028700" y="723900"/>
            <a:chExt cx="17259300" cy="218203"/>
          </a:xfrm>
        </p:grpSpPr>
        <p:sp>
          <p:nvSpPr>
            <p:cNvPr id="254" name="Google Shape;254;p11"/>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258" name="Google Shape;258;p11"/>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259" name="Google Shape;259;p1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60" name="Google Shape;260;p1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261" name="Google Shape;261;p1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2"/>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267" name="Google Shape;267;p12"/>
          <p:cNvGrpSpPr/>
          <p:nvPr/>
        </p:nvGrpSpPr>
        <p:grpSpPr>
          <a:xfrm>
            <a:off x="1028700" y="446788"/>
            <a:ext cx="17244000" cy="220041"/>
            <a:chOff x="0" y="0"/>
            <a:chExt cx="23454501" cy="293387"/>
          </a:xfrm>
        </p:grpSpPr>
        <p:sp>
          <p:nvSpPr>
            <p:cNvPr id="268" name="Google Shape;268;p12"/>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2" name="Google Shape;272;p12"/>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1: Establish team performance plan</a:t>
            </a:r>
            <a:endParaRPr/>
          </a:p>
        </p:txBody>
      </p:sp>
      <p:sp>
        <p:nvSpPr>
          <p:cNvPr id="274" name="Google Shape;274;p12"/>
          <p:cNvSpPr txBox="1"/>
          <p:nvPr/>
        </p:nvSpPr>
        <p:spPr>
          <a:xfrm>
            <a:off x="1028700" y="1676834"/>
            <a:ext cx="12687300" cy="179113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SUPPORTING TEAM MEMBERS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By supporting the members of your team, a manager can ensure that goals are met. </a:t>
            </a:r>
            <a:endParaRPr/>
          </a:p>
        </p:txBody>
      </p:sp>
      <p:sp>
        <p:nvSpPr>
          <p:cNvPr id="275" name="Google Shape;275;p1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276" name="Google Shape;276;p1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277" name="Google Shape;277;p1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282" name="Shape 282"/>
        <p:cNvGrpSpPr/>
        <p:nvPr/>
      </p:nvGrpSpPr>
      <p:grpSpPr>
        <a:xfrm>
          <a:off x="0" y="0"/>
          <a:ext cx="0" cy="0"/>
          <a:chOff x="0" y="0"/>
          <a:chExt cx="0" cy="0"/>
        </a:xfrm>
      </p:grpSpPr>
      <p:sp>
        <p:nvSpPr>
          <p:cNvPr id="283" name="Google Shape;283;p1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285" name="Google Shape;285;p13"/>
          <p:cNvSpPr txBox="1"/>
          <p:nvPr/>
        </p:nvSpPr>
        <p:spPr>
          <a:xfrm>
            <a:off x="2209800" y="1676834"/>
            <a:ext cx="149352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In small groups, think about the rewards and recognitions that you may have received in the past that they have found most beneficial. This could be either in a work or non-work-related context.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Brainstorm ideas and create a list as a group.</a:t>
            </a:r>
            <a:endParaRPr/>
          </a:p>
        </p:txBody>
      </p:sp>
      <p:grpSp>
        <p:nvGrpSpPr>
          <p:cNvPr id="286" name="Google Shape;286;p13"/>
          <p:cNvGrpSpPr/>
          <p:nvPr/>
        </p:nvGrpSpPr>
        <p:grpSpPr>
          <a:xfrm>
            <a:off x="1028700" y="495300"/>
            <a:ext cx="17259300" cy="218203"/>
            <a:chOff x="1028700" y="723900"/>
            <a:chExt cx="17259300" cy="218203"/>
          </a:xfrm>
        </p:grpSpPr>
        <p:sp>
          <p:nvSpPr>
            <p:cNvPr id="287" name="Google Shape;287;p1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291" name="Google Shape;291;p1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92" name="Google Shape;292;p1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93" name="Google Shape;293;p1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294" name="Google Shape;294;p1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300" name="Google Shape;300;p14"/>
          <p:cNvGrpSpPr/>
          <p:nvPr/>
        </p:nvGrpSpPr>
        <p:grpSpPr>
          <a:xfrm>
            <a:off x="1028700" y="446788"/>
            <a:ext cx="17244000" cy="220041"/>
            <a:chOff x="0" y="0"/>
            <a:chExt cx="23454501" cy="293387"/>
          </a:xfrm>
        </p:grpSpPr>
        <p:sp>
          <p:nvSpPr>
            <p:cNvPr id="301" name="Google Shape;301;p14"/>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4"/>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5" name="Google Shape;305;p14"/>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1: Establish team performance plan</a:t>
            </a:r>
            <a:endParaRPr/>
          </a:p>
        </p:txBody>
      </p:sp>
      <p:sp>
        <p:nvSpPr>
          <p:cNvPr id="307" name="Google Shape;307;p14"/>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TEAM PERFORMANCE AND KEY PERFORMANCE INDICATORS</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As indicated previously, the team performance plan should include key performance indicators that can then be used to measure performance.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 purpose of a KPI is to provide an objective performance measure is a crucial activity. </a:t>
            </a:r>
            <a:endParaRPr/>
          </a:p>
        </p:txBody>
      </p:sp>
      <p:sp>
        <p:nvSpPr>
          <p:cNvPr id="308" name="Google Shape;308;p1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309" name="Google Shape;309;p1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310" name="Google Shape;310;p1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315" name="Shape 315"/>
        <p:cNvGrpSpPr/>
        <p:nvPr/>
      </p:nvGrpSpPr>
      <p:grpSpPr>
        <a:xfrm>
          <a:off x="0" y="0"/>
          <a:ext cx="0" cy="0"/>
          <a:chOff x="0" y="0"/>
          <a:chExt cx="0" cy="0"/>
        </a:xfrm>
      </p:grpSpPr>
      <p:sp>
        <p:nvSpPr>
          <p:cNvPr id="316" name="Google Shape;316;p15"/>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318" name="Google Shape;318;p15"/>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READ</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Read more about KPIs for teams at:</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https://www.projectmanager.com/training/8-essential-kpi-metrics-teams</a:t>
            </a:r>
            <a:r>
              <a:rPr b="0" i="0" lang="en-US" sz="3000" u="none" cap="none" strike="noStrike">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Take any notes to summarise what you have read and keep for future reference.</a:t>
            </a:r>
            <a:endParaRPr/>
          </a:p>
        </p:txBody>
      </p:sp>
      <p:grpSp>
        <p:nvGrpSpPr>
          <p:cNvPr id="319" name="Google Shape;319;p15"/>
          <p:cNvGrpSpPr/>
          <p:nvPr/>
        </p:nvGrpSpPr>
        <p:grpSpPr>
          <a:xfrm>
            <a:off x="1028700" y="495300"/>
            <a:ext cx="17259300" cy="218203"/>
            <a:chOff x="1028700" y="723900"/>
            <a:chExt cx="17259300" cy="218203"/>
          </a:xfrm>
        </p:grpSpPr>
        <p:sp>
          <p:nvSpPr>
            <p:cNvPr id="320" name="Google Shape;320;p15"/>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324" name="Google Shape;324;p15"/>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325" name="Google Shape;325;p1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326" name="Google Shape;326;p1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327" name="Google Shape;327;p1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332" name="Shape 332"/>
        <p:cNvGrpSpPr/>
        <p:nvPr/>
      </p:nvGrpSpPr>
      <p:grpSpPr>
        <a:xfrm>
          <a:off x="0" y="0"/>
          <a:ext cx="0" cy="0"/>
          <a:chOff x="0" y="0"/>
          <a:chExt cx="0" cy="0"/>
        </a:xfrm>
      </p:grpSpPr>
      <p:sp>
        <p:nvSpPr>
          <p:cNvPr id="333" name="Google Shape;333;p16"/>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1: Establish team performance plan</a:t>
            </a:r>
            <a:endParaRPr/>
          </a:p>
        </p:txBody>
      </p:sp>
      <p:sp>
        <p:nvSpPr>
          <p:cNvPr id="335" name="Google Shape;335;p16"/>
          <p:cNvSpPr txBox="1"/>
          <p:nvPr/>
        </p:nvSpPr>
        <p:spPr>
          <a:xfrm>
            <a:off x="2209800" y="1676834"/>
            <a:ext cx="149352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GROUP WORK</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Work in a group of four.</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Research the job descriptions of an event coordinator, marketing person, office administrator, and marketing manager. Study their position descriptions and use the information to build a team performance plan for a product launch.</a:t>
            </a:r>
            <a:endParaRPr/>
          </a:p>
        </p:txBody>
      </p:sp>
      <p:grpSp>
        <p:nvGrpSpPr>
          <p:cNvPr id="336" name="Google Shape;336;p16"/>
          <p:cNvGrpSpPr/>
          <p:nvPr/>
        </p:nvGrpSpPr>
        <p:grpSpPr>
          <a:xfrm>
            <a:off x="1028700" y="495300"/>
            <a:ext cx="17259300" cy="218203"/>
            <a:chOff x="1028700" y="723900"/>
            <a:chExt cx="17259300" cy="218203"/>
          </a:xfrm>
        </p:grpSpPr>
        <p:sp>
          <p:nvSpPr>
            <p:cNvPr id="337" name="Google Shape;337;p16"/>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6"/>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341" name="Google Shape;341;p16"/>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342" name="Google Shape;342;p1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343" name="Google Shape;343;p1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344" name="Google Shape;344;p1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7"/>
          <p:cNvSpPr/>
          <p:nvPr/>
        </p:nvSpPr>
        <p:spPr>
          <a:xfrm>
            <a:off x="0" y="1290497"/>
            <a:ext cx="18288000" cy="8196478"/>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txBox="1"/>
          <p:nvPr/>
        </p:nvSpPr>
        <p:spPr>
          <a:xfrm>
            <a:off x="1044000" y="1866900"/>
            <a:ext cx="16655652" cy="83599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200" u="none" cap="none" strike="noStrike">
                <a:solidFill>
                  <a:schemeClr val="lt1"/>
                </a:solidFill>
                <a:latin typeface="Arial"/>
                <a:ea typeface="Arial"/>
                <a:cs typeface="Arial"/>
                <a:sym typeface="Arial"/>
              </a:rPr>
              <a:t>Topic 2: Develop team cohesion</a:t>
            </a:r>
            <a:endParaRPr/>
          </a:p>
        </p:txBody>
      </p:sp>
      <p:grpSp>
        <p:nvGrpSpPr>
          <p:cNvPr id="352" name="Google Shape;352;p17"/>
          <p:cNvGrpSpPr/>
          <p:nvPr/>
        </p:nvGrpSpPr>
        <p:grpSpPr>
          <a:xfrm>
            <a:off x="1028700" y="495300"/>
            <a:ext cx="17259300" cy="218203"/>
            <a:chOff x="1028700" y="723900"/>
            <a:chExt cx="17259300" cy="218203"/>
          </a:xfrm>
        </p:grpSpPr>
        <p:sp>
          <p:nvSpPr>
            <p:cNvPr id="353" name="Google Shape;353;p17"/>
            <p:cNvSpPr/>
            <p:nvPr/>
          </p:nvSpPr>
          <p:spPr>
            <a:xfrm>
              <a:off x="1044000" y="826884"/>
              <a:ext cx="17244000" cy="20795"/>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1028700" y="72390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
            <p:cNvSpPr/>
            <p:nvPr/>
          </p:nvSpPr>
          <p:spPr>
            <a:xfrm>
              <a:off x="6856574" y="73246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
            <p:cNvSpPr/>
            <p:nvPr/>
          </p:nvSpPr>
          <p:spPr>
            <a:xfrm>
              <a:off x="12684448" y="73246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 name="Google Shape;357;p1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358" name="Google Shape;358;p1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359" name="Google Shape;359;p1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pic>
        <p:nvPicPr>
          <p:cNvPr descr="man holding smartphone looking at productivity wall decor" id="360" name="Google Shape;360;p17"/>
          <p:cNvPicPr preferRelativeResize="0"/>
          <p:nvPr/>
        </p:nvPicPr>
        <p:blipFill rotWithShape="1">
          <a:blip r:embed="rId3">
            <a:alphaModFix/>
          </a:blip>
          <a:srcRect b="0" l="0" r="0" t="12393"/>
          <a:stretch/>
        </p:blipFill>
        <p:spPr>
          <a:xfrm>
            <a:off x="5179854" y="3713391"/>
            <a:ext cx="7928292" cy="4630509"/>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8"/>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366" name="Google Shape;366;p18"/>
          <p:cNvGrpSpPr/>
          <p:nvPr/>
        </p:nvGrpSpPr>
        <p:grpSpPr>
          <a:xfrm>
            <a:off x="1028700" y="446788"/>
            <a:ext cx="17244000" cy="220041"/>
            <a:chOff x="0" y="0"/>
            <a:chExt cx="23454501" cy="293387"/>
          </a:xfrm>
        </p:grpSpPr>
        <p:sp>
          <p:nvSpPr>
            <p:cNvPr id="367" name="Google Shape;367;p18"/>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18"/>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373" name="Google Shape;373;p18"/>
          <p:cNvSpPr txBox="1"/>
          <p:nvPr/>
        </p:nvSpPr>
        <p:spPr>
          <a:xfrm>
            <a:off x="1028700" y="1676834"/>
            <a:ext cx="12687300" cy="2741328"/>
          </a:xfrm>
          <a:prstGeom prst="rect">
            <a:avLst/>
          </a:prstGeom>
          <a:noFill/>
          <a:ln>
            <a:noFill/>
          </a:ln>
        </p:spPr>
        <p:txBody>
          <a:bodyPr anchorCtr="0" anchor="t" bIns="0" lIns="0" spcFirstLastPara="1" rIns="0" wrap="square" tIns="0">
            <a:spAutoFit/>
          </a:bodyPr>
          <a:lstStyle/>
          <a:p>
            <a:pPr indent="-457200" lvl="0" marL="457200" marR="0" rtl="0" algn="l">
              <a:lnSpc>
                <a:spcPct val="114000"/>
              </a:lnSpc>
              <a:spcBef>
                <a:spcPts val="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Team cohesion is the extent to which each team members wishes to contribute to the group's ability to continue as a functioning work unit. Cohesiveness develops over time.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Cohesiveness is a product of interpersonal and group-level attraction, collaboration, and a sense of belonging.</a:t>
            </a:r>
            <a:endParaRPr b="0" i="0" sz="2500" u="none" cap="none" strike="noStrike">
              <a:solidFill>
                <a:srgbClr val="31859C"/>
              </a:solidFill>
              <a:latin typeface="Arial"/>
              <a:ea typeface="Arial"/>
              <a:cs typeface="Arial"/>
              <a:sym typeface="Arial"/>
            </a:endParaRPr>
          </a:p>
        </p:txBody>
      </p:sp>
      <p:sp>
        <p:nvSpPr>
          <p:cNvPr id="374" name="Google Shape;374;p1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375" name="Google Shape;375;p1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376" name="Google Shape;376;p1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381" name="Shape 381"/>
        <p:cNvGrpSpPr/>
        <p:nvPr/>
      </p:nvGrpSpPr>
      <p:grpSpPr>
        <a:xfrm>
          <a:off x="0" y="0"/>
          <a:ext cx="0" cy="0"/>
          <a:chOff x="0" y="0"/>
          <a:chExt cx="0" cy="0"/>
        </a:xfrm>
      </p:grpSpPr>
      <p:sp>
        <p:nvSpPr>
          <p:cNvPr id="382" name="Google Shape;382;p19"/>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384" name="Google Shape;384;p19"/>
          <p:cNvSpPr txBox="1"/>
          <p:nvPr/>
        </p:nvSpPr>
        <p:spPr>
          <a:xfrm>
            <a:off x="2209800" y="1676834"/>
            <a:ext cx="14935200" cy="323806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WATCH</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Forming, Storming, Norming, Performing, Adjourning.</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https://www.youtube.com/watch?v=hEJaz3sinEs</a:t>
            </a:r>
            <a:r>
              <a:rPr b="0" i="0" lang="en-US" sz="3000" u="none" cap="none" strike="noStrike">
                <a:solidFill>
                  <a:schemeClr val="lt1"/>
                </a:solidFill>
                <a:latin typeface="Arial"/>
                <a:ea typeface="Arial"/>
                <a:cs typeface="Arial"/>
                <a:sym typeface="Arial"/>
              </a:rPr>
              <a:t> (08:33)</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Teamwork pays off – various clips.</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4">
                  <a:extLst>
                    <a:ext uri="{A12FA001-AC4F-418D-AE19-62706E023703}">
                      <ahyp:hlinkClr val="tx"/>
                    </a:ext>
                  </a:extLst>
                </a:hlinkClick>
              </a:rPr>
              <a:t>https://www.youtube.com/watch?v=wuo13FrNX6g</a:t>
            </a:r>
            <a:r>
              <a:rPr b="0" i="0" lang="en-US" sz="3000" u="none" cap="none" strike="noStrike">
                <a:solidFill>
                  <a:schemeClr val="lt1"/>
                </a:solidFill>
                <a:latin typeface="Arial"/>
                <a:ea typeface="Arial"/>
                <a:cs typeface="Arial"/>
                <a:sym typeface="Arial"/>
              </a:rPr>
              <a:t> (01:22)</a:t>
            </a:r>
            <a:endParaRPr/>
          </a:p>
        </p:txBody>
      </p:sp>
      <p:grpSp>
        <p:nvGrpSpPr>
          <p:cNvPr id="385" name="Google Shape;385;p19"/>
          <p:cNvGrpSpPr/>
          <p:nvPr/>
        </p:nvGrpSpPr>
        <p:grpSpPr>
          <a:xfrm>
            <a:off x="1028700" y="495300"/>
            <a:ext cx="17259300" cy="218203"/>
            <a:chOff x="1028700" y="723900"/>
            <a:chExt cx="17259300" cy="218203"/>
          </a:xfrm>
        </p:grpSpPr>
        <p:sp>
          <p:nvSpPr>
            <p:cNvPr id="386" name="Google Shape;386;p19"/>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390" name="Google Shape;390;p19"/>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391" name="Google Shape;391;p1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392" name="Google Shape;392;p1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393" name="Google Shape;393;p1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0"/>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399" name="Google Shape;399;p20"/>
          <p:cNvGrpSpPr/>
          <p:nvPr/>
        </p:nvGrpSpPr>
        <p:grpSpPr>
          <a:xfrm>
            <a:off x="1028700" y="446788"/>
            <a:ext cx="17244000" cy="220041"/>
            <a:chOff x="0" y="0"/>
            <a:chExt cx="23454501" cy="293387"/>
          </a:xfrm>
        </p:grpSpPr>
        <p:sp>
          <p:nvSpPr>
            <p:cNvPr id="400" name="Google Shape;400;p20"/>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0"/>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4" name="Google Shape;404;p20"/>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406" name="Google Shape;406;p20"/>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STRATEGIES TO ACHIEVE TEAM COHESION</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There are many ways to achieve team cohesion. For example, promoting interaction between team members increases cohesions as team members feel more positive towards one another.</a:t>
            </a:r>
            <a:endParaRPr/>
          </a:p>
        </p:txBody>
      </p:sp>
      <p:sp>
        <p:nvSpPr>
          <p:cNvPr id="407" name="Google Shape;407;p2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408" name="Google Shape;408;p2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409" name="Google Shape;409;p2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414" name="Shape 414"/>
        <p:cNvGrpSpPr/>
        <p:nvPr/>
      </p:nvGrpSpPr>
      <p:grpSpPr>
        <a:xfrm>
          <a:off x="0" y="0"/>
          <a:ext cx="0" cy="0"/>
          <a:chOff x="0" y="0"/>
          <a:chExt cx="0" cy="0"/>
        </a:xfrm>
      </p:grpSpPr>
      <p:sp>
        <p:nvSpPr>
          <p:cNvPr id="415" name="Google Shape;415;p21"/>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1"/>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417" name="Google Shape;417;p21"/>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List all the factors you would consider to create better team cohesion.</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Now compare your response with those of your team. Did you all have similar answers? </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How did the rest of the class compare? Did their teams have the same response?</a:t>
            </a:r>
            <a:endParaRPr/>
          </a:p>
        </p:txBody>
      </p:sp>
      <p:grpSp>
        <p:nvGrpSpPr>
          <p:cNvPr id="418" name="Google Shape;418;p21"/>
          <p:cNvGrpSpPr/>
          <p:nvPr/>
        </p:nvGrpSpPr>
        <p:grpSpPr>
          <a:xfrm>
            <a:off x="1028700" y="495300"/>
            <a:ext cx="17259300" cy="218203"/>
            <a:chOff x="1028700" y="723900"/>
            <a:chExt cx="17259300" cy="218203"/>
          </a:xfrm>
        </p:grpSpPr>
        <p:sp>
          <p:nvSpPr>
            <p:cNvPr id="419" name="Google Shape;419;p21"/>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1"/>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23" name="Google Shape;423;p21"/>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424" name="Google Shape;424;p2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25" name="Google Shape;425;p2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426" name="Google Shape;426;p2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2"/>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432" name="Google Shape;432;p22"/>
          <p:cNvGrpSpPr/>
          <p:nvPr/>
        </p:nvGrpSpPr>
        <p:grpSpPr>
          <a:xfrm>
            <a:off x="1028700" y="446788"/>
            <a:ext cx="17244000" cy="220041"/>
            <a:chOff x="0" y="0"/>
            <a:chExt cx="23454501" cy="293387"/>
          </a:xfrm>
        </p:grpSpPr>
        <p:sp>
          <p:nvSpPr>
            <p:cNvPr id="433" name="Google Shape;433;p22"/>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2"/>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2"/>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2"/>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7" name="Google Shape;437;p22"/>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2"/>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439" name="Google Shape;439;p22"/>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GROUP DYNAMICS</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Group dynamics is a term used to describe the way in which a group of people interact with each other.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Group dynamics can impact a team’s performance, both positively and negatively.</a:t>
            </a:r>
            <a:endParaRPr/>
          </a:p>
        </p:txBody>
      </p:sp>
      <p:sp>
        <p:nvSpPr>
          <p:cNvPr id="440" name="Google Shape;440;p2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441" name="Google Shape;441;p2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442" name="Google Shape;442;p2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pic>
        <p:nvPicPr>
          <p:cNvPr descr="Group brainstorm with solid fill" id="443" name="Google Shape;443;p22"/>
          <p:cNvPicPr preferRelativeResize="0"/>
          <p:nvPr/>
        </p:nvPicPr>
        <p:blipFill rotWithShape="1">
          <a:blip r:embed="rId3">
            <a:alphaModFix/>
          </a:blip>
          <a:srcRect b="0" l="0" r="0" t="0"/>
          <a:stretch/>
        </p:blipFill>
        <p:spPr>
          <a:xfrm>
            <a:off x="12954000" y="2147852"/>
            <a:ext cx="5334000" cy="5334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448" name="Shape 448"/>
        <p:cNvGrpSpPr/>
        <p:nvPr/>
      </p:nvGrpSpPr>
      <p:grpSpPr>
        <a:xfrm>
          <a:off x="0" y="0"/>
          <a:ext cx="0" cy="0"/>
          <a:chOff x="0" y="0"/>
          <a:chExt cx="0" cy="0"/>
        </a:xfrm>
      </p:grpSpPr>
      <p:sp>
        <p:nvSpPr>
          <p:cNvPr id="449" name="Google Shape;449;p2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3"/>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451" name="Google Shape;451;p23"/>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READ</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Read the following articles about improving group dynamics and things to know about group dynamics:</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https://online.maryville.edu/blog/4-things-to-know-about-group-dynamics-in-the-workplace/</a:t>
            </a:r>
            <a:r>
              <a:rPr b="0" i="0" lang="en-US" sz="3000" u="none" cap="none" strike="noStrike">
                <a:solidFill>
                  <a:schemeClr val="lt1"/>
                </a:solidFill>
                <a:latin typeface="Arial"/>
                <a:ea typeface="Arial"/>
                <a:cs typeface="Arial"/>
                <a:sym typeface="Arial"/>
              </a:rPr>
              <a:t> </a:t>
            </a:r>
            <a:endParaRPr b="0" i="0" sz="30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4">
                  <a:extLst>
                    <a:ext uri="{A12FA001-AC4F-418D-AE19-62706E023703}">
                      <ahyp:hlinkClr val="tx"/>
                    </a:ext>
                  </a:extLst>
                </a:hlinkClick>
              </a:rPr>
              <a:t>https://www.mindtools.com/pages/article/improving-group-dynamics.htm</a:t>
            </a:r>
            <a:r>
              <a:rPr b="0" i="0" lang="en-US" sz="3000" u="none" cap="none" strike="noStrike">
                <a:solidFill>
                  <a:schemeClr val="lt1"/>
                </a:solidFill>
                <a:latin typeface="Arial"/>
                <a:ea typeface="Arial"/>
                <a:cs typeface="Arial"/>
                <a:sym typeface="Arial"/>
              </a:rPr>
              <a:t> </a:t>
            </a:r>
            <a:endParaRPr/>
          </a:p>
        </p:txBody>
      </p:sp>
      <p:grpSp>
        <p:nvGrpSpPr>
          <p:cNvPr id="452" name="Google Shape;452;p23"/>
          <p:cNvGrpSpPr/>
          <p:nvPr/>
        </p:nvGrpSpPr>
        <p:grpSpPr>
          <a:xfrm>
            <a:off x="1028700" y="495300"/>
            <a:ext cx="17259300" cy="218203"/>
            <a:chOff x="1028700" y="723900"/>
            <a:chExt cx="17259300" cy="218203"/>
          </a:xfrm>
        </p:grpSpPr>
        <p:sp>
          <p:nvSpPr>
            <p:cNvPr id="453" name="Google Shape;453;p2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57" name="Google Shape;457;p23"/>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458" name="Google Shape;458;p2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59" name="Google Shape;459;p2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460" name="Google Shape;460;p2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466" name="Google Shape;466;p24"/>
          <p:cNvGrpSpPr/>
          <p:nvPr/>
        </p:nvGrpSpPr>
        <p:grpSpPr>
          <a:xfrm>
            <a:off x="1028700" y="446788"/>
            <a:ext cx="17244000" cy="220041"/>
            <a:chOff x="0" y="0"/>
            <a:chExt cx="23454501" cy="293387"/>
          </a:xfrm>
        </p:grpSpPr>
        <p:sp>
          <p:nvSpPr>
            <p:cNvPr id="467" name="Google Shape;467;p24"/>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4"/>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4"/>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4"/>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1" name="Google Shape;471;p24"/>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4"/>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473" name="Google Shape;473;p24"/>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DECISION MAKING</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Team leaders need to develop strategies to ensure that their team members have input into planning, decision making and operations relating to the team's work.</a:t>
            </a:r>
            <a:endParaRPr/>
          </a:p>
        </p:txBody>
      </p:sp>
      <p:sp>
        <p:nvSpPr>
          <p:cNvPr id="474" name="Google Shape;474;p2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475" name="Google Shape;475;p2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476" name="Google Shape;476;p2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481" name="Shape 481"/>
        <p:cNvGrpSpPr/>
        <p:nvPr/>
      </p:nvGrpSpPr>
      <p:grpSpPr>
        <a:xfrm>
          <a:off x="0" y="0"/>
          <a:ext cx="0" cy="0"/>
          <a:chOff x="0" y="0"/>
          <a:chExt cx="0" cy="0"/>
        </a:xfrm>
      </p:grpSpPr>
      <p:sp>
        <p:nvSpPr>
          <p:cNvPr id="482" name="Google Shape;482;p25"/>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484" name="Google Shape;484;p25"/>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Work in your teams to answer the following questions.</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Research The Nominal Group technique. Provide a brief overview of how it operates.</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What other tools are available for decision-making? Provide a brief overview of each one you find.</a:t>
            </a:r>
            <a:endParaRPr/>
          </a:p>
        </p:txBody>
      </p:sp>
      <p:grpSp>
        <p:nvGrpSpPr>
          <p:cNvPr id="485" name="Google Shape;485;p25"/>
          <p:cNvGrpSpPr/>
          <p:nvPr/>
        </p:nvGrpSpPr>
        <p:grpSpPr>
          <a:xfrm>
            <a:off x="1028700" y="495300"/>
            <a:ext cx="17259300" cy="218203"/>
            <a:chOff x="1028700" y="723900"/>
            <a:chExt cx="17259300" cy="218203"/>
          </a:xfrm>
        </p:grpSpPr>
        <p:sp>
          <p:nvSpPr>
            <p:cNvPr id="486" name="Google Shape;486;p25"/>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5"/>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90" name="Google Shape;490;p25"/>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491" name="Google Shape;491;p2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92" name="Google Shape;492;p2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493" name="Google Shape;493;p2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2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499" name="Google Shape;499;p26"/>
          <p:cNvGrpSpPr/>
          <p:nvPr/>
        </p:nvGrpSpPr>
        <p:grpSpPr>
          <a:xfrm>
            <a:off x="1028700" y="446788"/>
            <a:ext cx="17244000" cy="220041"/>
            <a:chOff x="0" y="0"/>
            <a:chExt cx="23454501" cy="293387"/>
          </a:xfrm>
        </p:grpSpPr>
        <p:sp>
          <p:nvSpPr>
            <p:cNvPr id="500" name="Google Shape;500;p26"/>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6"/>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6"/>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6"/>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4" name="Google Shape;504;p26"/>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6"/>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506" name="Google Shape;506;p26"/>
          <p:cNvSpPr txBox="1"/>
          <p:nvPr/>
        </p:nvSpPr>
        <p:spPr>
          <a:xfrm>
            <a:off x="1028700" y="1676834"/>
            <a:ext cx="12687300" cy="179113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TEAM COHESION FOR REMOTE TEAMS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Sometimes teams have to overcome barriers to cohesion such as remote working arrangements.</a:t>
            </a:r>
            <a:endParaRPr/>
          </a:p>
        </p:txBody>
      </p:sp>
      <p:sp>
        <p:nvSpPr>
          <p:cNvPr id="507" name="Google Shape;507;p2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508" name="Google Shape;508;p2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509" name="Google Shape;509;p2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514" name="Shape 514"/>
        <p:cNvGrpSpPr/>
        <p:nvPr/>
      </p:nvGrpSpPr>
      <p:grpSpPr>
        <a:xfrm>
          <a:off x="0" y="0"/>
          <a:ext cx="0" cy="0"/>
          <a:chOff x="0" y="0"/>
          <a:chExt cx="0" cy="0"/>
        </a:xfrm>
      </p:grpSpPr>
      <p:sp>
        <p:nvSpPr>
          <p:cNvPr id="515" name="Google Shape;515;p27"/>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7"/>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517" name="Google Shape;517;p27"/>
          <p:cNvSpPr txBox="1"/>
          <p:nvPr/>
        </p:nvSpPr>
        <p:spPr>
          <a:xfrm>
            <a:off x="2209800" y="1676834"/>
            <a:ext cx="149352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Consider teams that are located over some different areas, what online collaboration tools could be used to keep your team cohesive?</a:t>
            </a:r>
            <a:endParaRPr/>
          </a:p>
        </p:txBody>
      </p:sp>
      <p:grpSp>
        <p:nvGrpSpPr>
          <p:cNvPr id="518" name="Google Shape;518;p27"/>
          <p:cNvGrpSpPr/>
          <p:nvPr/>
        </p:nvGrpSpPr>
        <p:grpSpPr>
          <a:xfrm>
            <a:off x="1028700" y="495300"/>
            <a:ext cx="17259300" cy="218203"/>
            <a:chOff x="1028700" y="723900"/>
            <a:chExt cx="17259300" cy="218203"/>
          </a:xfrm>
        </p:grpSpPr>
        <p:sp>
          <p:nvSpPr>
            <p:cNvPr id="519" name="Google Shape;519;p27"/>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7"/>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7"/>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7"/>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523" name="Google Shape;523;p27"/>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524" name="Google Shape;524;p2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525" name="Google Shape;525;p2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526" name="Google Shape;526;p2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8"/>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532" name="Google Shape;532;p28"/>
          <p:cNvGrpSpPr/>
          <p:nvPr/>
        </p:nvGrpSpPr>
        <p:grpSpPr>
          <a:xfrm>
            <a:off x="1028700" y="446788"/>
            <a:ext cx="17244000" cy="220041"/>
            <a:chOff x="0" y="0"/>
            <a:chExt cx="23454501" cy="293387"/>
          </a:xfrm>
        </p:grpSpPr>
        <p:sp>
          <p:nvSpPr>
            <p:cNvPr id="533" name="Google Shape;533;p28"/>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8"/>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8"/>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8"/>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 name="Google Shape;537;p28"/>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8"/>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539" name="Google Shape;539;p28"/>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POLICIES AND PROCEDURES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Team leaders may need to develop policies and procedures at work. It is essential to understand the purpose of policy and procedures and what they include.</a:t>
            </a:r>
            <a:endParaRPr/>
          </a:p>
        </p:txBody>
      </p:sp>
      <p:sp>
        <p:nvSpPr>
          <p:cNvPr id="540" name="Google Shape;540;p2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541" name="Google Shape;541;p2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542" name="Google Shape;542;p2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548" name="Google Shape;548;p29"/>
          <p:cNvGrpSpPr/>
          <p:nvPr/>
        </p:nvGrpSpPr>
        <p:grpSpPr>
          <a:xfrm>
            <a:off x="1028700" y="446788"/>
            <a:ext cx="17244000" cy="220041"/>
            <a:chOff x="0" y="0"/>
            <a:chExt cx="23454501" cy="293387"/>
          </a:xfrm>
        </p:grpSpPr>
        <p:sp>
          <p:nvSpPr>
            <p:cNvPr id="549" name="Google Shape;549;p29"/>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9"/>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9"/>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 name="Google Shape;553;p29"/>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555" name="Google Shape;555;p29"/>
          <p:cNvSpPr txBox="1"/>
          <p:nvPr/>
        </p:nvSpPr>
        <p:spPr>
          <a:xfrm>
            <a:off x="1028700" y="1676834"/>
            <a:ext cx="12687300" cy="4479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CHARACTERISTICS OF ACCEPTABLE POLICY AND PROCEDURE DOCUMENTS </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Features of effective policy and procedure include:</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They address all aspects of operations.</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They reflect the culture, value and objectives of the organisation.</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They relate to logical business functions.</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They are easy to understand and follow.</a:t>
            </a:r>
            <a:endParaRPr/>
          </a:p>
        </p:txBody>
      </p:sp>
      <p:sp>
        <p:nvSpPr>
          <p:cNvPr id="556" name="Google Shape;556;p2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557" name="Google Shape;557;p2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558" name="Google Shape;558;p2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563" name="Shape 563"/>
        <p:cNvGrpSpPr/>
        <p:nvPr/>
      </p:nvGrpSpPr>
      <p:grpSpPr>
        <a:xfrm>
          <a:off x="0" y="0"/>
          <a:ext cx="0" cy="0"/>
          <a:chOff x="0" y="0"/>
          <a:chExt cx="0" cy="0"/>
        </a:xfrm>
      </p:grpSpPr>
      <p:sp>
        <p:nvSpPr>
          <p:cNvPr id="564" name="Google Shape;564;p30"/>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0"/>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566" name="Google Shape;566;p30"/>
          <p:cNvSpPr txBox="1"/>
          <p:nvPr/>
        </p:nvSpPr>
        <p:spPr>
          <a:xfrm>
            <a:off x="2209800" y="1676834"/>
            <a:ext cx="14935200" cy="345658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WATCH</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Watch the following video about writing good policy and procedures. The video provides a range of useful key and introductory information such as what should be included within a policy and procedure and communicating policy and procedures to staff.</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https://www.youtube.com/watch?v=BjrpvUOeHqI</a:t>
            </a:r>
            <a:r>
              <a:rPr b="0" i="0" lang="en-US" sz="3000" u="none" cap="none" strike="noStrike">
                <a:solidFill>
                  <a:schemeClr val="lt1"/>
                </a:solidFill>
                <a:latin typeface="Arial"/>
                <a:ea typeface="Arial"/>
                <a:cs typeface="Arial"/>
                <a:sym typeface="Arial"/>
              </a:rPr>
              <a:t> (07:07)</a:t>
            </a:r>
            <a:endParaRPr/>
          </a:p>
        </p:txBody>
      </p:sp>
      <p:grpSp>
        <p:nvGrpSpPr>
          <p:cNvPr id="567" name="Google Shape;567;p30"/>
          <p:cNvGrpSpPr/>
          <p:nvPr/>
        </p:nvGrpSpPr>
        <p:grpSpPr>
          <a:xfrm>
            <a:off x="1028700" y="495300"/>
            <a:ext cx="17259300" cy="218203"/>
            <a:chOff x="1028700" y="723900"/>
            <a:chExt cx="17259300" cy="218203"/>
          </a:xfrm>
        </p:grpSpPr>
        <p:sp>
          <p:nvSpPr>
            <p:cNvPr id="568" name="Google Shape;568;p30"/>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0"/>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0"/>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0"/>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572" name="Google Shape;572;p30"/>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573" name="Google Shape;573;p3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574" name="Google Shape;574;p3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575" name="Google Shape;575;p3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580" name="Shape 580"/>
        <p:cNvGrpSpPr/>
        <p:nvPr/>
      </p:nvGrpSpPr>
      <p:grpSpPr>
        <a:xfrm>
          <a:off x="0" y="0"/>
          <a:ext cx="0" cy="0"/>
          <a:chOff x="0" y="0"/>
          <a:chExt cx="0" cy="0"/>
        </a:xfrm>
      </p:grpSpPr>
      <p:sp>
        <p:nvSpPr>
          <p:cNvPr id="581" name="Google Shape;581;p31"/>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1"/>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583" name="Google Shape;583;p31"/>
          <p:cNvSpPr txBox="1"/>
          <p:nvPr/>
        </p:nvSpPr>
        <p:spPr>
          <a:xfrm>
            <a:off x="2209800" y="1676834"/>
            <a:ext cx="149352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Work in pairs for this activity and then present your findings to the trainer/assessor and the group. There are many diversity policies on the Internet that can be researched and used for this activity.</a:t>
            </a:r>
            <a:endParaRPr/>
          </a:p>
        </p:txBody>
      </p:sp>
      <p:grpSp>
        <p:nvGrpSpPr>
          <p:cNvPr id="584" name="Google Shape;584;p31"/>
          <p:cNvGrpSpPr/>
          <p:nvPr/>
        </p:nvGrpSpPr>
        <p:grpSpPr>
          <a:xfrm>
            <a:off x="1028700" y="495300"/>
            <a:ext cx="17259300" cy="218203"/>
            <a:chOff x="1028700" y="723900"/>
            <a:chExt cx="17259300" cy="218203"/>
          </a:xfrm>
        </p:grpSpPr>
        <p:sp>
          <p:nvSpPr>
            <p:cNvPr id="585" name="Google Shape;585;p31"/>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589" name="Google Shape;589;p31"/>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590" name="Google Shape;590;p3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591" name="Google Shape;591;p3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592" name="Google Shape;592;p3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597" name="Shape 597"/>
        <p:cNvGrpSpPr/>
        <p:nvPr/>
      </p:nvGrpSpPr>
      <p:grpSpPr>
        <a:xfrm>
          <a:off x="0" y="0"/>
          <a:ext cx="0" cy="0"/>
          <a:chOff x="0" y="0"/>
          <a:chExt cx="0" cy="0"/>
        </a:xfrm>
      </p:grpSpPr>
      <p:sp>
        <p:nvSpPr>
          <p:cNvPr id="598" name="Google Shape;598;p32"/>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2"/>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600" name="Google Shape;600;p32"/>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GROUP WORK</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Work in your teams to undertake the following:</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Create an Internet Usage Policy.</a:t>
            </a:r>
            <a:endParaRPr/>
          </a:p>
          <a:p>
            <a:pPr indent="-457200" lvl="0" marL="457200" marR="0" rtl="0" algn="l">
              <a:lnSpc>
                <a:spcPct val="114000"/>
              </a:lnSpc>
              <a:spcBef>
                <a:spcPts val="1200"/>
              </a:spcBef>
              <a:spcAft>
                <a:spcPts val="0"/>
              </a:spcAft>
              <a:buClr>
                <a:schemeClr val="lt1"/>
              </a:buClr>
              <a:buSzPts val="3000"/>
              <a:buFont typeface="Arial"/>
              <a:buChar char="•"/>
            </a:pPr>
            <a:r>
              <a:rPr b="0" i="0" lang="en-US" sz="3000" u="none" cap="none" strike="noStrike">
                <a:solidFill>
                  <a:schemeClr val="lt1"/>
                </a:solidFill>
                <a:latin typeface="Arial"/>
                <a:ea typeface="Arial"/>
                <a:cs typeface="Arial"/>
                <a:sym typeface="Arial"/>
              </a:rPr>
              <a:t>Create a procedure for sending emails to clients.</a:t>
            </a:r>
            <a:endParaRPr/>
          </a:p>
        </p:txBody>
      </p:sp>
      <p:grpSp>
        <p:nvGrpSpPr>
          <p:cNvPr id="601" name="Google Shape;601;p32"/>
          <p:cNvGrpSpPr/>
          <p:nvPr/>
        </p:nvGrpSpPr>
        <p:grpSpPr>
          <a:xfrm>
            <a:off x="1028700" y="495300"/>
            <a:ext cx="17259300" cy="218203"/>
            <a:chOff x="1028700" y="723900"/>
            <a:chExt cx="17259300" cy="218203"/>
          </a:xfrm>
        </p:grpSpPr>
        <p:sp>
          <p:nvSpPr>
            <p:cNvPr id="602" name="Google Shape;602;p32"/>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2"/>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2"/>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2"/>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06" name="Google Shape;606;p32"/>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07" name="Google Shape;607;p3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08" name="Google Shape;608;p3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609" name="Google Shape;609;p3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3"/>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615" name="Google Shape;615;p33"/>
          <p:cNvGrpSpPr/>
          <p:nvPr/>
        </p:nvGrpSpPr>
        <p:grpSpPr>
          <a:xfrm>
            <a:off x="1028700" y="446788"/>
            <a:ext cx="17244000" cy="220041"/>
            <a:chOff x="0" y="0"/>
            <a:chExt cx="23454501" cy="293387"/>
          </a:xfrm>
        </p:grpSpPr>
        <p:sp>
          <p:nvSpPr>
            <p:cNvPr id="616" name="Google Shape;616;p33"/>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3"/>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3"/>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3"/>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0" name="Google Shape;620;p33"/>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3"/>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622" name="Google Shape;622;p33"/>
          <p:cNvSpPr txBox="1"/>
          <p:nvPr/>
        </p:nvSpPr>
        <p:spPr>
          <a:xfrm>
            <a:off x="1028700" y="1676834"/>
            <a:ext cx="126873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TEAM FEEDBACK</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It is vital to give feedback to the team.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Feedback can support groups to maximise their performance and enhance their professional development and growth.  </a:t>
            </a:r>
            <a:endParaRPr/>
          </a:p>
        </p:txBody>
      </p:sp>
      <p:sp>
        <p:nvSpPr>
          <p:cNvPr id="623" name="Google Shape;623;p3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624" name="Google Shape;624;p3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625" name="Google Shape;625;p3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630" name="Shape 630"/>
        <p:cNvGrpSpPr/>
        <p:nvPr/>
      </p:nvGrpSpPr>
      <p:grpSpPr>
        <a:xfrm>
          <a:off x="0" y="0"/>
          <a:ext cx="0" cy="0"/>
          <a:chOff x="0" y="0"/>
          <a:chExt cx="0" cy="0"/>
        </a:xfrm>
      </p:grpSpPr>
      <p:sp>
        <p:nvSpPr>
          <p:cNvPr id="631" name="Google Shape;631;p34"/>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4"/>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633" name="Google Shape;633;p34"/>
          <p:cNvSpPr txBox="1"/>
          <p:nvPr/>
        </p:nvSpPr>
        <p:spPr>
          <a:xfrm>
            <a:off x="2209800" y="1676834"/>
            <a:ext cx="14935200" cy="376436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WATCH</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It's Big Keith's appraisal, what will office manager David Brent make of his strengths and weaknesses?</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https://www.youtube.com/watch?v=IkYUDQCYGHA</a:t>
            </a:r>
            <a:r>
              <a:rPr b="0" i="0" lang="en-US" sz="3000" u="none" cap="none" strike="noStrike">
                <a:solidFill>
                  <a:schemeClr val="lt1"/>
                </a:solidFill>
                <a:latin typeface="Arial"/>
                <a:ea typeface="Arial"/>
                <a:cs typeface="Arial"/>
                <a:sym typeface="Arial"/>
              </a:rPr>
              <a:t> (02:57)</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Awkward Performance Review.</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4">
                  <a:extLst>
                    <a:ext uri="{A12FA001-AC4F-418D-AE19-62706E023703}">
                      <ahyp:hlinkClr val="tx"/>
                    </a:ext>
                  </a:extLst>
                </a:hlinkClick>
              </a:rPr>
              <a:t>https://www.youtube.com/watch?v=gdp4sPviV74</a:t>
            </a:r>
            <a:r>
              <a:rPr b="0" i="0" lang="en-US" sz="3000" u="none" cap="none" strike="noStrike">
                <a:solidFill>
                  <a:schemeClr val="lt1"/>
                </a:solidFill>
                <a:latin typeface="Arial"/>
                <a:ea typeface="Arial"/>
                <a:cs typeface="Arial"/>
                <a:sym typeface="Arial"/>
              </a:rPr>
              <a:t> (02:38)</a:t>
            </a:r>
            <a:endParaRPr/>
          </a:p>
        </p:txBody>
      </p:sp>
      <p:grpSp>
        <p:nvGrpSpPr>
          <p:cNvPr id="634" name="Google Shape;634;p34"/>
          <p:cNvGrpSpPr/>
          <p:nvPr/>
        </p:nvGrpSpPr>
        <p:grpSpPr>
          <a:xfrm>
            <a:off x="1028700" y="495300"/>
            <a:ext cx="17259300" cy="218203"/>
            <a:chOff x="1028700" y="723900"/>
            <a:chExt cx="17259300" cy="218203"/>
          </a:xfrm>
        </p:grpSpPr>
        <p:sp>
          <p:nvSpPr>
            <p:cNvPr id="635" name="Google Shape;635;p34"/>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4"/>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4"/>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4"/>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39" name="Google Shape;639;p34"/>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640" name="Google Shape;640;p3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41" name="Google Shape;641;p3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642" name="Google Shape;642;p3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647" name="Shape 647"/>
        <p:cNvGrpSpPr/>
        <p:nvPr/>
      </p:nvGrpSpPr>
      <p:grpSpPr>
        <a:xfrm>
          <a:off x="0" y="0"/>
          <a:ext cx="0" cy="0"/>
          <a:chOff x="0" y="0"/>
          <a:chExt cx="0" cy="0"/>
        </a:xfrm>
      </p:grpSpPr>
      <p:sp>
        <p:nvSpPr>
          <p:cNvPr id="648" name="Google Shape;648;p35"/>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5"/>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650" name="Google Shape;650;p35"/>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Consider how your team have performed so far. How could you provide feedback to each team member?</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Create a format that you could use to create feedback for each team member. </a:t>
            </a:r>
            <a:endParaRPr/>
          </a:p>
        </p:txBody>
      </p:sp>
      <p:grpSp>
        <p:nvGrpSpPr>
          <p:cNvPr id="651" name="Google Shape;651;p35"/>
          <p:cNvGrpSpPr/>
          <p:nvPr/>
        </p:nvGrpSpPr>
        <p:grpSpPr>
          <a:xfrm>
            <a:off x="1028700" y="495300"/>
            <a:ext cx="17259300" cy="218203"/>
            <a:chOff x="1028700" y="723900"/>
            <a:chExt cx="17259300" cy="218203"/>
          </a:xfrm>
        </p:grpSpPr>
        <p:sp>
          <p:nvSpPr>
            <p:cNvPr id="652" name="Google Shape;652;p35"/>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5"/>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5"/>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5"/>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56" name="Google Shape;656;p35"/>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57" name="Google Shape;657;p3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58" name="Google Shape;658;p3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659" name="Google Shape;659;p3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3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665" name="Google Shape;665;p36"/>
          <p:cNvGrpSpPr/>
          <p:nvPr/>
        </p:nvGrpSpPr>
        <p:grpSpPr>
          <a:xfrm>
            <a:off x="1028700" y="446788"/>
            <a:ext cx="17244000" cy="220041"/>
            <a:chOff x="0" y="0"/>
            <a:chExt cx="23454501" cy="293387"/>
          </a:xfrm>
        </p:grpSpPr>
        <p:sp>
          <p:nvSpPr>
            <p:cNvPr id="666" name="Google Shape;666;p36"/>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6"/>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6"/>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6"/>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0" name="Google Shape;670;p36"/>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6"/>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2: Develop team cohesion</a:t>
            </a:r>
            <a:endParaRPr/>
          </a:p>
        </p:txBody>
      </p:sp>
      <p:sp>
        <p:nvSpPr>
          <p:cNvPr id="672" name="Google Shape;672;p36"/>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ISSUES AND CONCERNS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Addressing issues and concerns within teams can involve team meetings, forums, problem-solving process and grievance procedures to solve issues.</a:t>
            </a:r>
            <a:endParaRPr/>
          </a:p>
        </p:txBody>
      </p:sp>
      <p:sp>
        <p:nvSpPr>
          <p:cNvPr id="673" name="Google Shape;673;p3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674" name="Google Shape;674;p3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675" name="Google Shape;675;p3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680" name="Shape 680"/>
        <p:cNvGrpSpPr/>
        <p:nvPr/>
      </p:nvGrpSpPr>
      <p:grpSpPr>
        <a:xfrm>
          <a:off x="0" y="0"/>
          <a:ext cx="0" cy="0"/>
          <a:chOff x="0" y="0"/>
          <a:chExt cx="0" cy="0"/>
        </a:xfrm>
      </p:grpSpPr>
      <p:sp>
        <p:nvSpPr>
          <p:cNvPr id="681" name="Google Shape;681;p37"/>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7"/>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683" name="Google Shape;683;p37"/>
          <p:cNvSpPr txBox="1"/>
          <p:nvPr/>
        </p:nvSpPr>
        <p:spPr>
          <a:xfrm>
            <a:off x="2209800" y="1676834"/>
            <a:ext cx="14935200" cy="345658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There are many models available to support the problem-solving process. Use the Internet to search for a problem-solving approach that you could use to address the concerns you have with your team.</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Complete this activity in small groups and then report back to the whole group in the form of a short presentation.</a:t>
            </a:r>
            <a:endParaRPr/>
          </a:p>
        </p:txBody>
      </p:sp>
      <p:grpSp>
        <p:nvGrpSpPr>
          <p:cNvPr id="684" name="Google Shape;684;p37"/>
          <p:cNvGrpSpPr/>
          <p:nvPr/>
        </p:nvGrpSpPr>
        <p:grpSpPr>
          <a:xfrm>
            <a:off x="1028700" y="495300"/>
            <a:ext cx="17259300" cy="218203"/>
            <a:chOff x="1028700" y="723900"/>
            <a:chExt cx="17259300" cy="218203"/>
          </a:xfrm>
        </p:grpSpPr>
        <p:sp>
          <p:nvSpPr>
            <p:cNvPr id="685" name="Google Shape;685;p37"/>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7"/>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7"/>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7"/>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89" name="Google Shape;689;p37"/>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90" name="Google Shape;690;p3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91" name="Google Shape;691;p3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692" name="Google Shape;692;p3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697" name="Shape 697"/>
        <p:cNvGrpSpPr/>
        <p:nvPr/>
      </p:nvGrpSpPr>
      <p:grpSpPr>
        <a:xfrm>
          <a:off x="0" y="0"/>
          <a:ext cx="0" cy="0"/>
          <a:chOff x="0" y="0"/>
          <a:chExt cx="0" cy="0"/>
        </a:xfrm>
      </p:grpSpPr>
      <p:sp>
        <p:nvSpPr>
          <p:cNvPr id="698" name="Google Shape;698;p38"/>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8"/>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2: Develop team cohesion</a:t>
            </a:r>
            <a:endParaRPr/>
          </a:p>
        </p:txBody>
      </p:sp>
      <p:sp>
        <p:nvSpPr>
          <p:cNvPr id="700" name="Google Shape;700;p38"/>
          <p:cNvSpPr txBox="1"/>
          <p:nvPr/>
        </p:nvSpPr>
        <p:spPr>
          <a:xfrm>
            <a:off x="2209800" y="1676834"/>
            <a:ext cx="149352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GROUP WORK</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One of the team members who work remotely has complained that they are not receiving the necessary information on time. Due to the delays in obtaining the information, this person is unable to meet their KPI's, and it is beginning to affect the entire team's performance. </a:t>
            </a:r>
            <a:endParaRPr/>
          </a:p>
        </p:txBody>
      </p:sp>
      <p:grpSp>
        <p:nvGrpSpPr>
          <p:cNvPr id="701" name="Google Shape;701;p38"/>
          <p:cNvGrpSpPr/>
          <p:nvPr/>
        </p:nvGrpSpPr>
        <p:grpSpPr>
          <a:xfrm>
            <a:off x="1028700" y="495300"/>
            <a:ext cx="17259300" cy="218203"/>
            <a:chOff x="1028700" y="723900"/>
            <a:chExt cx="17259300" cy="218203"/>
          </a:xfrm>
        </p:grpSpPr>
        <p:sp>
          <p:nvSpPr>
            <p:cNvPr id="702" name="Google Shape;702;p38"/>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8"/>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8"/>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8"/>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06" name="Google Shape;706;p38"/>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07" name="Google Shape;707;p3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08" name="Google Shape;708;p3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709" name="Google Shape;709;p3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39"/>
          <p:cNvSpPr/>
          <p:nvPr/>
        </p:nvSpPr>
        <p:spPr>
          <a:xfrm>
            <a:off x="0" y="1290497"/>
            <a:ext cx="18288000" cy="8196478"/>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9"/>
          <p:cNvSpPr txBox="1"/>
          <p:nvPr/>
        </p:nvSpPr>
        <p:spPr>
          <a:xfrm>
            <a:off x="1044000" y="1866900"/>
            <a:ext cx="16655652" cy="17482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200" u="none" cap="none" strike="noStrike">
                <a:solidFill>
                  <a:schemeClr val="lt1"/>
                </a:solidFill>
                <a:latin typeface="Arial"/>
                <a:ea typeface="Arial"/>
                <a:cs typeface="Arial"/>
                <a:sym typeface="Arial"/>
              </a:rPr>
              <a:t>Topic 3: Facilitate teamwork and liaise with stakeholders </a:t>
            </a:r>
            <a:endParaRPr/>
          </a:p>
        </p:txBody>
      </p:sp>
      <p:grpSp>
        <p:nvGrpSpPr>
          <p:cNvPr id="717" name="Google Shape;717;p39"/>
          <p:cNvGrpSpPr/>
          <p:nvPr/>
        </p:nvGrpSpPr>
        <p:grpSpPr>
          <a:xfrm>
            <a:off x="1028700" y="495300"/>
            <a:ext cx="17259300" cy="218203"/>
            <a:chOff x="1028700" y="723900"/>
            <a:chExt cx="17259300" cy="218203"/>
          </a:xfrm>
        </p:grpSpPr>
        <p:sp>
          <p:nvSpPr>
            <p:cNvPr id="718" name="Google Shape;718;p39"/>
            <p:cNvSpPr/>
            <p:nvPr/>
          </p:nvSpPr>
          <p:spPr>
            <a:xfrm>
              <a:off x="1044000" y="826884"/>
              <a:ext cx="17244000" cy="20795"/>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9"/>
            <p:cNvSpPr/>
            <p:nvPr/>
          </p:nvSpPr>
          <p:spPr>
            <a:xfrm>
              <a:off x="1028700" y="72390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9"/>
            <p:cNvSpPr/>
            <p:nvPr/>
          </p:nvSpPr>
          <p:spPr>
            <a:xfrm>
              <a:off x="6856574" y="73246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9"/>
            <p:cNvSpPr/>
            <p:nvPr/>
          </p:nvSpPr>
          <p:spPr>
            <a:xfrm>
              <a:off x="12684448" y="732460"/>
              <a:ext cx="219025" cy="209643"/>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3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723" name="Google Shape;723;p3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724" name="Google Shape;724;p3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pic>
        <p:nvPicPr>
          <p:cNvPr descr="Meeting with solid fill" id="725" name="Google Shape;725;p39"/>
          <p:cNvPicPr preferRelativeResize="0"/>
          <p:nvPr/>
        </p:nvPicPr>
        <p:blipFill rotWithShape="1">
          <a:blip r:embed="rId3">
            <a:alphaModFix/>
          </a:blip>
          <a:srcRect b="0" l="0" r="0" t="0"/>
          <a:stretch/>
        </p:blipFill>
        <p:spPr>
          <a:xfrm>
            <a:off x="6438900" y="3390900"/>
            <a:ext cx="5410200" cy="5410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40"/>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731" name="Google Shape;731;p40"/>
          <p:cNvGrpSpPr/>
          <p:nvPr/>
        </p:nvGrpSpPr>
        <p:grpSpPr>
          <a:xfrm>
            <a:off x="1028700" y="446788"/>
            <a:ext cx="17244000" cy="220041"/>
            <a:chOff x="0" y="0"/>
            <a:chExt cx="23454501" cy="293387"/>
          </a:xfrm>
        </p:grpSpPr>
        <p:sp>
          <p:nvSpPr>
            <p:cNvPr id="732" name="Google Shape;732;p40"/>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0"/>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0"/>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0"/>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 name="Google Shape;736;p40"/>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0"/>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738" name="Google Shape;738;p40"/>
          <p:cNvSpPr txBox="1"/>
          <p:nvPr/>
        </p:nvSpPr>
        <p:spPr>
          <a:xfrm>
            <a:off x="1028700" y="1676834"/>
            <a:ext cx="12687300" cy="2895216"/>
          </a:xfrm>
          <a:prstGeom prst="rect">
            <a:avLst/>
          </a:prstGeom>
          <a:noFill/>
          <a:ln>
            <a:noFill/>
          </a:ln>
        </p:spPr>
        <p:txBody>
          <a:bodyPr anchorCtr="0" anchor="t" bIns="0" lIns="0" spcFirstLastPara="1" rIns="0" wrap="square" tIns="0">
            <a:spAutoFit/>
          </a:bodyPr>
          <a:lstStyle/>
          <a:p>
            <a:pPr indent="-457200" lvl="0" marL="457200" marR="0" rtl="0" algn="l">
              <a:lnSpc>
                <a:spcPct val="114000"/>
              </a:lnSpc>
              <a:spcBef>
                <a:spcPts val="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 success of a business depends on the contributions of every member of the team.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However, some teams work together better than others.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There is a sense of personal ownership of all activities, believing that their contributions are valued and feeling that work is equally shared.</a:t>
            </a:r>
            <a:endParaRPr b="0" i="0" sz="2500" u="none" cap="none" strike="noStrike">
              <a:solidFill>
                <a:srgbClr val="31859C"/>
              </a:solidFill>
              <a:latin typeface="Arial"/>
              <a:ea typeface="Arial"/>
              <a:cs typeface="Arial"/>
              <a:sym typeface="Arial"/>
            </a:endParaRPr>
          </a:p>
        </p:txBody>
      </p:sp>
      <p:sp>
        <p:nvSpPr>
          <p:cNvPr id="739" name="Google Shape;739;p4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740" name="Google Shape;740;p4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741" name="Google Shape;741;p4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746" name="Shape 746"/>
        <p:cNvGrpSpPr/>
        <p:nvPr/>
      </p:nvGrpSpPr>
      <p:grpSpPr>
        <a:xfrm>
          <a:off x="0" y="0"/>
          <a:ext cx="0" cy="0"/>
          <a:chOff x="0" y="0"/>
          <a:chExt cx="0" cy="0"/>
        </a:xfrm>
      </p:grpSpPr>
      <p:sp>
        <p:nvSpPr>
          <p:cNvPr id="747" name="Google Shape;747;p41"/>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1"/>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3: Facilitate teamwork and liaise with stakeholders </a:t>
            </a:r>
            <a:endParaRPr/>
          </a:p>
        </p:txBody>
      </p:sp>
      <p:sp>
        <p:nvSpPr>
          <p:cNvPr id="749" name="Google Shape;749;p41"/>
          <p:cNvSpPr txBox="1"/>
          <p:nvPr/>
        </p:nvSpPr>
        <p:spPr>
          <a:xfrm>
            <a:off x="2209800" y="1676834"/>
            <a:ext cx="14935200" cy="187769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WATCH</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Watch the video on being a role model.</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https://www.youtube.com/watch?v=jIch3rpD7Zo</a:t>
            </a:r>
            <a:r>
              <a:rPr b="0" i="0" lang="en-US" sz="3000" u="none" cap="none" strike="noStrike">
                <a:solidFill>
                  <a:schemeClr val="lt1"/>
                </a:solidFill>
                <a:latin typeface="Arial"/>
                <a:ea typeface="Arial"/>
                <a:cs typeface="Arial"/>
                <a:sym typeface="Arial"/>
              </a:rPr>
              <a:t> (01:41)</a:t>
            </a:r>
            <a:endParaRPr/>
          </a:p>
        </p:txBody>
      </p:sp>
      <p:grpSp>
        <p:nvGrpSpPr>
          <p:cNvPr id="750" name="Google Shape;750;p41"/>
          <p:cNvGrpSpPr/>
          <p:nvPr/>
        </p:nvGrpSpPr>
        <p:grpSpPr>
          <a:xfrm>
            <a:off x="1028700" y="495300"/>
            <a:ext cx="17259300" cy="218203"/>
            <a:chOff x="1028700" y="723900"/>
            <a:chExt cx="17259300" cy="218203"/>
          </a:xfrm>
        </p:grpSpPr>
        <p:sp>
          <p:nvSpPr>
            <p:cNvPr id="751" name="Google Shape;751;p41"/>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1"/>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1"/>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1"/>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55" name="Google Shape;755;p41"/>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756" name="Google Shape;756;p4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57" name="Google Shape;757;p4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758" name="Google Shape;758;p4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42"/>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764" name="Google Shape;764;p42"/>
          <p:cNvGrpSpPr/>
          <p:nvPr/>
        </p:nvGrpSpPr>
        <p:grpSpPr>
          <a:xfrm>
            <a:off x="1028700" y="446788"/>
            <a:ext cx="17244000" cy="220041"/>
            <a:chOff x="0" y="0"/>
            <a:chExt cx="23454501" cy="293387"/>
          </a:xfrm>
        </p:grpSpPr>
        <p:sp>
          <p:nvSpPr>
            <p:cNvPr id="765" name="Google Shape;765;p42"/>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2"/>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2"/>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2"/>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9" name="Google Shape;769;p42"/>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2"/>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771" name="Google Shape;771;p42"/>
          <p:cNvSpPr txBox="1"/>
          <p:nvPr/>
        </p:nvSpPr>
        <p:spPr>
          <a:xfrm>
            <a:off x="1028700" y="1676834"/>
            <a:ext cx="12687300" cy="444455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ENCOURAGING TEAM MEMBERS TO PARTICIPATE</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A team leader or manager can use several strategies to encourage team members to participate. For example:</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Encouraging ownership</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Making everyone a leader</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Setting a good example</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Giving everyone the chance to input into decisions.</a:t>
            </a:r>
            <a:endParaRPr/>
          </a:p>
        </p:txBody>
      </p:sp>
      <p:sp>
        <p:nvSpPr>
          <p:cNvPr id="772" name="Google Shape;772;p4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773" name="Google Shape;773;p4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774" name="Google Shape;774;p4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779" name="Shape 779"/>
        <p:cNvGrpSpPr/>
        <p:nvPr/>
      </p:nvGrpSpPr>
      <p:grpSpPr>
        <a:xfrm>
          <a:off x="0" y="0"/>
          <a:ext cx="0" cy="0"/>
          <a:chOff x="0" y="0"/>
          <a:chExt cx="0" cy="0"/>
        </a:xfrm>
      </p:grpSpPr>
      <p:sp>
        <p:nvSpPr>
          <p:cNvPr id="780" name="Google Shape;780;p4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3"/>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3: Facilitate teamwork and liaise with stakeholders </a:t>
            </a:r>
            <a:endParaRPr/>
          </a:p>
        </p:txBody>
      </p:sp>
      <p:sp>
        <p:nvSpPr>
          <p:cNvPr id="782" name="Google Shape;782;p43"/>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READ</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Read more about encouraging team members to participate at:</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https://work.chron.com/effective-techniques-encourage-team-members-contribute-project-5121.html</a:t>
            </a:r>
            <a:r>
              <a:rPr b="0" i="0" lang="en-US" sz="3000" u="none" cap="none" strike="noStrike">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Take any notes to summarise what you have read and keep for future reference.</a:t>
            </a:r>
            <a:endParaRPr/>
          </a:p>
        </p:txBody>
      </p:sp>
      <p:grpSp>
        <p:nvGrpSpPr>
          <p:cNvPr id="783" name="Google Shape;783;p43"/>
          <p:cNvGrpSpPr/>
          <p:nvPr/>
        </p:nvGrpSpPr>
        <p:grpSpPr>
          <a:xfrm>
            <a:off x="1028700" y="495300"/>
            <a:ext cx="17259300" cy="218203"/>
            <a:chOff x="1028700" y="723900"/>
            <a:chExt cx="17259300" cy="218203"/>
          </a:xfrm>
        </p:grpSpPr>
        <p:sp>
          <p:nvSpPr>
            <p:cNvPr id="784" name="Google Shape;784;p4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88" name="Google Shape;788;p43"/>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789" name="Google Shape;789;p4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90" name="Google Shape;790;p4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791" name="Google Shape;791;p4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4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797" name="Google Shape;797;p44"/>
          <p:cNvGrpSpPr/>
          <p:nvPr/>
        </p:nvGrpSpPr>
        <p:grpSpPr>
          <a:xfrm>
            <a:off x="1028700" y="446788"/>
            <a:ext cx="17244000" cy="220041"/>
            <a:chOff x="0" y="0"/>
            <a:chExt cx="23454501" cy="293387"/>
          </a:xfrm>
        </p:grpSpPr>
        <p:sp>
          <p:nvSpPr>
            <p:cNvPr id="798" name="Google Shape;798;p44"/>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4"/>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4"/>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4"/>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2" name="Google Shape;802;p44"/>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4"/>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804" name="Google Shape;804;p44"/>
          <p:cNvSpPr txBox="1"/>
          <p:nvPr/>
        </p:nvSpPr>
        <p:spPr>
          <a:xfrm>
            <a:off x="1028700" y="1676834"/>
            <a:ext cx="12687300" cy="345658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COMPETENCIES</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Competencies refer to the collective knowledge, skills, experience, and attributes of teams required to perform work successfully.</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Team members’ roles must be defined in terms of the types of attitude, behaviours and skills the organisation values and requires to achieve its objectives. </a:t>
            </a:r>
            <a:endParaRPr/>
          </a:p>
        </p:txBody>
      </p:sp>
      <p:sp>
        <p:nvSpPr>
          <p:cNvPr id="805" name="Google Shape;805;p4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806" name="Google Shape;806;p4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807" name="Google Shape;807;p4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45"/>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813" name="Google Shape;813;p45"/>
          <p:cNvGrpSpPr/>
          <p:nvPr/>
        </p:nvGrpSpPr>
        <p:grpSpPr>
          <a:xfrm>
            <a:off x="1028700" y="446788"/>
            <a:ext cx="17244000" cy="220041"/>
            <a:chOff x="0" y="0"/>
            <a:chExt cx="23454501" cy="293387"/>
          </a:xfrm>
        </p:grpSpPr>
        <p:sp>
          <p:nvSpPr>
            <p:cNvPr id="814" name="Google Shape;814;p45"/>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5"/>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5"/>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5"/>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8" name="Google Shape;818;p45"/>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5"/>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820" name="Google Shape;820;p45"/>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MONITORING PERFORMANCE</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Monitoring work performance will help identify how a team is managing. It helps to keep track of what's going on and allows for modification of work activities or roles.</a:t>
            </a:r>
            <a:endParaRPr/>
          </a:p>
        </p:txBody>
      </p:sp>
      <p:sp>
        <p:nvSpPr>
          <p:cNvPr id="821" name="Google Shape;821;p4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822" name="Google Shape;822;p4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823" name="Google Shape;823;p4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4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829" name="Google Shape;829;p46"/>
          <p:cNvGrpSpPr/>
          <p:nvPr/>
        </p:nvGrpSpPr>
        <p:grpSpPr>
          <a:xfrm>
            <a:off x="1028700" y="446788"/>
            <a:ext cx="17244000" cy="220041"/>
            <a:chOff x="0" y="0"/>
            <a:chExt cx="23454501" cy="293387"/>
          </a:xfrm>
        </p:grpSpPr>
        <p:sp>
          <p:nvSpPr>
            <p:cNvPr id="830" name="Google Shape;830;p46"/>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6"/>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6"/>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6"/>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46"/>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6"/>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836" name="Google Shape;836;p46"/>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OPEN COMMUNICATION PROCESSES</a:t>
            </a:r>
            <a:endParaRPr/>
          </a:p>
          <a:p>
            <a:pPr indent="0" lvl="0" marL="0" marR="0" rtl="0" algn="l">
              <a:lnSpc>
                <a:spcPct val="114000"/>
              </a:lnSpc>
              <a:spcBef>
                <a:spcPts val="1200"/>
              </a:spcBef>
              <a:spcAft>
                <a:spcPts val="0"/>
              </a:spcAft>
              <a:buNone/>
            </a:pPr>
            <a:r>
              <a:rPr b="0" i="0" lang="en-US" sz="3000" u="none" cap="none" strike="noStrike">
                <a:solidFill>
                  <a:srgbClr val="31859C"/>
                </a:solidFill>
                <a:latin typeface="Arial"/>
                <a:ea typeface="Arial"/>
                <a:cs typeface="Arial"/>
                <a:sym typeface="Arial"/>
              </a:rPr>
              <a:t>It is essential to have a good communication process to communicate with all stakeholders, whether that is the team, others in the organisation or even customers or suppliers. </a:t>
            </a:r>
            <a:endParaRPr/>
          </a:p>
        </p:txBody>
      </p:sp>
      <p:sp>
        <p:nvSpPr>
          <p:cNvPr id="837" name="Google Shape;837;p4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838" name="Google Shape;838;p4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839" name="Google Shape;839;p4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47"/>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845" name="Google Shape;845;p47"/>
          <p:cNvGrpSpPr/>
          <p:nvPr/>
        </p:nvGrpSpPr>
        <p:grpSpPr>
          <a:xfrm>
            <a:off x="1028700" y="446788"/>
            <a:ext cx="17244000" cy="220041"/>
            <a:chOff x="0" y="0"/>
            <a:chExt cx="23454501" cy="293387"/>
          </a:xfrm>
        </p:grpSpPr>
        <p:sp>
          <p:nvSpPr>
            <p:cNvPr id="846" name="Google Shape;846;p47"/>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7"/>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7"/>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7"/>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0" name="Google Shape;850;p47"/>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7"/>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852" name="Google Shape;852;p47"/>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MANAGEMENT COMMUNICATION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This can be verbal or written communication to the team leader or members of the team.</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Effective interpersonal communication processes are essential to the establishment and maintenance of effective teams. </a:t>
            </a:r>
            <a:endParaRPr/>
          </a:p>
        </p:txBody>
      </p:sp>
      <p:sp>
        <p:nvSpPr>
          <p:cNvPr id="853" name="Google Shape;853;p4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854" name="Google Shape;854;p4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855" name="Google Shape;855;p4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860" name="Shape 860"/>
        <p:cNvGrpSpPr/>
        <p:nvPr/>
      </p:nvGrpSpPr>
      <p:grpSpPr>
        <a:xfrm>
          <a:off x="0" y="0"/>
          <a:ext cx="0" cy="0"/>
          <a:chOff x="0" y="0"/>
          <a:chExt cx="0" cy="0"/>
        </a:xfrm>
      </p:grpSpPr>
      <p:sp>
        <p:nvSpPr>
          <p:cNvPr id="861" name="Google Shape;861;p48"/>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8"/>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3: Facilitate teamwork and liaise with stakeholders </a:t>
            </a:r>
            <a:endParaRPr/>
          </a:p>
        </p:txBody>
      </p:sp>
      <p:sp>
        <p:nvSpPr>
          <p:cNvPr id="863" name="Google Shape;863;p48"/>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WATCH</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Watch these video about open communication and communications and leadership.</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https://www.youtube.com/watch?v=hniJfc2FqPQ</a:t>
            </a:r>
            <a:r>
              <a:rPr b="0" i="0" lang="en-US" sz="3000" u="none" cap="none" strike="noStrike">
                <a:solidFill>
                  <a:schemeClr val="lt1"/>
                </a:solidFill>
                <a:latin typeface="Arial"/>
                <a:ea typeface="Arial"/>
                <a:cs typeface="Arial"/>
                <a:sym typeface="Arial"/>
              </a:rPr>
              <a:t> (03:01)</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Video: </a:t>
            </a:r>
            <a:r>
              <a:rPr b="0" i="0" lang="en-US" sz="3000" u="sng" cap="none" strike="noStrike">
                <a:solidFill>
                  <a:schemeClr val="lt1"/>
                </a:solidFill>
                <a:latin typeface="Arial"/>
                <a:ea typeface="Arial"/>
                <a:cs typeface="Arial"/>
                <a:sym typeface="Arial"/>
                <a:hlinkClick r:id="rId4">
                  <a:extLst>
                    <a:ext uri="{A12FA001-AC4F-418D-AE19-62706E023703}">
                      <ahyp:hlinkClr val="tx"/>
                    </a:ext>
                  </a:extLst>
                </a:hlinkClick>
              </a:rPr>
              <a:t>https://www.youtube.com/watch?v=bRXLTZMvy-U</a:t>
            </a:r>
            <a:r>
              <a:rPr b="0" i="0" lang="en-US" sz="3000" u="none" cap="none" strike="noStrike">
                <a:solidFill>
                  <a:schemeClr val="lt1"/>
                </a:solidFill>
                <a:latin typeface="Arial"/>
                <a:ea typeface="Arial"/>
                <a:cs typeface="Arial"/>
                <a:sym typeface="Arial"/>
              </a:rPr>
              <a:t> (05:48) </a:t>
            </a:r>
            <a:endParaRPr/>
          </a:p>
        </p:txBody>
      </p:sp>
      <p:grpSp>
        <p:nvGrpSpPr>
          <p:cNvPr id="864" name="Google Shape;864;p48"/>
          <p:cNvGrpSpPr/>
          <p:nvPr/>
        </p:nvGrpSpPr>
        <p:grpSpPr>
          <a:xfrm>
            <a:off x="1028700" y="495300"/>
            <a:ext cx="17259300" cy="218203"/>
            <a:chOff x="1028700" y="723900"/>
            <a:chExt cx="17259300" cy="218203"/>
          </a:xfrm>
        </p:grpSpPr>
        <p:sp>
          <p:nvSpPr>
            <p:cNvPr id="865" name="Google Shape;865;p48"/>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8"/>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8"/>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8"/>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869" name="Google Shape;869;p48"/>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870" name="Google Shape;870;p4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871" name="Google Shape;871;p4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872" name="Google Shape;872;p4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4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878" name="Google Shape;878;p49"/>
          <p:cNvGrpSpPr/>
          <p:nvPr/>
        </p:nvGrpSpPr>
        <p:grpSpPr>
          <a:xfrm>
            <a:off x="1028700" y="446788"/>
            <a:ext cx="17244000" cy="220041"/>
            <a:chOff x="0" y="0"/>
            <a:chExt cx="23454501" cy="293387"/>
          </a:xfrm>
        </p:grpSpPr>
        <p:sp>
          <p:nvSpPr>
            <p:cNvPr id="879" name="Google Shape;879;p49"/>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9"/>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9"/>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9"/>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3" name="Google Shape;883;p49"/>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9"/>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885" name="Google Shape;885;p49"/>
          <p:cNvSpPr txBox="1"/>
          <p:nvPr/>
        </p:nvSpPr>
        <p:spPr>
          <a:xfrm>
            <a:off x="1028700" y="1676834"/>
            <a:ext cx="12687300" cy="398288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CONFLICT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Organisational procedures, systems, policies, codes of conduct, documentation and processes ensure that correct steps are taken if a conflict arises.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Managers must try to resolve any issues, but unresolved issues must also be addressed so that team morale and work activities can continue. </a:t>
            </a:r>
            <a:endParaRPr/>
          </a:p>
        </p:txBody>
      </p:sp>
      <p:sp>
        <p:nvSpPr>
          <p:cNvPr id="886" name="Google Shape;886;p4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887" name="Google Shape;887;p4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888" name="Google Shape;888;p4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893" name="Shape 893"/>
        <p:cNvGrpSpPr/>
        <p:nvPr/>
      </p:nvGrpSpPr>
      <p:grpSpPr>
        <a:xfrm>
          <a:off x="0" y="0"/>
          <a:ext cx="0" cy="0"/>
          <a:chOff x="0" y="0"/>
          <a:chExt cx="0" cy="0"/>
        </a:xfrm>
      </p:grpSpPr>
      <p:sp>
        <p:nvSpPr>
          <p:cNvPr id="894" name="Google Shape;894;p50"/>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50"/>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3: Facilitate teamwork and liaise with stakeholders </a:t>
            </a:r>
            <a:endParaRPr/>
          </a:p>
        </p:txBody>
      </p:sp>
      <p:sp>
        <p:nvSpPr>
          <p:cNvPr id="896" name="Google Shape;896;p50"/>
          <p:cNvSpPr txBox="1"/>
          <p:nvPr/>
        </p:nvSpPr>
        <p:spPr>
          <a:xfrm>
            <a:off x="2209800" y="1676834"/>
            <a:ext cx="149352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RESEARCH AND DISCUSS</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In the group teams, search on the Internet for conflict resolution strategies.  Brainstorm with the team to create a comprehensive list to help resolve problems within the team.</a:t>
            </a:r>
            <a:endParaRPr/>
          </a:p>
        </p:txBody>
      </p:sp>
      <p:grpSp>
        <p:nvGrpSpPr>
          <p:cNvPr id="897" name="Google Shape;897;p50"/>
          <p:cNvGrpSpPr/>
          <p:nvPr/>
        </p:nvGrpSpPr>
        <p:grpSpPr>
          <a:xfrm>
            <a:off x="1028700" y="495300"/>
            <a:ext cx="17259300" cy="218203"/>
            <a:chOff x="1028700" y="723900"/>
            <a:chExt cx="17259300" cy="218203"/>
          </a:xfrm>
        </p:grpSpPr>
        <p:sp>
          <p:nvSpPr>
            <p:cNvPr id="898" name="Google Shape;898;p50"/>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0"/>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0"/>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0"/>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02" name="Google Shape;902;p50"/>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903" name="Google Shape;903;p5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04" name="Google Shape;904;p5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905" name="Google Shape;905;p5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5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911" name="Google Shape;911;p51"/>
          <p:cNvGrpSpPr/>
          <p:nvPr/>
        </p:nvGrpSpPr>
        <p:grpSpPr>
          <a:xfrm>
            <a:off x="1028700" y="446788"/>
            <a:ext cx="17244000" cy="220041"/>
            <a:chOff x="0" y="0"/>
            <a:chExt cx="23454501" cy="293387"/>
          </a:xfrm>
        </p:grpSpPr>
        <p:sp>
          <p:nvSpPr>
            <p:cNvPr id="912" name="Google Shape;912;p51"/>
            <p:cNvSpPr/>
            <p:nvPr/>
          </p:nvSpPr>
          <p:spPr>
            <a:xfrm>
              <a:off x="0" y="125899"/>
              <a:ext cx="23454501" cy="27726"/>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1"/>
            <p:cNvSpPr/>
            <p:nvPr/>
          </p:nvSpPr>
          <p:spPr>
            <a:xfrm>
              <a:off x="0" y="13863"/>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1"/>
            <p:cNvSpPr/>
            <p:nvPr/>
          </p:nvSpPr>
          <p:spPr>
            <a:xfrm>
              <a:off x="7770499"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1"/>
            <p:cNvSpPr/>
            <p:nvPr/>
          </p:nvSpPr>
          <p:spPr>
            <a:xfrm>
              <a:off x="15540998" y="0"/>
              <a:ext cx="292033" cy="279524"/>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 name="Google Shape;916;p51"/>
          <p:cNvSpPr/>
          <p:nvPr/>
        </p:nvSpPr>
        <p:spPr>
          <a:xfrm>
            <a:off x="0" y="7886700"/>
            <a:ext cx="18288000" cy="1621070"/>
          </a:xfrm>
          <a:prstGeom prst="rect">
            <a:avLst/>
          </a:prstGeom>
          <a:solidFill>
            <a:srgbClr val="3185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1"/>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chemeClr val="lt1"/>
                </a:solidFill>
                <a:latin typeface="Arial"/>
                <a:ea typeface="Arial"/>
                <a:cs typeface="Arial"/>
                <a:sym typeface="Arial"/>
              </a:rPr>
              <a:t>Topic 3: Facilitate teamwork and liaise with stakeholders </a:t>
            </a:r>
            <a:endParaRPr/>
          </a:p>
        </p:txBody>
      </p:sp>
      <p:sp>
        <p:nvSpPr>
          <p:cNvPr id="918" name="Google Shape;918;p51"/>
          <p:cNvSpPr txBox="1"/>
          <p:nvPr/>
        </p:nvSpPr>
        <p:spPr>
          <a:xfrm>
            <a:off x="1028700" y="1676834"/>
            <a:ext cx="12687300" cy="413677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rgbClr val="31859C"/>
                </a:solidFill>
                <a:latin typeface="Arial"/>
                <a:ea typeface="Arial"/>
                <a:cs typeface="Arial"/>
                <a:sym typeface="Arial"/>
              </a:rPr>
              <a:t>ADDRESS UNRESOLVED PROBLEMS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Conflicts are not bad if they are resolved quickly and as effectively as possible.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Resolving conflicts can have negative or positive outcomes. </a:t>
            </a:r>
            <a:endParaRPr/>
          </a:p>
          <a:p>
            <a:pPr indent="-457200" lvl="0" marL="457200" marR="0" rtl="0" algn="l">
              <a:lnSpc>
                <a:spcPct val="114000"/>
              </a:lnSpc>
              <a:spcBef>
                <a:spcPts val="1200"/>
              </a:spcBef>
              <a:spcAft>
                <a:spcPts val="0"/>
              </a:spcAft>
              <a:buClr>
                <a:srgbClr val="31859C"/>
              </a:buClr>
              <a:buSzPts val="3000"/>
              <a:buFont typeface="Arial"/>
              <a:buChar char="•"/>
            </a:pPr>
            <a:r>
              <a:rPr b="0" i="0" lang="en-US" sz="3000" u="none" cap="none" strike="noStrike">
                <a:solidFill>
                  <a:srgbClr val="31859C"/>
                </a:solidFill>
                <a:latin typeface="Arial"/>
                <a:ea typeface="Arial"/>
                <a:cs typeface="Arial"/>
                <a:sym typeface="Arial"/>
              </a:rPr>
              <a:t>The gist of addressing any conflict is to hope that ideas, opinions and thoughts are discussed as openly or honestly as possible as long as it is done with respect and integrity. </a:t>
            </a:r>
            <a:endParaRPr/>
          </a:p>
        </p:txBody>
      </p:sp>
      <p:sp>
        <p:nvSpPr>
          <p:cNvPr id="919" name="Google Shape;919;p5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31859C"/>
                </a:solidFill>
              </a:rPr>
              <a:t> 2021 Milestones International College</a:t>
            </a:r>
            <a:endParaRPr/>
          </a:p>
        </p:txBody>
      </p:sp>
      <p:sp>
        <p:nvSpPr>
          <p:cNvPr id="920" name="Google Shape;920;p5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921" name="Google Shape;921;p5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31859C"/>
                </a:solidFill>
                <a:latin typeface="Arial"/>
                <a:ea typeface="Arial"/>
                <a:cs typeface="Arial"/>
                <a:sym typeface="Arial"/>
              </a:rPr>
              <a:t>BSBTWK502 </a:t>
            </a:r>
            <a:r>
              <a:rPr lang="en-US">
                <a:solidFill>
                  <a:srgbClr val="31859C"/>
                </a:solidFill>
                <a:latin typeface="Arial"/>
                <a:ea typeface="Arial"/>
                <a:cs typeface="Arial"/>
                <a:sym typeface="Arial"/>
              </a:rPr>
              <a:t>Manage team effectiveness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926" name="Shape 926"/>
        <p:cNvGrpSpPr/>
        <p:nvPr/>
      </p:nvGrpSpPr>
      <p:grpSpPr>
        <a:xfrm>
          <a:off x="0" y="0"/>
          <a:ext cx="0" cy="0"/>
          <a:chOff x="0" y="0"/>
          <a:chExt cx="0" cy="0"/>
        </a:xfrm>
      </p:grpSpPr>
      <p:sp>
        <p:nvSpPr>
          <p:cNvPr id="927" name="Google Shape;927;p52"/>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2"/>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3: Facilitate teamwork and liaise with stakeholders </a:t>
            </a:r>
            <a:endParaRPr/>
          </a:p>
        </p:txBody>
      </p:sp>
      <p:sp>
        <p:nvSpPr>
          <p:cNvPr id="929" name="Google Shape;929;p52"/>
          <p:cNvSpPr txBox="1"/>
          <p:nvPr/>
        </p:nvSpPr>
        <p:spPr>
          <a:xfrm>
            <a:off x="2209800" y="1676834"/>
            <a:ext cx="14935200" cy="3918252"/>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READ</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Conflict Resolution, Using the "Interest-Based Relational" Approach:</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3">
                  <a:extLst>
                    <a:ext uri="{A12FA001-AC4F-418D-AE19-62706E023703}">
                      <ahyp:hlinkClr val="tx"/>
                    </a:ext>
                  </a:extLst>
                </a:hlinkClick>
              </a:rPr>
              <a:t>http://www.mindtools.com/pages/article/newLDR_81.htm</a:t>
            </a:r>
            <a:r>
              <a:rPr b="0" i="0" lang="en-US" sz="3000" u="none" cap="none" strike="noStrike">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3 Techniques for Building Consensus:</a:t>
            </a:r>
            <a:endParaRPr/>
          </a:p>
          <a:p>
            <a:pPr indent="0" lvl="0" marL="0" marR="0" rtl="0" algn="l">
              <a:lnSpc>
                <a:spcPct val="114000"/>
              </a:lnSpc>
              <a:spcBef>
                <a:spcPts val="1200"/>
              </a:spcBef>
              <a:spcAft>
                <a:spcPts val="0"/>
              </a:spcAft>
              <a:buNone/>
            </a:pPr>
            <a:r>
              <a:rPr b="0" i="0" lang="en-US" sz="3000" u="sng" cap="none" strike="noStrike">
                <a:solidFill>
                  <a:schemeClr val="lt1"/>
                </a:solidFill>
                <a:latin typeface="Arial"/>
                <a:ea typeface="Arial"/>
                <a:cs typeface="Arial"/>
                <a:sym typeface="Arial"/>
                <a:hlinkClick r:id="rId4">
                  <a:extLst>
                    <a:ext uri="{A12FA001-AC4F-418D-AE19-62706E023703}">
                      <ahyp:hlinkClr val="tx"/>
                    </a:ext>
                  </a:extLst>
                </a:hlinkClick>
              </a:rPr>
              <a:t>https://www.leadstrat.com/3-techniques-for-building-consensus-2/</a:t>
            </a:r>
            <a:r>
              <a:rPr b="0" i="0" lang="en-US" sz="3000" u="none" cap="none" strike="noStrike">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Take any notes to summarise what you have read and keep for future reference. </a:t>
            </a:r>
            <a:endParaRPr/>
          </a:p>
        </p:txBody>
      </p:sp>
      <p:grpSp>
        <p:nvGrpSpPr>
          <p:cNvPr id="930" name="Google Shape;930;p52"/>
          <p:cNvGrpSpPr/>
          <p:nvPr/>
        </p:nvGrpSpPr>
        <p:grpSpPr>
          <a:xfrm>
            <a:off x="1028700" y="495300"/>
            <a:ext cx="17259300" cy="218203"/>
            <a:chOff x="1028700" y="723900"/>
            <a:chExt cx="17259300" cy="218203"/>
          </a:xfrm>
        </p:grpSpPr>
        <p:sp>
          <p:nvSpPr>
            <p:cNvPr id="931" name="Google Shape;931;p52"/>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52"/>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2"/>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2"/>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35" name="Google Shape;935;p52"/>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936" name="Google Shape;936;p5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37" name="Google Shape;937;p5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938" name="Google Shape;938;p5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1859C"/>
        </a:solidFill>
      </p:bgPr>
    </p:bg>
    <p:spTree>
      <p:nvGrpSpPr>
        <p:cNvPr id="943" name="Shape 943"/>
        <p:cNvGrpSpPr/>
        <p:nvPr/>
      </p:nvGrpSpPr>
      <p:grpSpPr>
        <a:xfrm>
          <a:off x="0" y="0"/>
          <a:ext cx="0" cy="0"/>
          <a:chOff x="0" y="0"/>
          <a:chExt cx="0" cy="0"/>
        </a:xfrm>
      </p:grpSpPr>
      <p:sp>
        <p:nvSpPr>
          <p:cNvPr id="944" name="Google Shape;944;p5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3"/>
          <p:cNvSpPr txBox="1"/>
          <p:nvPr/>
        </p:nvSpPr>
        <p:spPr>
          <a:xfrm>
            <a:off x="990600" y="8325338"/>
            <a:ext cx="16745495" cy="697948"/>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31859C"/>
                </a:solidFill>
                <a:latin typeface="Arial"/>
                <a:ea typeface="Arial"/>
                <a:cs typeface="Arial"/>
                <a:sym typeface="Arial"/>
              </a:rPr>
              <a:t>Topic 3: Facilitate teamwork and liaise with stakeholders </a:t>
            </a:r>
            <a:endParaRPr/>
          </a:p>
        </p:txBody>
      </p:sp>
      <p:sp>
        <p:nvSpPr>
          <p:cNvPr id="946" name="Google Shape;946;p53"/>
          <p:cNvSpPr txBox="1"/>
          <p:nvPr/>
        </p:nvSpPr>
        <p:spPr>
          <a:xfrm>
            <a:off x="2209800" y="1676834"/>
            <a:ext cx="14935200" cy="330269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BRAINSTORM</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Brainstorm the process, strategies and workplace situation you learnt in this unit. Use the information to complete the table to demonstrate your understanding of how you will manage team effectiveness. For each task identify which business policies and procedures or relevant document you will use. Also, determine three strategies of how you will manage the task. </a:t>
            </a:r>
            <a:endParaRPr/>
          </a:p>
        </p:txBody>
      </p:sp>
      <p:grpSp>
        <p:nvGrpSpPr>
          <p:cNvPr id="947" name="Google Shape;947;p53"/>
          <p:cNvGrpSpPr/>
          <p:nvPr/>
        </p:nvGrpSpPr>
        <p:grpSpPr>
          <a:xfrm>
            <a:off x="1028700" y="495300"/>
            <a:ext cx="17259300" cy="218203"/>
            <a:chOff x="1028700" y="723900"/>
            <a:chExt cx="17259300" cy="218203"/>
          </a:xfrm>
        </p:grpSpPr>
        <p:sp>
          <p:nvSpPr>
            <p:cNvPr id="948" name="Google Shape;948;p5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52" name="Google Shape;952;p5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953" name="Google Shape;953;p5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54" name="Google Shape;954;p5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sp>
        <p:nvSpPr>
          <p:cNvPr id="955" name="Google Shape;955;p5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BSBTWK502 </a:t>
            </a:r>
            <a:r>
              <a:rPr lang="en-US">
                <a:solidFill>
                  <a:schemeClr val="lt1"/>
                </a:solidFill>
                <a:latin typeface="Arial"/>
                <a:ea typeface="Arial"/>
                <a:cs typeface="Arial"/>
                <a:sym typeface="Arial"/>
              </a:rPr>
              <a:t>Manage team effectiveness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0x01010055C80B126816A9409F2C6B4A1A06B318</vt:lpwstr>
  </property>
  <property fmtid="{D5CDD505-2E9C-101B-9397-08002B2CF9AE}" pid="3" name="Order">
    <vt:r8>5280500.0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ies>
</file>