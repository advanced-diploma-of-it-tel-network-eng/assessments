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75"/>
  </p:notesMasterIdLst>
  <p:sldIdLst>
    <p:sldId id="256" r:id="rId2"/>
    <p:sldId id="264" r:id="rId3"/>
    <p:sldId id="258" r:id="rId4"/>
    <p:sldId id="259" r:id="rId5"/>
    <p:sldId id="265" r:id="rId6"/>
    <p:sldId id="266" r:id="rId7"/>
    <p:sldId id="267" r:id="rId8"/>
    <p:sldId id="268" r:id="rId9"/>
    <p:sldId id="270" r:id="rId10"/>
    <p:sldId id="269"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90" r:id="rId30"/>
    <p:sldId id="291" r:id="rId31"/>
    <p:sldId id="292" r:id="rId32"/>
    <p:sldId id="289"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10" r:id="rId50"/>
    <p:sldId id="311" r:id="rId51"/>
    <p:sldId id="312" r:id="rId52"/>
    <p:sldId id="313" r:id="rId53"/>
    <p:sldId id="309"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Lst>
  <p:sldSz cx="18288000" cy="10287000"/>
  <p:notesSz cx="6858000" cy="9144000"/>
  <p:embeddedFontLst>
    <p:embeddedFont>
      <p:font typeface="Calibri" panose="020F0502020204030204" pitchFamily="34" charset="0"/>
      <p:regular r:id="rId76"/>
      <p:bold r:id="rId77"/>
      <p:italic r:id="rId78"/>
      <p:boldItalic r:id="rId79"/>
    </p:embeddedFont>
    <p:embeddedFont>
      <p:font typeface="Montserrat Light" pitchFamily="2" charset="77"/>
      <p:regular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19" autoAdjust="0"/>
    <p:restoredTop sz="94686" autoAdjust="0"/>
  </p:normalViewPr>
  <p:slideViewPr>
    <p:cSldViewPr>
      <p:cViewPr varScale="1">
        <p:scale>
          <a:sx n="91" d="100"/>
          <a:sy n="91" d="100"/>
        </p:scale>
        <p:origin x="800"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30B3E1-491F-4DE8-A825-66E9E1A4E861}" type="datetimeFigureOut">
              <a:rPr lang="en-AU" smtClean="0"/>
              <a:t>5/07/2021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039F7C-6B36-476B-B1D0-27733B12A66A}" type="slidenum">
              <a:rPr lang="en-AU" smtClean="0"/>
              <a:t>‹#›</a:t>
            </a:fld>
            <a:endParaRPr lang="en-AU"/>
          </a:p>
        </p:txBody>
      </p:sp>
    </p:spTree>
    <p:extLst>
      <p:ext uri="{BB962C8B-B14F-4D97-AF65-F5344CB8AC3E}">
        <p14:creationId xmlns:p14="http://schemas.microsoft.com/office/powerpoint/2010/main" val="333897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a:t>
            </a:fld>
            <a:endParaRPr lang="en-AU"/>
          </a:p>
        </p:txBody>
      </p:sp>
    </p:spTree>
    <p:extLst>
      <p:ext uri="{BB962C8B-B14F-4D97-AF65-F5344CB8AC3E}">
        <p14:creationId xmlns:p14="http://schemas.microsoft.com/office/powerpoint/2010/main" val="3593105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Note to trainer: Use this group discussion to highlight the need for critical thinking in both types of decisions, but especially critical ones. Help the students understand that when decisions are critical, they need to be able to evaluate and substantiate solutions. </a:t>
            </a:r>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a:t>
            </a:fld>
            <a:endParaRPr lang="en-AU"/>
          </a:p>
        </p:txBody>
      </p:sp>
    </p:spTree>
    <p:extLst>
      <p:ext uri="{BB962C8B-B14F-4D97-AF65-F5344CB8AC3E}">
        <p14:creationId xmlns:p14="http://schemas.microsoft.com/office/powerpoint/2010/main" val="453689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a:t>
            </a:fld>
            <a:endParaRPr lang="en-AU"/>
          </a:p>
        </p:txBody>
      </p:sp>
    </p:spTree>
    <p:extLst>
      <p:ext uri="{BB962C8B-B14F-4D97-AF65-F5344CB8AC3E}">
        <p14:creationId xmlns:p14="http://schemas.microsoft.com/office/powerpoint/2010/main" val="2620923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8</a:t>
            </a:fld>
            <a:endParaRPr lang="en-AU"/>
          </a:p>
        </p:txBody>
      </p:sp>
    </p:spTree>
    <p:extLst>
      <p:ext uri="{BB962C8B-B14F-4D97-AF65-F5344CB8AC3E}">
        <p14:creationId xmlns:p14="http://schemas.microsoft.com/office/powerpoint/2010/main" val="2290548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9</a:t>
            </a:fld>
            <a:endParaRPr lang="en-AU"/>
          </a:p>
        </p:txBody>
      </p:sp>
    </p:spTree>
    <p:extLst>
      <p:ext uri="{BB962C8B-B14F-4D97-AF65-F5344CB8AC3E}">
        <p14:creationId xmlns:p14="http://schemas.microsoft.com/office/powerpoint/2010/main" val="573514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11</a:t>
            </a:fld>
            <a:endParaRPr lang="en-AU"/>
          </a:p>
        </p:txBody>
      </p:sp>
    </p:spTree>
    <p:extLst>
      <p:ext uri="{BB962C8B-B14F-4D97-AF65-F5344CB8AC3E}">
        <p14:creationId xmlns:p14="http://schemas.microsoft.com/office/powerpoint/2010/main" val="4042263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13</a:t>
            </a:fld>
            <a:endParaRPr lang="en-AU"/>
          </a:p>
        </p:txBody>
      </p:sp>
    </p:spTree>
    <p:extLst>
      <p:ext uri="{BB962C8B-B14F-4D97-AF65-F5344CB8AC3E}">
        <p14:creationId xmlns:p14="http://schemas.microsoft.com/office/powerpoint/2010/main" val="4241361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14</a:t>
            </a:fld>
            <a:endParaRPr lang="en-AU"/>
          </a:p>
        </p:txBody>
      </p:sp>
    </p:spTree>
    <p:extLst>
      <p:ext uri="{BB962C8B-B14F-4D97-AF65-F5344CB8AC3E}">
        <p14:creationId xmlns:p14="http://schemas.microsoft.com/office/powerpoint/2010/main" val="1333978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Note to trainer: This is a good time to discuss the influence of social media and online reviews.</a:t>
            </a:r>
            <a:r>
              <a:rPr lang="en-AU" dirty="0">
                <a:effectLst/>
              </a:rPr>
              <a:t> </a:t>
            </a:r>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16</a:t>
            </a:fld>
            <a:endParaRPr lang="en-AU"/>
          </a:p>
        </p:txBody>
      </p:sp>
    </p:spTree>
    <p:extLst>
      <p:ext uri="{BB962C8B-B14F-4D97-AF65-F5344CB8AC3E}">
        <p14:creationId xmlns:p14="http://schemas.microsoft.com/office/powerpoint/2010/main" val="4099734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Note to trainer: This specific article/workplace issue will be used for a number of groupwork activities. Students can access other articles to further their understanding of the situation.</a:t>
            </a:r>
            <a:r>
              <a:rPr lang="en-AU" dirty="0">
                <a:effectLst/>
              </a:rPr>
              <a:t> </a:t>
            </a:r>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17</a:t>
            </a:fld>
            <a:endParaRPr lang="en-AU"/>
          </a:p>
        </p:txBody>
      </p:sp>
    </p:spTree>
    <p:extLst>
      <p:ext uri="{BB962C8B-B14F-4D97-AF65-F5344CB8AC3E}">
        <p14:creationId xmlns:p14="http://schemas.microsoft.com/office/powerpoint/2010/main" val="3847640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18</a:t>
            </a:fld>
            <a:endParaRPr lang="en-AU"/>
          </a:p>
        </p:txBody>
      </p:sp>
    </p:spTree>
    <p:extLst>
      <p:ext uri="{BB962C8B-B14F-4D97-AF65-F5344CB8AC3E}">
        <p14:creationId xmlns:p14="http://schemas.microsoft.com/office/powerpoint/2010/main" val="1932953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21</a:t>
            </a:fld>
            <a:endParaRPr lang="en-AU"/>
          </a:p>
        </p:txBody>
      </p:sp>
    </p:spTree>
    <p:extLst>
      <p:ext uri="{BB962C8B-B14F-4D97-AF65-F5344CB8AC3E}">
        <p14:creationId xmlns:p14="http://schemas.microsoft.com/office/powerpoint/2010/main" val="3137470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22</a:t>
            </a:fld>
            <a:endParaRPr lang="en-AU"/>
          </a:p>
        </p:txBody>
      </p:sp>
    </p:spTree>
    <p:extLst>
      <p:ext uri="{BB962C8B-B14F-4D97-AF65-F5344CB8AC3E}">
        <p14:creationId xmlns:p14="http://schemas.microsoft.com/office/powerpoint/2010/main" val="3526366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24</a:t>
            </a:fld>
            <a:endParaRPr lang="en-AU"/>
          </a:p>
        </p:txBody>
      </p:sp>
    </p:spTree>
    <p:extLst>
      <p:ext uri="{BB962C8B-B14F-4D97-AF65-F5344CB8AC3E}">
        <p14:creationId xmlns:p14="http://schemas.microsoft.com/office/powerpoint/2010/main" val="2760199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26</a:t>
            </a:fld>
            <a:endParaRPr lang="en-AU"/>
          </a:p>
        </p:txBody>
      </p:sp>
    </p:spTree>
    <p:extLst>
      <p:ext uri="{BB962C8B-B14F-4D97-AF65-F5344CB8AC3E}">
        <p14:creationId xmlns:p14="http://schemas.microsoft.com/office/powerpoint/2010/main" val="2435414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27</a:t>
            </a:fld>
            <a:endParaRPr lang="en-AU"/>
          </a:p>
        </p:txBody>
      </p:sp>
    </p:spTree>
    <p:extLst>
      <p:ext uri="{BB962C8B-B14F-4D97-AF65-F5344CB8AC3E}">
        <p14:creationId xmlns:p14="http://schemas.microsoft.com/office/powerpoint/2010/main" val="11738084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28</a:t>
            </a:fld>
            <a:endParaRPr lang="en-AU"/>
          </a:p>
        </p:txBody>
      </p:sp>
    </p:spTree>
    <p:extLst>
      <p:ext uri="{BB962C8B-B14F-4D97-AF65-F5344CB8AC3E}">
        <p14:creationId xmlns:p14="http://schemas.microsoft.com/office/powerpoint/2010/main" val="568612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29</a:t>
            </a:fld>
            <a:endParaRPr lang="en-AU"/>
          </a:p>
        </p:txBody>
      </p:sp>
    </p:spTree>
    <p:extLst>
      <p:ext uri="{BB962C8B-B14F-4D97-AF65-F5344CB8AC3E}">
        <p14:creationId xmlns:p14="http://schemas.microsoft.com/office/powerpoint/2010/main" val="368239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32</a:t>
            </a:fld>
            <a:endParaRPr lang="en-AU"/>
          </a:p>
        </p:txBody>
      </p:sp>
    </p:spTree>
    <p:extLst>
      <p:ext uri="{BB962C8B-B14F-4D97-AF65-F5344CB8AC3E}">
        <p14:creationId xmlns:p14="http://schemas.microsoft.com/office/powerpoint/2010/main" val="1801805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34</a:t>
            </a:fld>
            <a:endParaRPr lang="en-AU"/>
          </a:p>
        </p:txBody>
      </p:sp>
    </p:spTree>
    <p:extLst>
      <p:ext uri="{BB962C8B-B14F-4D97-AF65-F5344CB8AC3E}">
        <p14:creationId xmlns:p14="http://schemas.microsoft.com/office/powerpoint/2010/main" val="2108312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36</a:t>
            </a:fld>
            <a:endParaRPr lang="en-AU"/>
          </a:p>
        </p:txBody>
      </p:sp>
    </p:spTree>
    <p:extLst>
      <p:ext uri="{BB962C8B-B14F-4D97-AF65-F5344CB8AC3E}">
        <p14:creationId xmlns:p14="http://schemas.microsoft.com/office/powerpoint/2010/main" val="8642675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38</a:t>
            </a:fld>
            <a:endParaRPr lang="en-AU"/>
          </a:p>
        </p:txBody>
      </p:sp>
    </p:spTree>
    <p:extLst>
      <p:ext uri="{BB962C8B-B14F-4D97-AF65-F5344CB8AC3E}">
        <p14:creationId xmlns:p14="http://schemas.microsoft.com/office/powerpoint/2010/main" val="41179127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39</a:t>
            </a:fld>
            <a:endParaRPr lang="en-AU"/>
          </a:p>
        </p:txBody>
      </p:sp>
    </p:spTree>
    <p:extLst>
      <p:ext uri="{BB962C8B-B14F-4D97-AF65-F5344CB8AC3E}">
        <p14:creationId xmlns:p14="http://schemas.microsoft.com/office/powerpoint/2010/main" val="1371631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40</a:t>
            </a:fld>
            <a:endParaRPr lang="en-AU"/>
          </a:p>
        </p:txBody>
      </p:sp>
    </p:spTree>
    <p:extLst>
      <p:ext uri="{BB962C8B-B14F-4D97-AF65-F5344CB8AC3E}">
        <p14:creationId xmlns:p14="http://schemas.microsoft.com/office/powerpoint/2010/main" val="2350073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42</a:t>
            </a:fld>
            <a:endParaRPr lang="en-AU"/>
          </a:p>
        </p:txBody>
      </p:sp>
    </p:spTree>
    <p:extLst>
      <p:ext uri="{BB962C8B-B14F-4D97-AF65-F5344CB8AC3E}">
        <p14:creationId xmlns:p14="http://schemas.microsoft.com/office/powerpoint/2010/main" val="2632880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45</a:t>
            </a:fld>
            <a:endParaRPr lang="en-AU"/>
          </a:p>
        </p:txBody>
      </p:sp>
    </p:spTree>
    <p:extLst>
      <p:ext uri="{BB962C8B-B14F-4D97-AF65-F5344CB8AC3E}">
        <p14:creationId xmlns:p14="http://schemas.microsoft.com/office/powerpoint/2010/main" val="15224657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47</a:t>
            </a:fld>
            <a:endParaRPr lang="en-AU"/>
          </a:p>
        </p:txBody>
      </p:sp>
    </p:spTree>
    <p:extLst>
      <p:ext uri="{BB962C8B-B14F-4D97-AF65-F5344CB8AC3E}">
        <p14:creationId xmlns:p14="http://schemas.microsoft.com/office/powerpoint/2010/main" val="27002758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48</a:t>
            </a:fld>
            <a:endParaRPr lang="en-AU"/>
          </a:p>
        </p:txBody>
      </p:sp>
    </p:spTree>
    <p:extLst>
      <p:ext uri="{BB962C8B-B14F-4D97-AF65-F5344CB8AC3E}">
        <p14:creationId xmlns:p14="http://schemas.microsoft.com/office/powerpoint/2010/main" val="25559533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49</a:t>
            </a:fld>
            <a:endParaRPr lang="en-AU"/>
          </a:p>
        </p:txBody>
      </p:sp>
    </p:spTree>
    <p:extLst>
      <p:ext uri="{BB962C8B-B14F-4D97-AF65-F5344CB8AC3E}">
        <p14:creationId xmlns:p14="http://schemas.microsoft.com/office/powerpoint/2010/main" val="24303891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53</a:t>
            </a:fld>
            <a:endParaRPr lang="en-AU"/>
          </a:p>
        </p:txBody>
      </p:sp>
    </p:spTree>
    <p:extLst>
      <p:ext uri="{BB962C8B-B14F-4D97-AF65-F5344CB8AC3E}">
        <p14:creationId xmlns:p14="http://schemas.microsoft.com/office/powerpoint/2010/main" val="9353300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Note to trainer: Pair students in similar jobs/industries of interest with one another.</a:t>
            </a:r>
            <a:r>
              <a:rPr lang="en-AU" dirty="0">
                <a:effectLst/>
              </a:rPr>
              <a:t> </a:t>
            </a:r>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54</a:t>
            </a:fld>
            <a:endParaRPr lang="en-AU"/>
          </a:p>
        </p:txBody>
      </p:sp>
    </p:spTree>
    <p:extLst>
      <p:ext uri="{BB962C8B-B14F-4D97-AF65-F5344CB8AC3E}">
        <p14:creationId xmlns:p14="http://schemas.microsoft.com/office/powerpoint/2010/main" val="26789058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55</a:t>
            </a:fld>
            <a:endParaRPr lang="en-AU"/>
          </a:p>
        </p:txBody>
      </p:sp>
    </p:spTree>
    <p:extLst>
      <p:ext uri="{BB962C8B-B14F-4D97-AF65-F5344CB8AC3E}">
        <p14:creationId xmlns:p14="http://schemas.microsoft.com/office/powerpoint/2010/main" val="12966512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56</a:t>
            </a:fld>
            <a:endParaRPr lang="en-AU"/>
          </a:p>
        </p:txBody>
      </p:sp>
    </p:spTree>
    <p:extLst>
      <p:ext uri="{BB962C8B-B14F-4D97-AF65-F5344CB8AC3E}">
        <p14:creationId xmlns:p14="http://schemas.microsoft.com/office/powerpoint/2010/main" val="6348003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58</a:t>
            </a:fld>
            <a:endParaRPr lang="en-AU"/>
          </a:p>
        </p:txBody>
      </p:sp>
    </p:spTree>
    <p:extLst>
      <p:ext uri="{BB962C8B-B14F-4D97-AF65-F5344CB8AC3E}">
        <p14:creationId xmlns:p14="http://schemas.microsoft.com/office/powerpoint/2010/main" val="13119358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59</a:t>
            </a:fld>
            <a:endParaRPr lang="en-AU"/>
          </a:p>
        </p:txBody>
      </p:sp>
    </p:spTree>
    <p:extLst>
      <p:ext uri="{BB962C8B-B14F-4D97-AF65-F5344CB8AC3E}">
        <p14:creationId xmlns:p14="http://schemas.microsoft.com/office/powerpoint/2010/main" val="32321113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Note to trainer: This activity highlights that different organisations will have different ways of recording feedback (e.g. minutes of meeting, email summary, performance review, software review functionality). Not all organisations use a feedback register. </a:t>
            </a:r>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62</a:t>
            </a:fld>
            <a:endParaRPr lang="en-AU"/>
          </a:p>
        </p:txBody>
      </p:sp>
    </p:spTree>
    <p:extLst>
      <p:ext uri="{BB962C8B-B14F-4D97-AF65-F5344CB8AC3E}">
        <p14:creationId xmlns:p14="http://schemas.microsoft.com/office/powerpoint/2010/main" val="31481362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63</a:t>
            </a:fld>
            <a:endParaRPr lang="en-AU"/>
          </a:p>
        </p:txBody>
      </p:sp>
    </p:spTree>
    <p:extLst>
      <p:ext uri="{BB962C8B-B14F-4D97-AF65-F5344CB8AC3E}">
        <p14:creationId xmlns:p14="http://schemas.microsoft.com/office/powerpoint/2010/main" val="34101021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65</a:t>
            </a:fld>
            <a:endParaRPr lang="en-AU"/>
          </a:p>
        </p:txBody>
      </p:sp>
    </p:spTree>
    <p:extLst>
      <p:ext uri="{BB962C8B-B14F-4D97-AF65-F5344CB8AC3E}">
        <p14:creationId xmlns:p14="http://schemas.microsoft.com/office/powerpoint/2010/main" val="21868284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66</a:t>
            </a:fld>
            <a:endParaRPr lang="en-AU"/>
          </a:p>
        </p:txBody>
      </p:sp>
    </p:spTree>
    <p:extLst>
      <p:ext uri="{BB962C8B-B14F-4D97-AF65-F5344CB8AC3E}">
        <p14:creationId xmlns:p14="http://schemas.microsoft.com/office/powerpoint/2010/main" val="39140751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68</a:t>
            </a:fld>
            <a:endParaRPr lang="en-AU"/>
          </a:p>
        </p:txBody>
      </p:sp>
    </p:spTree>
    <p:extLst>
      <p:ext uri="{BB962C8B-B14F-4D97-AF65-F5344CB8AC3E}">
        <p14:creationId xmlns:p14="http://schemas.microsoft.com/office/powerpoint/2010/main" val="2379846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69</a:t>
            </a:fld>
            <a:endParaRPr lang="en-AU"/>
          </a:p>
        </p:txBody>
      </p:sp>
    </p:spTree>
    <p:extLst>
      <p:ext uri="{BB962C8B-B14F-4D97-AF65-F5344CB8AC3E}">
        <p14:creationId xmlns:p14="http://schemas.microsoft.com/office/powerpoint/2010/main" val="21109281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70</a:t>
            </a:fld>
            <a:endParaRPr lang="en-AU"/>
          </a:p>
        </p:txBody>
      </p:sp>
    </p:spTree>
    <p:extLst>
      <p:ext uri="{BB962C8B-B14F-4D97-AF65-F5344CB8AC3E}">
        <p14:creationId xmlns:p14="http://schemas.microsoft.com/office/powerpoint/2010/main" val="1724617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71</a:t>
            </a:fld>
            <a:endParaRPr lang="en-AU"/>
          </a:p>
        </p:txBody>
      </p:sp>
    </p:spTree>
    <p:extLst>
      <p:ext uri="{BB962C8B-B14F-4D97-AF65-F5344CB8AC3E}">
        <p14:creationId xmlns:p14="http://schemas.microsoft.com/office/powerpoint/2010/main" val="15519761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72</a:t>
            </a:fld>
            <a:endParaRPr lang="en-AU"/>
          </a:p>
        </p:txBody>
      </p:sp>
    </p:spTree>
    <p:extLst>
      <p:ext uri="{BB962C8B-B14F-4D97-AF65-F5344CB8AC3E}">
        <p14:creationId xmlns:p14="http://schemas.microsoft.com/office/powerpoint/2010/main" val="22691495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73</a:t>
            </a:fld>
            <a:endParaRPr lang="en-AU"/>
          </a:p>
        </p:txBody>
      </p:sp>
    </p:spTree>
    <p:extLst>
      <p:ext uri="{BB962C8B-B14F-4D97-AF65-F5344CB8AC3E}">
        <p14:creationId xmlns:p14="http://schemas.microsoft.com/office/powerpoint/2010/main" val="1754644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1BD78BD-796B-4BF5-9352-FDB8F694BDD8}" type="datetime1">
              <a:rPr lang="en-US" smtClean="0"/>
              <a:t>7/5/21</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CC0374-7323-4899-A285-30D4680251FF}" type="datetime1">
              <a:rPr lang="en-US" smtClean="0"/>
              <a:t>7/5/21</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4B2E7-0883-48F9-A2AE-E62B73A2CD8A}" type="datetime1">
              <a:rPr lang="en-US" smtClean="0"/>
              <a:t>7/5/21</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C75A4A-B286-41D1-8DC5-255BBBA32973}" type="datetime1">
              <a:rPr lang="en-US" smtClean="0"/>
              <a:t>7/5/21</a:t>
            </a:fld>
            <a:endParaRPr lang="en-US"/>
          </a:p>
        </p:txBody>
      </p:sp>
      <p:sp>
        <p:nvSpPr>
          <p:cNvPr id="6" name="Footer Placeholder 5"/>
          <p:cNvSpPr>
            <a:spLocks noGrp="1"/>
          </p:cNvSpPr>
          <p:nvPr>
            <p:ph type="ftr" sz="quarter" idx="11"/>
          </p:nvPr>
        </p:nvSpPr>
        <p:spPr/>
        <p:txBody>
          <a:bodyPr/>
          <a:lstStyle/>
          <a:p>
            <a:r>
              <a:rPr lang="en-US"/>
              <a:t>Unit code Unit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615A523-D0F7-40EF-A1C3-17B333BFBA64}" type="datetime1">
              <a:rPr lang="en-US" smtClean="0"/>
              <a:t>7/5/21</a:t>
            </a:fld>
            <a:endParaRPr lang="en-US"/>
          </a:p>
        </p:txBody>
      </p:sp>
      <p:sp>
        <p:nvSpPr>
          <p:cNvPr id="8" name="Footer Placeholder 7"/>
          <p:cNvSpPr>
            <a:spLocks noGrp="1"/>
          </p:cNvSpPr>
          <p:nvPr>
            <p:ph type="ftr" sz="quarter" idx="11"/>
          </p:nvPr>
        </p:nvSpPr>
        <p:spPr/>
        <p:txBody>
          <a:bodyPr/>
          <a:lstStyle/>
          <a:p>
            <a:r>
              <a:rPr lang="en-US"/>
              <a:t>Unit code Unit title </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10EC1C6-123F-405D-B9C1-3B5F2BC493E7}" type="datetime1">
              <a:rPr lang="en-US" smtClean="0"/>
              <a:t>7/5/21</a:t>
            </a:fld>
            <a:endParaRPr lang="en-US"/>
          </a:p>
        </p:txBody>
      </p:sp>
      <p:sp>
        <p:nvSpPr>
          <p:cNvPr id="4" name="Footer Placeholder 3"/>
          <p:cNvSpPr>
            <a:spLocks noGrp="1"/>
          </p:cNvSpPr>
          <p:nvPr>
            <p:ph type="ftr" sz="quarter" idx="11"/>
          </p:nvPr>
        </p:nvSpPr>
        <p:spPr/>
        <p:txBody>
          <a:bodyPr/>
          <a:lstStyle/>
          <a:p>
            <a:r>
              <a:rPr lang="en-US"/>
              <a:t>Unit code Unit title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4B230-936C-4B14-9C23-DC5BFEFFC0E3}" type="datetime1">
              <a:rPr lang="en-US" smtClean="0"/>
              <a:t>7/5/21</a:t>
            </a:fld>
            <a:endParaRPr lang="en-US"/>
          </a:p>
        </p:txBody>
      </p:sp>
      <p:sp>
        <p:nvSpPr>
          <p:cNvPr id="3" name="Footer Placeholder 2"/>
          <p:cNvSpPr>
            <a:spLocks noGrp="1"/>
          </p:cNvSpPr>
          <p:nvPr>
            <p:ph type="ftr" sz="quarter" idx="11"/>
          </p:nvPr>
        </p:nvSpPr>
        <p:spPr/>
        <p:txBody>
          <a:bodyPr/>
          <a:lstStyle/>
          <a:p>
            <a:r>
              <a:rPr lang="en-US"/>
              <a:t>Unit code Unit title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75079D-DBB9-4D0D-96E8-FA0D521E7DD6}" type="datetime1">
              <a:rPr lang="en-US" smtClean="0"/>
              <a:t>7/5/21</a:t>
            </a:fld>
            <a:endParaRPr lang="en-US"/>
          </a:p>
        </p:txBody>
      </p:sp>
      <p:sp>
        <p:nvSpPr>
          <p:cNvPr id="6" name="Footer Placeholder 5"/>
          <p:cNvSpPr>
            <a:spLocks noGrp="1"/>
          </p:cNvSpPr>
          <p:nvPr>
            <p:ph type="ftr" sz="quarter" idx="11"/>
          </p:nvPr>
        </p:nvSpPr>
        <p:spPr/>
        <p:txBody>
          <a:bodyPr/>
          <a:lstStyle/>
          <a:p>
            <a:r>
              <a:rPr lang="en-US"/>
              <a:t>Unit code Unit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784028-E257-4309-A47A-A16337C13BB6}" type="datetime1">
              <a:rPr lang="en-US" smtClean="0"/>
              <a:t>7/5/21</a:t>
            </a:fld>
            <a:endParaRPr lang="en-US"/>
          </a:p>
        </p:txBody>
      </p:sp>
      <p:sp>
        <p:nvSpPr>
          <p:cNvPr id="6" name="Footer Placeholder 5"/>
          <p:cNvSpPr>
            <a:spLocks noGrp="1"/>
          </p:cNvSpPr>
          <p:nvPr>
            <p:ph type="ftr" sz="quarter" idx="11"/>
          </p:nvPr>
        </p:nvSpPr>
        <p:spPr/>
        <p:txBody>
          <a:bodyPr/>
          <a:lstStyle/>
          <a:p>
            <a:r>
              <a:rPr lang="en-US"/>
              <a:t>Unit code Unit title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648A6B-8545-4E52-A3BC-AD823A5E0488}" type="datetime1">
              <a:rPr lang="en-US" smtClean="0"/>
              <a:t>7/5/21</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31B2BB-BE6D-4712-A22A-AC737EAAB597}" type="datetime1">
              <a:rPr lang="en-US" smtClean="0"/>
              <a:t>7/5/21</a:t>
            </a:fld>
            <a:endParaRPr lang="en-US"/>
          </a:p>
        </p:txBody>
      </p:sp>
      <p:sp>
        <p:nvSpPr>
          <p:cNvPr id="5" name="Footer Placeholder 4"/>
          <p:cNvSpPr>
            <a:spLocks noGrp="1"/>
          </p:cNvSpPr>
          <p:nvPr>
            <p:ph type="ftr" sz="quarter" idx="11"/>
          </p:nvPr>
        </p:nvSpPr>
        <p:spPr/>
        <p:txBody>
          <a:bodyPr/>
          <a:lstStyle/>
          <a:p>
            <a:r>
              <a:rPr lang="en-US"/>
              <a:t>Unit code Unit title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36FB01-A7E7-41C8-A8AA-BDABEF389F1E}" type="datetime1">
              <a:rPr lang="en-US" smtClean="0"/>
              <a:t>7/5/21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Unit code Unit title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www.tdsa.org.au/wp-content/uploads/2016/03/Qld-Govt-Ombudsman-Good-Decision-making-Guide.pdf"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ciradar.com/competitive-intelligence-blog/insights/2017/10/18/free-market-research-tools"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hyperlink" Target="https://www.abc.net.au/news/2020-05-26/rio-tinto-blast-destroys-area-with-ancient-aboriginal-heritage/12286652"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smh.com.au/business/companies/rio-tinto-blasted-ancient-aboriginal-caves-for-135m-of-iron-ore-20200807-p55jia.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www.businessdictionary.com/definition/objective.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gABgNjXpzQk"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youtube.com/watch?v=voZI75TyeHI"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7.xml.rels><?xml version="1.0" encoding="UTF-8" standalone="yes"?>
<Relationships xmlns="http://schemas.openxmlformats.org/package/2006/relationships"><Relationship Id="rId3" Type="http://schemas.openxmlformats.org/officeDocument/2006/relationships/hyperlink" Target="https://www.smh.com.au/business/companies/rio-tinto-blasted-ancient-aboriginal-caves-for-135m-of-iron-ore-20200807-p55jia.html"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misciwriters.com/2017/02/21/the-science-of-what-keeps-us-apart/"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dictionary.cambridge.org/dictionary/english/bias"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www.ag.gov.au/sites/default/files/2020-03/best-practice-guide-2-natural-justice.pdf"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9.xml.rels><?xml version="1.0" encoding="UTF-8" standalone="yes"?>
<Relationships xmlns="http://schemas.openxmlformats.org/package/2006/relationships"><Relationship Id="rId3" Type="http://schemas.openxmlformats.org/officeDocument/2006/relationships/hyperlink" Target="https://www.csusb.edu/policies"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www.mindtools.com/pages/article/newTMC_5W.htm"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www.smh.com.au/business/companies/rio-tinto-blasted-ancient-aboriginal-caves-for-135m-of-iron-ore-20200807-p55jia.html"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hyperlink" Target="https://mystudentvoices.com/5-step-critical-thinking-226e026903d4"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www.youtube.com/watch?v=m4o2aJ7YyZ8&amp;feature=emb_logo"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6.xml.rels><?xml version="1.0" encoding="UTF-8" standalone="yes"?>
<Relationships xmlns="http://schemas.openxmlformats.org/package/2006/relationships"><Relationship Id="rId3" Type="http://schemas.openxmlformats.org/officeDocument/2006/relationships/hyperlink" Target="https://www.smh.com.au/business/companies/rio-tinto-blasted-ancient-aboriginal-caves-for-135m-of-iron-ore-20200807-p55jia.html"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www.wordtemplatesonline.net/project-brief-templates/" TargetMode="External"/><Relationship Id="rId7" Type="http://schemas.openxmlformats.org/officeDocument/2006/relationships/image" Target="../media/image4.sv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s://www.smartsheet.com/business-case-templates" TargetMode="External"/><Relationship Id="rId4" Type="http://schemas.openxmlformats.org/officeDocument/2006/relationships/hyperlink" Target="https://www.smartsheet.com/free-project-proposal-templates"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3.xml.rels><?xml version="1.0" encoding="UTF-8" standalone="yes"?>
<Relationships xmlns="http://schemas.openxmlformats.org/package/2006/relationships"><Relationship Id="rId3" Type="http://schemas.openxmlformats.org/officeDocument/2006/relationships/hyperlink" Target="https://www.dlsweb.rmit.edu.au/Toolbox/finservretail/intranet/procedures/recording_feedback.htm" TargetMode="External"/><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google.com/search?source=univ&amp;tbm=isch&amp;q=feedback+%20register&amp;sa=X&amp;ved=2ahUKEwj_-uG-qKHsAhW9zDgGHdLmBY0Q7Al6BAgLEEo&amp;biw=1200&amp;bih=581#imgrc=vn7H3q76tHJiKM"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hyperlink" Target="https://www.youtube.com/watch?v=-blNWDCjDcQ" TargetMode="External"/><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7.xml.rels><?xml version="1.0" encoding="UTF-8" standalone="yes"?>
<Relationships xmlns="http://schemas.openxmlformats.org/package/2006/relationships"><Relationship Id="rId3" Type="http://schemas.openxmlformats.org/officeDocument/2006/relationships/hyperlink" Target="https://commons.wikimedia.org/wiki/File:Red-approved.gif" TargetMode="External"/><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9.xml.rels><?xml version="1.0" encoding="UTF-8" standalone="yes"?>
<Relationships xmlns="http://schemas.openxmlformats.org/package/2006/relationships"><Relationship Id="rId3" Type="http://schemas.openxmlformats.org/officeDocument/2006/relationships/hyperlink" Target="https://www.smartsheet.com/approval-process-workflow" TargetMode="External"/><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1.xml.rels><?xml version="1.0" encoding="UTF-8" standalone="yes"?>
<Relationships xmlns="http://schemas.openxmlformats.org/package/2006/relationships"><Relationship Id="rId3" Type="http://schemas.openxmlformats.org/officeDocument/2006/relationships/hyperlink" Target="https://www.proschoolonline.com/blog/hurdles-faced-effective-decision-making" TargetMode="External"/><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8136093"/>
            <a:ext cx="18288000" cy="2150907"/>
          </a:xfrm>
          <a:prstGeom prst="rect">
            <a:avLst/>
          </a:prstGeom>
          <a:solidFill>
            <a:schemeClr val="bg1"/>
          </a:solidFill>
        </p:spPr>
      </p:sp>
      <p:sp>
        <p:nvSpPr>
          <p:cNvPr id="3" name="TextBox 3"/>
          <p:cNvSpPr txBox="1"/>
          <p:nvPr/>
        </p:nvSpPr>
        <p:spPr>
          <a:xfrm>
            <a:off x="1028700" y="1798927"/>
            <a:ext cx="7120939" cy="925382"/>
          </a:xfrm>
          <a:prstGeom prst="rect">
            <a:avLst/>
          </a:prstGeom>
        </p:spPr>
        <p:txBody>
          <a:bodyPr lIns="0" tIns="0" rIns="0" bIns="0" rtlCol="0" anchor="t">
            <a:spAutoFit/>
          </a:bodyPr>
          <a:lstStyle/>
          <a:p>
            <a:pPr>
              <a:lnSpc>
                <a:spcPts val="7800"/>
              </a:lnSpc>
            </a:pPr>
            <a:r>
              <a:rPr lang="en-US" sz="6000" b="1" spc="1000" dirty="0">
                <a:solidFill>
                  <a:schemeClr val="bg1"/>
                </a:solidFill>
                <a:latin typeface="Arial" panose="020B0604020202020204" pitchFamily="34" charset="0"/>
                <a:cs typeface="Arial" panose="020B0604020202020204" pitchFamily="34" charset="0"/>
              </a:rPr>
              <a:t>BSBCRT611</a:t>
            </a:r>
          </a:p>
        </p:txBody>
      </p:sp>
      <p:grpSp>
        <p:nvGrpSpPr>
          <p:cNvPr id="4" name="Group 4"/>
          <p:cNvGrpSpPr/>
          <p:nvPr/>
        </p:nvGrpSpPr>
        <p:grpSpPr>
          <a:xfrm>
            <a:off x="1028700" y="876300"/>
            <a:ext cx="17590875" cy="227806"/>
            <a:chOff x="0" y="-24217"/>
            <a:chExt cx="23454501" cy="303741"/>
          </a:xfrm>
          <a:solidFill>
            <a:schemeClr val="bg1"/>
          </a:solidFill>
        </p:grpSpPr>
        <p:sp>
          <p:nvSpPr>
            <p:cNvPr id="5" name="AutoShape 5"/>
            <p:cNvSpPr/>
            <p:nvPr/>
          </p:nvSpPr>
          <p:spPr>
            <a:xfrm>
              <a:off x="0" y="125899"/>
              <a:ext cx="23454501" cy="27726"/>
            </a:xfrm>
            <a:prstGeom prst="rect">
              <a:avLst/>
            </a:prstGeom>
            <a:grpFill/>
          </p:spPr>
        </p:sp>
        <p:sp>
          <p:nvSpPr>
            <p:cNvPr id="6" name="AutoShape 6"/>
            <p:cNvSpPr/>
            <p:nvPr/>
          </p:nvSpPr>
          <p:spPr>
            <a:xfrm>
              <a:off x="0" y="-24217"/>
              <a:ext cx="292033" cy="279523"/>
            </a:xfrm>
            <a:prstGeom prst="rect">
              <a:avLst/>
            </a:prstGeom>
            <a:grpFill/>
          </p:spPr>
        </p:sp>
        <p:sp>
          <p:nvSpPr>
            <p:cNvPr id="7" name="AutoShape 7"/>
            <p:cNvSpPr/>
            <p:nvPr/>
          </p:nvSpPr>
          <p:spPr>
            <a:xfrm>
              <a:off x="7770499" y="0"/>
              <a:ext cx="292033" cy="279524"/>
            </a:xfrm>
            <a:prstGeom prst="rect">
              <a:avLst/>
            </a:prstGeom>
            <a:grpFill/>
          </p:spPr>
        </p:sp>
        <p:sp>
          <p:nvSpPr>
            <p:cNvPr id="8" name="AutoShape 8"/>
            <p:cNvSpPr/>
            <p:nvPr/>
          </p:nvSpPr>
          <p:spPr>
            <a:xfrm>
              <a:off x="15540998" y="0"/>
              <a:ext cx="292033" cy="279524"/>
            </a:xfrm>
            <a:prstGeom prst="rect">
              <a:avLst/>
            </a:prstGeom>
            <a:grpFill/>
          </p:spPr>
        </p:sp>
      </p:grpSp>
      <p:sp>
        <p:nvSpPr>
          <p:cNvPr id="10" name="TextBox 10"/>
          <p:cNvSpPr txBox="1"/>
          <p:nvPr/>
        </p:nvSpPr>
        <p:spPr>
          <a:xfrm>
            <a:off x="2494756" y="3568509"/>
            <a:ext cx="14421644" cy="1604093"/>
          </a:xfrm>
          <a:prstGeom prst="rect">
            <a:avLst/>
          </a:prstGeom>
        </p:spPr>
        <p:txBody>
          <a:bodyPr wrap="square" lIns="0" tIns="0" rIns="0" bIns="0" rtlCol="0" anchor="t">
            <a:spAutoFit/>
          </a:bodyPr>
          <a:lstStyle/>
          <a:p>
            <a:pPr>
              <a:lnSpc>
                <a:spcPts val="6475"/>
              </a:lnSpc>
            </a:pPr>
            <a:r>
              <a:rPr lang="en-US" sz="5000" spc="747" dirty="0">
                <a:solidFill>
                  <a:schemeClr val="bg1"/>
                </a:solidFill>
                <a:latin typeface="Arial" panose="020B0604020202020204" pitchFamily="34" charset="0"/>
                <a:cs typeface="Arial" panose="020B0604020202020204" pitchFamily="34" charset="0"/>
              </a:rPr>
              <a:t>Apply critical thinking for complex problem solving </a:t>
            </a:r>
          </a:p>
        </p:txBody>
      </p:sp>
      <p:pic>
        <p:nvPicPr>
          <p:cNvPr id="13" name="Picture 12" descr="A close up of a logo&#10;&#10;Description automatically generated">
            <a:extLst>
              <a:ext uri="{FF2B5EF4-FFF2-40B4-BE49-F238E27FC236}">
                <a16:creationId xmlns:a16="http://schemas.microsoft.com/office/drawing/2014/main" id="{8E42F8C5-292F-2843-96B8-6B13DD0180A4}"/>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4554200" y="8817846"/>
            <a:ext cx="3253105" cy="787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a:off x="0" y="1290497"/>
            <a:ext cx="18288000" cy="8196478"/>
          </a:xfrm>
          <a:prstGeom prst="rect">
            <a:avLst/>
          </a:prstGeom>
          <a:solidFill>
            <a:srgbClr val="31859C"/>
          </a:solidFill>
        </p:spPr>
      </p:sp>
      <p:sp>
        <p:nvSpPr>
          <p:cNvPr id="3" name="TextBox 3"/>
          <p:cNvSpPr txBox="1"/>
          <p:nvPr/>
        </p:nvSpPr>
        <p:spPr>
          <a:xfrm>
            <a:off x="1044000" y="1866900"/>
            <a:ext cx="16655652" cy="1748236"/>
          </a:xfrm>
          <a:prstGeom prst="rect">
            <a:avLst/>
          </a:prstGeom>
        </p:spPr>
        <p:txBody>
          <a:bodyPr wrap="square" lIns="0" tIns="0" rIns="0" bIns="0" rtlCol="0" anchor="t">
            <a:spAutoFit/>
          </a:bodyPr>
          <a:lstStyle/>
          <a:p>
            <a:pPr>
              <a:lnSpc>
                <a:spcPct val="114000"/>
              </a:lnSpc>
              <a:spcBef>
                <a:spcPts val="600"/>
              </a:spcBef>
              <a:spcAft>
                <a:spcPts val="600"/>
              </a:spcAft>
            </a:pPr>
            <a:r>
              <a:rPr lang="en-US" sz="5200" b="1"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rgbClr val="31859C"/>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sp>
        <p:nvSpPr>
          <p:cNvPr id="19" name="Footer Placeholder 9">
            <a:extLst>
              <a:ext uri="{FF2B5EF4-FFF2-40B4-BE49-F238E27FC236}">
                <a16:creationId xmlns:a16="http://schemas.microsoft.com/office/drawing/2014/main" id="{AF863EBA-C596-487E-8F62-FCA80C193D54}"/>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
        <p:nvSpPr>
          <p:cNvPr id="13" name="Slide Number Placeholder 10">
            <a:extLst>
              <a:ext uri="{FF2B5EF4-FFF2-40B4-BE49-F238E27FC236}">
                <a16:creationId xmlns:a16="http://schemas.microsoft.com/office/drawing/2014/main" id="{4538CC83-08C9-4A4A-AF50-3DDFA9C924C2}"/>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a:t>
            </a:fld>
            <a:endParaRPr lang="en-US" b="1" dirty="0">
              <a:solidFill>
                <a:srgbClr val="31859C"/>
              </a:solidFill>
              <a:latin typeface="Arial" panose="020B0604020202020204" pitchFamily="34" charset="0"/>
              <a:cs typeface="Arial" panose="020B0604020202020204" pitchFamily="34" charset="0"/>
            </a:endParaRPr>
          </a:p>
        </p:txBody>
      </p:sp>
      <p:sp>
        <p:nvSpPr>
          <p:cNvPr id="14" name="Footer Placeholder 9">
            <a:extLst>
              <a:ext uri="{FF2B5EF4-FFF2-40B4-BE49-F238E27FC236}">
                <a16:creationId xmlns:a16="http://schemas.microsoft.com/office/drawing/2014/main" id="{07043586-2022-0942-B7A7-70145F426F8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pic>
        <p:nvPicPr>
          <p:cNvPr id="15" name="Picture 14" descr="A person standing in a room&#10;&#10;Description automatically generated">
            <a:extLst>
              <a:ext uri="{FF2B5EF4-FFF2-40B4-BE49-F238E27FC236}">
                <a16:creationId xmlns:a16="http://schemas.microsoft.com/office/drawing/2014/main" id="{E4445FB2-FDD5-9F40-8647-8BACAF04C8E8}"/>
              </a:ext>
            </a:extLst>
          </p:cNvPr>
          <p:cNvPicPr/>
          <p:nvPr/>
        </p:nvPicPr>
        <p:blipFill rotWithShape="1">
          <a:blip r:embed="rId3" cstate="print">
            <a:extLst>
              <a:ext uri="{28A0092B-C50C-407E-A947-70E740481C1C}">
                <a14:useLocalDpi xmlns:a14="http://schemas.microsoft.com/office/drawing/2010/main"/>
              </a:ext>
            </a:extLst>
          </a:blip>
          <a:srcRect b="-883"/>
          <a:stretch/>
        </p:blipFill>
        <p:spPr bwMode="auto">
          <a:xfrm>
            <a:off x="5720713" y="4446323"/>
            <a:ext cx="6846573" cy="4006040"/>
          </a:xfrm>
          <a:prstGeom prst="rect">
            <a:avLst/>
          </a:prstGeom>
          <a:ln w="38100">
            <a:solidFill>
              <a:schemeClr val="bg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295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084178"/>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A CRITICAL THINKING APPROACH</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Some decisions are quick and easy to make.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Often times the solution to your issue is not straight forward and its resolution requires more than your intuition.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Some decisions you make are critical, whereas others are non-critical.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B86266DD-EA3B-2844-85A9-FFD7A15165AE}"/>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4970848"/>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RESEARCH AND DISCUSS </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Do research to answer the following:</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What is meant by the term ‘critical decision’ and what does it encompass?</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Provide at least two examples of critical decisions relevant to your workplace or industry of interest.</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What is meant by the term ‘non-critical decision’?</a:t>
            </a:r>
          </a:p>
          <a:p>
            <a:pPr marL="457200" indent="-457200">
              <a:lnSpc>
                <a:spcPct val="114000"/>
              </a:lnSpc>
              <a:spcBef>
                <a:spcPts val="600"/>
              </a:spcBef>
              <a:spcAft>
                <a:spcPts val="600"/>
              </a:spcAft>
              <a:buFont typeface="Arial" panose="020B0604020202020204" pitchFamily="34" charset="0"/>
              <a:buChar char="•"/>
            </a:pPr>
            <a:r>
              <a:rPr lang="en-US" sz="3000" spc="25" dirty="0">
                <a:solidFill>
                  <a:schemeClr val="bg1"/>
                </a:solidFill>
                <a:latin typeface="Arial" panose="020B0604020202020204" pitchFamily="34" charset="0"/>
                <a:cs typeface="Arial" panose="020B0604020202020204" pitchFamily="34" charset="0"/>
              </a:rPr>
              <a:t>List at least two examples of non-critical decisions relevant to your workplace or industry of interest.</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4</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
        <p:nvSpPr>
          <p:cNvPr id="15" name="Footer Placeholder 9">
            <a:extLst>
              <a:ext uri="{FF2B5EF4-FFF2-40B4-BE49-F238E27FC236}">
                <a16:creationId xmlns:a16="http://schemas.microsoft.com/office/drawing/2014/main" id="{62BBE0D8-53BE-5246-959C-BA9AFB944F13}"/>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471643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REFLECT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Think about some of the issues you have been required to resolve over the past few weeks.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5</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589513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527862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A CRITICAL THINKING APPROACH</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Critical thinking includes six vital skills: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analysis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problem solving</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creative thinking</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interpretation</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evaluation</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reasoning.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6</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Tree>
    <p:extLst>
      <p:ext uri="{BB962C8B-B14F-4D97-AF65-F5344CB8AC3E}">
        <p14:creationId xmlns:p14="http://schemas.microsoft.com/office/powerpoint/2010/main" val="3552641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527862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THE DECISION-MAKING PROCESS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The decision-making process includes elements such as: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Identifying and defining the problem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sourcing information</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generating alternatives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making a decision</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communicating a decision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reviewing a decision.</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7</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B28CC05E-31A9-1F4C-B9A6-D09F97B6DB01}"/>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463237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If you’re interested, read through the ‘Good decision-making Guide’ written by the Queensland Ombudsman.</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Article: </a:t>
            </a:r>
            <a:r>
              <a:rPr lang="en-US" sz="3000" spc="25" dirty="0">
                <a:solidFill>
                  <a:schemeClr val="bg1"/>
                </a:solidFill>
                <a:latin typeface="Arial" panose="020B0604020202020204" pitchFamily="34" charset="0"/>
                <a:cs typeface="Arial" panose="020B0604020202020204" pitchFamily="34" charset="0"/>
                <a:hlinkClick r:id="rId3"/>
              </a:rPr>
              <a:t>http://www.tdsa.org.au/wp-content/uploads/2016/03/Qld-Govt-Ombudsman-Good-Decision-making-Guide.pdf</a:t>
            </a:r>
            <a:r>
              <a:rPr lang="en-US" sz="3000" spc="25" dirty="0">
                <a:solidFill>
                  <a:schemeClr val="bg1"/>
                </a:solidFill>
                <a:latin typeface="Arial" panose="020B0604020202020204"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8</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4033726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62802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IDENTIFYING COMPLEX ISSUES IN THE WORKPLACE</a:t>
            </a:r>
          </a:p>
          <a:p>
            <a:pPr>
              <a:lnSpc>
                <a:spcPct val="114000"/>
              </a:lnSpc>
              <a:spcBef>
                <a:spcPts val="600"/>
              </a:spcBef>
              <a:spcAft>
                <a:spcPts val="600"/>
              </a:spcAft>
            </a:pPr>
            <a:endParaRPr lang="en-US" sz="32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REFLECT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Are there any complex issues or problems in your workplace or place of study?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9</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3246942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IDENTIFYING COMPLEX ISSUES IN THE WORKPLACE</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Identifying a problem is in fact sometimes just as important as the solution itself.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The speed of light would not have been calculated if Galileo had not identified the problem in the first place.</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10</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8" name="Footer Placeholder 9">
            <a:extLst>
              <a:ext uri="{FF2B5EF4-FFF2-40B4-BE49-F238E27FC236}">
                <a16:creationId xmlns:a16="http://schemas.microsoft.com/office/drawing/2014/main" id="{847C4DB4-E5EA-E546-8B99-D1338AFC9C9E}"/>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180022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DISCUSS</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In small groups, think of a few complex issues that may present in the workplace. Provide at least one example for each of the bullet points listed above.</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Your trainer will facilitate a group discussion to form a complete list of examples. Take notes and keep them for future reference.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11</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2147435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45658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FORMAL PROBLEM IDENTIFICATION</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Often times, only the symptoms of a complex issue are evident and further investigation is required to correctly identify the issue.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As you seek to identify issues in the workplace, you may be required to interpret and </a:t>
            </a:r>
            <a:r>
              <a:rPr lang="en-US" sz="3000" spc="25" dirty="0" err="1">
                <a:solidFill>
                  <a:srgbClr val="31859C"/>
                </a:solidFill>
                <a:latin typeface="Arial" panose="020B0604020202020204" pitchFamily="34" charset="0"/>
                <a:cs typeface="Arial" panose="020B0604020202020204" pitchFamily="34" charset="0"/>
              </a:rPr>
              <a:t>analyse</a:t>
            </a:r>
            <a:r>
              <a:rPr lang="en-US" sz="3000" spc="25" dirty="0">
                <a:solidFill>
                  <a:srgbClr val="31859C"/>
                </a:solidFill>
                <a:latin typeface="Arial" panose="020B0604020202020204" pitchFamily="34" charset="0"/>
                <a:cs typeface="Arial" panose="020B0604020202020204" pitchFamily="34" charset="0"/>
              </a:rPr>
              <a:t> numeric or financial information to identify patterns and trends.</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12</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9730116D-3C0C-B54D-92AB-429612DC36B9}"/>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4098252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98288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EXPLORE</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There are many existing (and sometimes free) market research reports that can provide a comprehensive understanding of the customer, competitor and market as a whole. If you’re interested, explore the website below to </a:t>
            </a:r>
            <a:r>
              <a:rPr lang="en-US" sz="3000" spc="25" dirty="0" err="1">
                <a:solidFill>
                  <a:schemeClr val="bg1"/>
                </a:solidFill>
                <a:latin typeface="Arial" panose="020B0604020202020204" pitchFamily="34" charset="0"/>
                <a:cs typeface="Arial" panose="020B0604020202020204" pitchFamily="34" charset="0"/>
              </a:rPr>
              <a:t>familiarise</a:t>
            </a:r>
            <a:r>
              <a:rPr lang="en-US" sz="3000" spc="25" dirty="0">
                <a:solidFill>
                  <a:schemeClr val="bg1"/>
                </a:solidFill>
                <a:latin typeface="Arial" panose="020B0604020202020204" pitchFamily="34" charset="0"/>
                <a:cs typeface="Arial" panose="020B0604020202020204" pitchFamily="34" charset="0"/>
              </a:rPr>
              <a:t> yourself with the type of information available.</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a:t>
            </a:r>
            <a:r>
              <a:rPr lang="en-US" sz="3000" spc="25" dirty="0">
                <a:solidFill>
                  <a:schemeClr val="bg1"/>
                </a:solidFill>
                <a:latin typeface="Arial" panose="020B0604020202020204" pitchFamily="34" charset="0"/>
                <a:cs typeface="Arial" panose="020B0604020202020204" pitchFamily="34" charset="0"/>
                <a:hlinkClick r:id="rId3"/>
              </a:rPr>
              <a:t>https://ciradar.com/competitive-intelligence-blog/insights/2017/10/18/free-market-research-tools</a:t>
            </a:r>
            <a:r>
              <a:rPr lang="en-US" sz="3000" spc="25" dirty="0">
                <a:solidFill>
                  <a:schemeClr val="bg1"/>
                </a:solidFill>
                <a:latin typeface="Arial" panose="020B0604020202020204"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13</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3171949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413677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GROUP WORK</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Work in small groups to </a:t>
            </a:r>
            <a:r>
              <a:rPr lang="en-US" sz="3000" spc="25" dirty="0" err="1">
                <a:solidFill>
                  <a:schemeClr val="bg1"/>
                </a:solidFill>
                <a:latin typeface="Arial" panose="020B0604020202020204" pitchFamily="34" charset="0"/>
                <a:cs typeface="Arial" panose="020B0604020202020204" pitchFamily="34" charset="0"/>
              </a:rPr>
              <a:t>practise</a:t>
            </a:r>
            <a:r>
              <a:rPr lang="en-US" sz="3000" spc="25" dirty="0">
                <a:solidFill>
                  <a:schemeClr val="bg1"/>
                </a:solidFill>
                <a:latin typeface="Arial" panose="020B0604020202020204" pitchFamily="34" charset="0"/>
                <a:cs typeface="Arial" panose="020B0604020202020204" pitchFamily="34" charset="0"/>
              </a:rPr>
              <a:t> interpreting, </a:t>
            </a:r>
            <a:r>
              <a:rPr lang="en-US" sz="3000" spc="25" dirty="0" err="1">
                <a:solidFill>
                  <a:schemeClr val="bg1"/>
                </a:solidFill>
                <a:latin typeface="Arial" panose="020B0604020202020204" pitchFamily="34" charset="0"/>
                <a:cs typeface="Arial" panose="020B0604020202020204" pitchFamily="34" charset="0"/>
              </a:rPr>
              <a:t>analysing</a:t>
            </a:r>
            <a:r>
              <a:rPr lang="en-US" sz="3000" spc="25" dirty="0">
                <a:solidFill>
                  <a:schemeClr val="bg1"/>
                </a:solidFill>
                <a:latin typeface="Arial" panose="020B0604020202020204" pitchFamily="34" charset="0"/>
                <a:cs typeface="Arial" panose="020B0604020202020204" pitchFamily="34" charset="0"/>
              </a:rPr>
              <a:t> and representing numeric or financial information to identify patterns and trends (as oftentimes required when identifying workplace issues).</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 may access financial information of your choice or use information from one of the free resources listed above.</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Present your work to a larger group and seek feedback.</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14</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2765794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86487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INFORMAL PROBLEM IDENTIFICATION</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Sometimes, a formal method is not needed to identify complex issues and issues are raised by an outside source.</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15</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pic>
        <p:nvPicPr>
          <p:cNvPr id="15" name="Picture 14" descr="A picture containing object, person, person, cake&#10;&#10;Description automatically generated">
            <a:extLst>
              <a:ext uri="{FF2B5EF4-FFF2-40B4-BE49-F238E27FC236}">
                <a16:creationId xmlns:a16="http://schemas.microsoft.com/office/drawing/2014/main" id="{C02F3FCF-2E0B-4B4D-B5A2-925F208221D4}"/>
              </a:ext>
            </a:extLst>
          </p:cNvPr>
          <p:cNvPicPr/>
          <p:nvPr/>
        </p:nvPicPr>
        <p:blipFill rotWithShape="1">
          <a:blip r:embed="rId2" cstate="print">
            <a:extLst>
              <a:ext uri="{28A0092B-C50C-407E-A947-70E740481C1C}">
                <a14:useLocalDpi xmlns:a14="http://schemas.microsoft.com/office/drawing/2010/main"/>
              </a:ext>
            </a:extLst>
          </a:blip>
          <a:srcRect/>
          <a:stretch/>
        </p:blipFill>
        <p:spPr bwMode="auto">
          <a:xfrm>
            <a:off x="10713720" y="2671403"/>
            <a:ext cx="6050280" cy="3767497"/>
          </a:xfrm>
          <a:prstGeom prst="rect">
            <a:avLst/>
          </a:prstGeom>
          <a:ln w="38100">
            <a:solidFill>
              <a:srgbClr val="31859C"/>
            </a:solidFill>
          </a:ln>
          <a:extLst>
            <a:ext uri="{53640926-AAD7-44D8-BBD7-CCE9431645EC}">
              <a14:shadowObscured xmlns:a14="http://schemas.microsoft.com/office/drawing/2010/main"/>
            </a:ext>
          </a:extLst>
        </p:spPr>
      </p:pic>
      <p:sp>
        <p:nvSpPr>
          <p:cNvPr id="18" name="Footer Placeholder 9">
            <a:extLst>
              <a:ext uri="{FF2B5EF4-FFF2-40B4-BE49-F238E27FC236}">
                <a16:creationId xmlns:a16="http://schemas.microsoft.com/office/drawing/2014/main" id="{75904A2E-D93A-4948-97D4-556B49AE55A0}"/>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1396405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40399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BRAINSTORM</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Work together in small groups and brainstorm as many informal ways a complex issue can be identified in the workplace.</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Your trainer/assessor will facilitate a larger group discussion to create a complete list.</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16</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3141065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61047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Read the articles below outlining an example of a complex issue faced by Rio Tinto.</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Article 1: </a:t>
            </a:r>
            <a:r>
              <a:rPr lang="en-US" sz="3000" spc="25" dirty="0">
                <a:solidFill>
                  <a:schemeClr val="bg1"/>
                </a:solidFill>
                <a:latin typeface="Arial" panose="020B0604020202020204" pitchFamily="34" charset="0"/>
                <a:cs typeface="Arial" panose="020B0604020202020204" pitchFamily="34" charset="0"/>
                <a:hlinkClick r:id="rId3"/>
              </a:rPr>
              <a:t>https://www.abc.net.au/news/2020-05-26/rio-tinto-blast-destroys-area-with-ancient-aboriginal-heritage/12286652</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Article 2: </a:t>
            </a:r>
            <a:r>
              <a:rPr lang="en-US" sz="3000" spc="25" dirty="0">
                <a:solidFill>
                  <a:schemeClr val="bg1"/>
                </a:solidFill>
                <a:latin typeface="Arial" panose="020B0604020202020204" pitchFamily="34" charset="0"/>
                <a:cs typeface="Arial" panose="020B0604020202020204" pitchFamily="34" charset="0"/>
                <a:hlinkClick r:id="rId4"/>
              </a:rPr>
              <a:t>https://www.smh.com.au/business/companies/rio-tinto-blasted-ancient-aboriginal-caves-for-135m-of-iron-ore-20200807-p55jia.html</a:t>
            </a:r>
            <a:r>
              <a:rPr lang="en-US" sz="3000" spc="25" dirty="0">
                <a:solidFill>
                  <a:schemeClr val="bg1"/>
                </a:solidFill>
                <a:latin typeface="Arial" panose="020B0604020202020204"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17</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139615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40399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PRACTICAL</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After reading the article, work in small groups to identify at least two ways the issue was brought to Rio Tinto’s attention.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Your trainer will facilitate a larger group discussion to consolidate your findings.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18</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559934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61047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WICKED PROBLEMS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Sometimes issues can be so complex they are highly resistant to resolution.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These issues have been collectively named ‘wicked’ problems.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The term ‘wicked’ in this context does not imply evil, but rather highlights the complexity of the matter.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19</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0ECB96EC-E107-0042-9497-FBE9A5FD192D}"/>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1321652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40399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TASK OBJECTIVES </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Once you’ve identified an issue, it’s important to establish why you want to address it and what you want to achieve by resolving it. </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Well-defined objectives are key to finding a successful solution.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20</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3942B3D4-DF39-3547-82F5-429A9AFCA507}"/>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2344176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55788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Read the definition of an objective in a business context.</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Article: </a:t>
            </a:r>
            <a:r>
              <a:rPr lang="en-US" sz="3000" spc="25" dirty="0">
                <a:solidFill>
                  <a:schemeClr val="bg1"/>
                </a:solidFill>
                <a:latin typeface="Arial" panose="020B0604020202020204" pitchFamily="34" charset="0"/>
                <a:cs typeface="Arial" panose="020B0604020202020204" pitchFamily="34" charset="0"/>
                <a:hlinkClick r:id="rId3"/>
              </a:rPr>
              <a:t>http://www.businessdictionary.com/definition/objective.html</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21</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
        <p:nvSpPr>
          <p:cNvPr id="15" name="Footer Placeholder 9">
            <a:extLst>
              <a:ext uri="{FF2B5EF4-FFF2-40B4-BE49-F238E27FC236}">
                <a16:creationId xmlns:a16="http://schemas.microsoft.com/office/drawing/2014/main" id="{4D207608-DCEB-9F43-939C-3DCFCFFB650F}"/>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690784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764364"/>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WATCH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Watch the videos about objectives.</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Video 1: </a:t>
            </a:r>
            <a:r>
              <a:rPr lang="en-US" sz="3000" spc="25" dirty="0">
                <a:solidFill>
                  <a:schemeClr val="bg1"/>
                </a:solidFill>
                <a:latin typeface="Arial" panose="020B0604020202020204" pitchFamily="34" charset="0"/>
                <a:cs typeface="Arial" panose="020B0604020202020204" pitchFamily="34" charset="0"/>
                <a:hlinkClick r:id="rId3"/>
              </a:rPr>
              <a:t>https://www.youtube.com/watch?v=gABgNjXpzQk</a:t>
            </a:r>
            <a:r>
              <a:rPr lang="en-US" sz="3000" spc="25" dirty="0">
                <a:solidFill>
                  <a:schemeClr val="bg1"/>
                </a:solidFill>
                <a:latin typeface="Arial" panose="020B0604020202020204" pitchFamily="34" charset="0"/>
                <a:cs typeface="Arial" panose="020B0604020202020204" pitchFamily="34" charset="0"/>
              </a:rPr>
              <a:t> (01:49)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Video 2: </a:t>
            </a:r>
            <a:r>
              <a:rPr lang="en-US" sz="3000" spc="25" dirty="0">
                <a:solidFill>
                  <a:schemeClr val="bg1"/>
                </a:solidFill>
                <a:latin typeface="Arial" panose="020B0604020202020204" pitchFamily="34" charset="0"/>
                <a:cs typeface="Arial" panose="020B0604020202020204" pitchFamily="34" charset="0"/>
                <a:hlinkClick r:id="rId4"/>
              </a:rPr>
              <a:t>https://www.youtube.com/watch?v=voZI75TyeHI</a:t>
            </a:r>
            <a:r>
              <a:rPr lang="en-US" sz="3000" spc="25" dirty="0">
                <a:solidFill>
                  <a:schemeClr val="bg1"/>
                </a:solidFill>
                <a:latin typeface="Arial" panose="020B0604020202020204" pitchFamily="34" charset="0"/>
                <a:cs typeface="Arial" panose="020B0604020202020204" pitchFamily="34" charset="0"/>
              </a:rPr>
              <a:t> (02:32)</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Your trainer will facilitate a group discussion to consolidate what you’ve learnt.</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22</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2950420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799438"/>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ADVANTAGES OF ADDRESSING IDENTIFIED WORKPLACE ISSUES </a:t>
            </a:r>
          </a:p>
          <a:p>
            <a:pPr marL="457200" indent="-457200">
              <a:lnSpc>
                <a:spcPct val="114000"/>
              </a:lnSpc>
              <a:spcBef>
                <a:spcPts val="600"/>
              </a:spcBef>
              <a:spcAft>
                <a:spcPts val="600"/>
              </a:spcAft>
              <a:buFont typeface="Arial" panose="020B0604020202020204" pitchFamily="34" charset="0"/>
              <a:buChar char="•"/>
            </a:pPr>
            <a:r>
              <a:rPr lang="en-US" sz="3000" spc="25" dirty="0" err="1">
                <a:solidFill>
                  <a:srgbClr val="31859C"/>
                </a:solidFill>
                <a:latin typeface="Arial" panose="020B0604020202020204" pitchFamily="34" charset="0"/>
                <a:cs typeface="Arial" panose="020B0604020202020204" pitchFamily="34" charset="0"/>
              </a:rPr>
              <a:t>realising</a:t>
            </a:r>
            <a:r>
              <a:rPr lang="en-US" sz="3000" spc="25" dirty="0">
                <a:solidFill>
                  <a:srgbClr val="31859C"/>
                </a:solidFill>
                <a:latin typeface="Arial" panose="020B0604020202020204" pitchFamily="34" charset="0"/>
                <a:cs typeface="Arial" panose="020B0604020202020204" pitchFamily="34" charset="0"/>
              </a:rPr>
              <a:t> business vision</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reduced risk of legal ramifications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improved financial performance</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social </a:t>
            </a:r>
            <a:r>
              <a:rPr lang="en-US" sz="3000" spc="25" dirty="0" err="1">
                <a:solidFill>
                  <a:srgbClr val="31859C"/>
                </a:solidFill>
                <a:latin typeface="Arial" panose="020B0604020202020204" pitchFamily="34" charset="0"/>
                <a:cs typeface="Arial" panose="020B0604020202020204" pitchFamily="34" charset="0"/>
              </a:rPr>
              <a:t>licence</a:t>
            </a:r>
            <a:r>
              <a:rPr lang="en-US" sz="3000" spc="25" dirty="0">
                <a:solidFill>
                  <a:srgbClr val="31859C"/>
                </a:solidFill>
                <a:latin typeface="Arial" panose="020B0604020202020204" pitchFamily="34" charset="0"/>
                <a:cs typeface="Arial" panose="020B0604020202020204" pitchFamily="34" charset="0"/>
              </a:rPr>
              <a:t> to operate.</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23</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F21790B7-ADAE-8747-913A-C1D300C6B72D}"/>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349968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19750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BRAINSTORM</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As a group, brainstorm a few more advantages to addressing issues in the workplace.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24</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885548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1: A critical thinking approach to identifying complex issues </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40399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RISKS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Risk is the chance of something going wrong or not as planned. No outcome is ever one hundred percent certain.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As such, planning for risk helps mitigate any undesirable effects.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25</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BA7BD4F2-933A-3340-9096-664E684DCD04}"/>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1236778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REFLECT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What risks have you taken? Have you experienced the negative outcomes from any risks? Did you ever take a risk and benefit from your decision?</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26</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2987870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413677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PRACTICAL</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Think back to the article you read about Rio Tinto earlier in this topic (</a:t>
            </a:r>
            <a:r>
              <a:rPr lang="en-US" sz="3000" spc="25" dirty="0">
                <a:solidFill>
                  <a:schemeClr val="bg1"/>
                </a:solidFill>
                <a:latin typeface="Arial" panose="020B0604020202020204" pitchFamily="34" charset="0"/>
                <a:cs typeface="Arial" panose="020B0604020202020204" pitchFamily="34" charset="0"/>
                <a:hlinkClick r:id="rId3"/>
              </a:rPr>
              <a:t>https://www.smh.com.au/business/companies/rio-tinto-blasted-ancient-aboriginal-caves-for-135m-of-iron-ore-20200807-p55jia.html</a:t>
            </a:r>
            <a:r>
              <a:rPr lang="en-US" sz="3000" spc="25" dirty="0">
                <a:solidFill>
                  <a:schemeClr val="bg1"/>
                </a:solidFill>
                <a:latin typeface="Arial" panose="020B0604020202020204" pitchFamily="34" charset="0"/>
                <a:cs typeface="Arial" panose="020B0604020202020204" pitchFamily="34" charset="0"/>
              </a:rPr>
              <a:t>). Work in small group to answer:</a:t>
            </a:r>
          </a:p>
          <a:p>
            <a:pPr marL="514350" indent="-514350">
              <a:lnSpc>
                <a:spcPct val="114000"/>
              </a:lnSpc>
              <a:spcBef>
                <a:spcPts val="600"/>
              </a:spcBef>
              <a:spcAft>
                <a:spcPts val="600"/>
              </a:spcAft>
              <a:buFont typeface="+mj-lt"/>
              <a:buAutoNum type="arabicPeriod"/>
            </a:pPr>
            <a:r>
              <a:rPr lang="en-US" sz="3000" spc="25" dirty="0">
                <a:solidFill>
                  <a:schemeClr val="bg1"/>
                </a:solidFill>
                <a:latin typeface="Arial" panose="020B0604020202020204" pitchFamily="34" charset="0"/>
                <a:cs typeface="Arial" panose="020B0604020202020204" pitchFamily="34" charset="0"/>
              </a:rPr>
              <a:t>What would the advantages for Rio Tinto have been of addressing the issue earlier in the decision-making process?</a:t>
            </a:r>
          </a:p>
          <a:p>
            <a:pPr marL="514350" indent="-514350">
              <a:lnSpc>
                <a:spcPct val="114000"/>
              </a:lnSpc>
              <a:spcBef>
                <a:spcPts val="600"/>
              </a:spcBef>
              <a:spcAft>
                <a:spcPts val="600"/>
              </a:spcAft>
              <a:buFont typeface="+mj-lt"/>
              <a:buAutoNum type="arabicPeriod"/>
            </a:pPr>
            <a:r>
              <a:rPr lang="en-US" sz="3000" spc="25" dirty="0">
                <a:solidFill>
                  <a:schemeClr val="bg1"/>
                </a:solidFill>
                <a:latin typeface="Arial" panose="020B0604020202020204" pitchFamily="34" charset="0"/>
                <a:cs typeface="Arial" panose="020B0604020202020204" pitchFamily="34" charset="0"/>
              </a:rPr>
              <a:t>Identify any risks involved for Rio Tinto in addressing the issue.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27</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330293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444455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DEVELOP</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Choose a workplace/industry you already work in or are interested in. Identify a relevant complex issue and answer the following questions:</a:t>
            </a:r>
          </a:p>
          <a:p>
            <a:pPr marL="514350" indent="-514350">
              <a:lnSpc>
                <a:spcPct val="114000"/>
              </a:lnSpc>
              <a:spcBef>
                <a:spcPts val="600"/>
              </a:spcBef>
              <a:spcAft>
                <a:spcPts val="600"/>
              </a:spcAft>
              <a:buFont typeface="+mj-lt"/>
              <a:buAutoNum type="arabicPeriod"/>
            </a:pPr>
            <a:r>
              <a:rPr lang="en-US" sz="3000" spc="25" dirty="0">
                <a:solidFill>
                  <a:schemeClr val="bg1"/>
                </a:solidFill>
                <a:latin typeface="Arial" panose="020B0604020202020204" pitchFamily="34" charset="0"/>
                <a:cs typeface="Arial" panose="020B0604020202020204" pitchFamily="34" charset="0"/>
              </a:rPr>
              <a:t>How might you have identified the issue/problem in a real workplace?</a:t>
            </a:r>
          </a:p>
          <a:p>
            <a:pPr marL="514350" indent="-514350">
              <a:lnSpc>
                <a:spcPct val="114000"/>
              </a:lnSpc>
              <a:spcBef>
                <a:spcPts val="600"/>
              </a:spcBef>
              <a:spcAft>
                <a:spcPts val="600"/>
              </a:spcAft>
              <a:buFont typeface="+mj-lt"/>
              <a:buAutoNum type="arabicPeriod"/>
            </a:pPr>
            <a:r>
              <a:rPr lang="en-US" sz="3000" spc="25" dirty="0">
                <a:solidFill>
                  <a:schemeClr val="bg1"/>
                </a:solidFill>
                <a:latin typeface="Arial" panose="020B0604020202020204" pitchFamily="34" charset="0"/>
                <a:cs typeface="Arial" panose="020B0604020202020204" pitchFamily="34" charset="0"/>
              </a:rPr>
              <a:t>Formulate at least two objectives of pursuing solutions for the issue.</a:t>
            </a:r>
          </a:p>
          <a:p>
            <a:pPr marL="514350" indent="-514350">
              <a:lnSpc>
                <a:spcPct val="114000"/>
              </a:lnSpc>
              <a:spcBef>
                <a:spcPts val="600"/>
              </a:spcBef>
              <a:spcAft>
                <a:spcPts val="600"/>
              </a:spcAft>
              <a:buFont typeface="+mj-lt"/>
              <a:buAutoNum type="arabicPeriod"/>
            </a:pPr>
            <a:r>
              <a:rPr lang="en-US" sz="3000" spc="25" dirty="0">
                <a:solidFill>
                  <a:schemeClr val="bg1"/>
                </a:solidFill>
                <a:latin typeface="Arial" panose="020B0604020202020204" pitchFamily="34" charset="0"/>
                <a:cs typeface="Arial" panose="020B0604020202020204" pitchFamily="34" charset="0"/>
              </a:rPr>
              <a:t>What are the advantages of addressing the issue?</a:t>
            </a:r>
          </a:p>
          <a:p>
            <a:pPr marL="514350" indent="-514350">
              <a:lnSpc>
                <a:spcPct val="114000"/>
              </a:lnSpc>
              <a:spcBef>
                <a:spcPts val="600"/>
              </a:spcBef>
              <a:spcAft>
                <a:spcPts val="600"/>
              </a:spcAft>
              <a:buFont typeface="+mj-lt"/>
              <a:buAutoNum type="arabicPeriod"/>
            </a:pPr>
            <a:r>
              <a:rPr lang="en-US" sz="3000" spc="25" dirty="0">
                <a:solidFill>
                  <a:schemeClr val="bg1"/>
                </a:solidFill>
                <a:latin typeface="Arial" panose="020B0604020202020204" pitchFamily="34" charset="0"/>
                <a:cs typeface="Arial" panose="020B0604020202020204" pitchFamily="34" charset="0"/>
              </a:rPr>
              <a:t>Identify at least two risks involved with pursuing the issue.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28</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1: A critical thinking approach to identifying complex issues </a:t>
            </a:r>
          </a:p>
        </p:txBody>
      </p:sp>
    </p:spTree>
    <p:extLst>
      <p:ext uri="{BB962C8B-B14F-4D97-AF65-F5344CB8AC3E}">
        <p14:creationId xmlns:p14="http://schemas.microsoft.com/office/powerpoint/2010/main" val="1288805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290497"/>
            <a:ext cx="18288000" cy="8196478"/>
          </a:xfrm>
          <a:prstGeom prst="rect">
            <a:avLst/>
          </a:prstGeom>
          <a:solidFill>
            <a:srgbClr val="31859C"/>
          </a:solidFill>
        </p:spPr>
      </p:sp>
      <p:sp>
        <p:nvSpPr>
          <p:cNvPr id="3" name="TextBox 3"/>
          <p:cNvSpPr txBox="1"/>
          <p:nvPr/>
        </p:nvSpPr>
        <p:spPr>
          <a:xfrm>
            <a:off x="1044000" y="1866900"/>
            <a:ext cx="16655652" cy="1748236"/>
          </a:xfrm>
          <a:prstGeom prst="rect">
            <a:avLst/>
          </a:prstGeom>
        </p:spPr>
        <p:txBody>
          <a:bodyPr wrap="square" lIns="0" tIns="0" rIns="0" bIns="0" rtlCol="0" anchor="t">
            <a:spAutoFit/>
          </a:bodyPr>
          <a:lstStyle/>
          <a:p>
            <a:pPr>
              <a:lnSpc>
                <a:spcPct val="114000"/>
              </a:lnSpc>
              <a:spcBef>
                <a:spcPts val="600"/>
              </a:spcBef>
              <a:spcAft>
                <a:spcPts val="600"/>
              </a:spcAft>
            </a:pPr>
            <a:r>
              <a:rPr lang="en-US" sz="5200" b="1"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rgbClr val="31859C"/>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sp>
        <p:nvSpPr>
          <p:cNvPr id="13" name="Slide Number Placeholder 10">
            <a:extLst>
              <a:ext uri="{FF2B5EF4-FFF2-40B4-BE49-F238E27FC236}">
                <a16:creationId xmlns:a16="http://schemas.microsoft.com/office/drawing/2014/main" id="{4538CC83-08C9-4A4A-AF50-3DDFA9C924C2}"/>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29</a:t>
            </a:fld>
            <a:endParaRPr lang="en-US" b="1" dirty="0">
              <a:solidFill>
                <a:srgbClr val="31859C"/>
              </a:solidFill>
              <a:latin typeface="Arial" panose="020B0604020202020204" pitchFamily="34" charset="0"/>
              <a:cs typeface="Arial" panose="020B0604020202020204" pitchFamily="34" charset="0"/>
            </a:endParaRPr>
          </a:p>
        </p:txBody>
      </p:sp>
      <p:sp>
        <p:nvSpPr>
          <p:cNvPr id="14" name="Footer Placeholder 9">
            <a:extLst>
              <a:ext uri="{FF2B5EF4-FFF2-40B4-BE49-F238E27FC236}">
                <a16:creationId xmlns:a16="http://schemas.microsoft.com/office/drawing/2014/main" id="{07043586-2022-0942-B7A7-70145F426F8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pic>
        <p:nvPicPr>
          <p:cNvPr id="16" name="Picture 15" descr="A group of people standing in a room&#10;&#10;Description automatically generated">
            <a:extLst>
              <a:ext uri="{FF2B5EF4-FFF2-40B4-BE49-F238E27FC236}">
                <a16:creationId xmlns:a16="http://schemas.microsoft.com/office/drawing/2014/main" id="{C67912C8-5D68-8246-8921-5EAF1DF3668F}"/>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5668010" y="4382702"/>
            <a:ext cx="6951980" cy="4113598"/>
          </a:xfrm>
          <a:prstGeom prst="rect">
            <a:avLst/>
          </a:prstGeom>
          <a:ln w="38100">
            <a:solidFill>
              <a:schemeClr val="bg1"/>
            </a:solidFill>
          </a:ln>
          <a:extLst>
            <a:ext uri="{53640926-AAD7-44D8-BBD7-CCE9431645EC}">
              <a14:shadowObscured xmlns:a14="http://schemas.microsoft.com/office/drawing/2010/main"/>
            </a:ext>
          </a:extLst>
        </p:spPr>
      </p:pic>
      <p:sp>
        <p:nvSpPr>
          <p:cNvPr id="15" name="Footer Placeholder 9">
            <a:extLst>
              <a:ext uri="{FF2B5EF4-FFF2-40B4-BE49-F238E27FC236}">
                <a16:creationId xmlns:a16="http://schemas.microsoft.com/office/drawing/2014/main" id="{BF7AF469-F237-C347-AA14-07A799692D49}"/>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675992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45658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SOURCING INFORMATION</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In today’s world, we are constantly confronted with information (both true and false). It is all around us, readily available and in large quantities.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The quality of information available at the time you address complex issues has a direct impact on the quality of your solution.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30</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BE1B350F-E4BE-874C-8717-E204C02868B0}"/>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324021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BIAS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As you address issues at work, always examine yourself for any actual or perceived bias.</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31</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pic>
        <p:nvPicPr>
          <p:cNvPr id="4" name="Picture 3" descr="A picture containing doughnut, donut, window, sitting&#10;&#10;Description automatically generated">
            <a:extLst>
              <a:ext uri="{FF2B5EF4-FFF2-40B4-BE49-F238E27FC236}">
                <a16:creationId xmlns:a16="http://schemas.microsoft.com/office/drawing/2014/main" id="{9BD07539-C059-424F-970A-22E46B92D1A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4020800" y="3695700"/>
            <a:ext cx="2495550" cy="3075910"/>
          </a:xfrm>
          <a:prstGeom prst="rect">
            <a:avLst/>
          </a:prstGeom>
        </p:spPr>
      </p:pic>
      <p:sp>
        <p:nvSpPr>
          <p:cNvPr id="15" name="Footer Placeholder 9">
            <a:extLst>
              <a:ext uri="{FF2B5EF4-FFF2-40B4-BE49-F238E27FC236}">
                <a16:creationId xmlns:a16="http://schemas.microsoft.com/office/drawing/2014/main" id="{17B3A9DC-B03F-394F-BABE-236E9281FE7A}"/>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51259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55788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Read the article that define and provide examples of bias.</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Article 1: </a:t>
            </a:r>
            <a:r>
              <a:rPr lang="en-US" sz="3000" spc="25" dirty="0">
                <a:solidFill>
                  <a:schemeClr val="bg1"/>
                </a:solidFill>
                <a:latin typeface="Arial" panose="020B0604020202020204" pitchFamily="34" charset="0"/>
                <a:cs typeface="Arial" panose="020B0604020202020204" pitchFamily="34" charset="0"/>
                <a:hlinkClick r:id="rId3"/>
              </a:rPr>
              <a:t>https://dictionary.cambridge.org/dictionary/english/bias</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32</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624692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77640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BIAS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In many instances, Natural Justice legally disqualifies you from making decisions if you have a conflict of interest or are biased. Did you know that even perceived bias may legally disqualify you from making a decision?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33</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Tree>
    <p:extLst>
      <p:ext uri="{BB962C8B-B14F-4D97-AF65-F5344CB8AC3E}">
        <p14:creationId xmlns:p14="http://schemas.microsoft.com/office/powerpoint/2010/main" val="1353009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If you’re interested, read the article below for more information on natural justice in administrative decision-making:</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Article: </a:t>
            </a:r>
            <a:r>
              <a:rPr lang="en-US" sz="3000" spc="25" dirty="0">
                <a:solidFill>
                  <a:schemeClr val="bg1"/>
                </a:solidFill>
                <a:latin typeface="Arial" panose="020B0604020202020204" pitchFamily="34" charset="0"/>
                <a:cs typeface="Arial" panose="020B0604020202020204" pitchFamily="34" charset="0"/>
                <a:hlinkClick r:id="rId3"/>
              </a:rPr>
              <a:t>https://www.ag.gov.au/sites/default/files/2020-03/best-practice-guide-2-natural-justice.pdf</a:t>
            </a:r>
            <a:r>
              <a:rPr lang="en-US" sz="3000" spc="25" dirty="0">
                <a:solidFill>
                  <a:schemeClr val="bg1"/>
                </a:solidFill>
                <a:latin typeface="Arial" panose="020B0604020202020204"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34</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3046813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FACT AND FICTION</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Make sure you fully understand the issues you’re facing by accessing a variety of reliable information sources. When you do this, you will be in a good position to establish what information is true and what is false.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35</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Tree>
    <p:extLst>
      <p:ext uri="{BB962C8B-B14F-4D97-AF65-F5344CB8AC3E}">
        <p14:creationId xmlns:p14="http://schemas.microsoft.com/office/powerpoint/2010/main" val="1769364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REFLECT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Reflect on the saying “Garbage in, garbage out”. How is this saying applicable to solving complex issues?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36</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39551538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LEGISLATION AND ORGANISATIONAL FRAMEWORKS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Legislation and </a:t>
            </a:r>
            <a:r>
              <a:rPr lang="en-US" sz="3000" spc="25" dirty="0" err="1">
                <a:solidFill>
                  <a:srgbClr val="31859C"/>
                </a:solidFill>
                <a:latin typeface="Arial" panose="020B0604020202020204" pitchFamily="34" charset="0"/>
                <a:cs typeface="Arial" panose="020B0604020202020204" pitchFamily="34" charset="0"/>
              </a:rPr>
              <a:t>organisational</a:t>
            </a:r>
            <a:r>
              <a:rPr lang="en-US" sz="3000" spc="25" dirty="0">
                <a:solidFill>
                  <a:srgbClr val="31859C"/>
                </a:solidFill>
                <a:latin typeface="Arial" panose="020B0604020202020204" pitchFamily="34" charset="0"/>
                <a:cs typeface="Arial" panose="020B0604020202020204" pitchFamily="34" charset="0"/>
              </a:rPr>
              <a:t> policies/procedures are put in place to make sure everyone is as safe as possible and to ensure a successful outcome for the business or </a:t>
            </a:r>
            <a:r>
              <a:rPr lang="en-US" sz="3000" spc="25" dirty="0" err="1">
                <a:solidFill>
                  <a:srgbClr val="31859C"/>
                </a:solidFill>
                <a:latin typeface="Arial" panose="020B0604020202020204" pitchFamily="34" charset="0"/>
                <a:cs typeface="Arial" panose="020B0604020202020204" pitchFamily="34" charset="0"/>
              </a:rPr>
              <a:t>organisation</a:t>
            </a:r>
            <a:r>
              <a:rPr lang="en-US" sz="3000" spc="25" dirty="0">
                <a:solidFill>
                  <a:srgbClr val="31859C"/>
                </a:solidFill>
                <a:latin typeface="Arial" panose="020B0604020202020204" pitchFamily="34" charset="0"/>
                <a:cs typeface="Arial" panose="020B0604020202020204" pitchFamily="34" charset="0"/>
              </a:rPr>
              <a:t>.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37</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44D8DCD2-1ECE-7444-BE7C-FB4872BCBD35}"/>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675394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RESEARCH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Research legislation and codes of best </a:t>
            </a:r>
            <a:r>
              <a:rPr lang="en-US" sz="3000" spc="25" dirty="0" err="1">
                <a:solidFill>
                  <a:schemeClr val="bg1"/>
                </a:solidFill>
                <a:latin typeface="Arial" panose="020B0604020202020204" pitchFamily="34" charset="0"/>
                <a:cs typeface="Arial" panose="020B0604020202020204" pitchFamily="34" charset="0"/>
              </a:rPr>
              <a:t>practise</a:t>
            </a:r>
            <a:r>
              <a:rPr lang="en-US" sz="3000" spc="25" dirty="0">
                <a:solidFill>
                  <a:schemeClr val="bg1"/>
                </a:solidFill>
                <a:latin typeface="Arial" panose="020B0604020202020204" pitchFamily="34" charset="0"/>
                <a:cs typeface="Arial" panose="020B0604020202020204" pitchFamily="34" charset="0"/>
              </a:rPr>
              <a:t> associated with your workplace or industry of interest (such as mining, manufacturing, transport, education or health).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38</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1446878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877694"/>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RESEARCH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Read a few of the policies on the website below.</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a:t>
            </a:r>
            <a:r>
              <a:rPr lang="en-US" sz="3000" spc="25" dirty="0">
                <a:solidFill>
                  <a:schemeClr val="bg1"/>
                </a:solidFill>
                <a:latin typeface="Arial" panose="020B0604020202020204" pitchFamily="34" charset="0"/>
                <a:cs typeface="Arial" panose="020B0604020202020204" pitchFamily="34" charset="0"/>
                <a:hlinkClick r:id="rId3"/>
              </a:rPr>
              <a:t>https://www.csusb.edu/policies</a:t>
            </a:r>
            <a:r>
              <a:rPr lang="en-US" sz="3000" spc="25" dirty="0">
                <a:solidFill>
                  <a:schemeClr val="bg1"/>
                </a:solidFill>
                <a:latin typeface="Arial" panose="020B0604020202020204"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39</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40731070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19750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REFLECT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Do any of the policies you read (from the website above) address any complex issues?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40</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3589170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4290662"/>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STAKEHOLDERS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Valuable information can be obtained from stakeholders through targeted questioning. To identify the stakeholders associated with an issue, think about:</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Who could be affected before, during or after the issue?</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Who has an interest in the outcome or solution to the problem?</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Who is responsible for the problem?</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41</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E13AA8EE-4296-1048-B230-D7B61B421C72}"/>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3201965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55788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WATCH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Watch the video on a questioning technique “5 Whys”.</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Video: </a:t>
            </a:r>
            <a:r>
              <a:rPr lang="en-US" sz="3000" spc="25" dirty="0">
                <a:solidFill>
                  <a:schemeClr val="bg1"/>
                </a:solidFill>
                <a:latin typeface="Arial" panose="020B0604020202020204" pitchFamily="34" charset="0"/>
                <a:cs typeface="Arial" panose="020B0604020202020204" pitchFamily="34" charset="0"/>
                <a:hlinkClick r:id="rId3"/>
              </a:rPr>
              <a:t>https://www.mindtools.com/pages/article/newTMC_5W.htm</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42</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22625065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RESOURCES REQUIRED FOR SOLUTION DEVELOPMENT</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The information you obtain from legislation, policies and procedures and discussion with stakeholders will help you calculate the resources you require to develop solutions to workplace issues.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43</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683C3467-C32C-324C-89C6-F34C1A51D996}"/>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4035619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PRESENTING SCOPE TO RELEVANT STAKEHOLDERS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If required (for example by an </a:t>
            </a:r>
            <a:r>
              <a:rPr lang="en-US" sz="3000" spc="25" dirty="0" err="1">
                <a:solidFill>
                  <a:srgbClr val="31859C"/>
                </a:solidFill>
                <a:latin typeface="Arial" panose="020B0604020202020204" pitchFamily="34" charset="0"/>
                <a:cs typeface="Arial" panose="020B0604020202020204" pitchFamily="34" charset="0"/>
              </a:rPr>
              <a:t>organisational</a:t>
            </a:r>
            <a:r>
              <a:rPr lang="en-US" sz="3000" spc="25" dirty="0">
                <a:solidFill>
                  <a:srgbClr val="31859C"/>
                </a:solidFill>
                <a:latin typeface="Arial" panose="020B0604020202020204" pitchFamily="34" charset="0"/>
                <a:cs typeface="Arial" panose="020B0604020202020204" pitchFamily="34" charset="0"/>
              </a:rPr>
              <a:t> policy or procedure) present the scope of your issue to any relevant stakeholders to obtain approval to continue addressing it.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44</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2D231CD8-2723-0740-A7D9-58326678D6E4}"/>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934966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PRACTICAL</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Think back to the article you read in topic 1, outlining Rio Tinto’s bombing of an ancient traditional site (</a:t>
            </a:r>
            <a:r>
              <a:rPr lang="en-US" sz="3000" spc="25" dirty="0">
                <a:solidFill>
                  <a:schemeClr val="bg1"/>
                </a:solidFill>
                <a:latin typeface="Arial" panose="020B0604020202020204" pitchFamily="34" charset="0"/>
                <a:cs typeface="Arial" panose="020B0604020202020204" pitchFamily="34" charset="0"/>
                <a:hlinkClick r:id="rId3"/>
              </a:rPr>
              <a:t>https://www.smh.com.au/business/companies/rio-tinto-blasted-ancient-aboriginal-caves-for-135m-of-iron-ore-20200807-p55jia.html</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Undertake the tasks provided.</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45</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1870465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2: A critical thinking approach to resolving complex issues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77640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GENERATING SOLUTIONS TO WORKPLACE PROBLEMS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Creativity is required to generate ideas and solutions to solve real world problems and meet new or existing needs. It has the potential to transform life as we know it, so as you think of alternative solutions to workplace issues, be creative!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46</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19297B5B-1F1B-4849-B537-14BC44425955}"/>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9418240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764364"/>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PRACTICAL</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Consider the article you read about Rio Tinto. Work in small groups to:</a:t>
            </a:r>
          </a:p>
          <a:p>
            <a:pPr marL="514350" indent="-514350">
              <a:lnSpc>
                <a:spcPct val="114000"/>
              </a:lnSpc>
              <a:spcBef>
                <a:spcPts val="600"/>
              </a:spcBef>
              <a:spcAft>
                <a:spcPts val="600"/>
              </a:spcAft>
              <a:buFont typeface="+mj-lt"/>
              <a:buAutoNum type="arabicPeriod"/>
            </a:pPr>
            <a:r>
              <a:rPr lang="en-US" sz="3000" spc="25" dirty="0">
                <a:solidFill>
                  <a:schemeClr val="bg1"/>
                </a:solidFill>
                <a:latin typeface="Arial" panose="020B0604020202020204" pitchFamily="34" charset="0"/>
                <a:cs typeface="Arial" panose="020B0604020202020204" pitchFamily="34" charset="0"/>
              </a:rPr>
              <a:t>Choose at least one critical thinking technique. </a:t>
            </a:r>
          </a:p>
          <a:p>
            <a:pPr marL="514350" indent="-514350">
              <a:lnSpc>
                <a:spcPct val="114000"/>
              </a:lnSpc>
              <a:spcBef>
                <a:spcPts val="600"/>
              </a:spcBef>
              <a:spcAft>
                <a:spcPts val="600"/>
              </a:spcAft>
              <a:buFont typeface="+mj-lt"/>
              <a:buAutoNum type="arabicPeriod"/>
            </a:pPr>
            <a:r>
              <a:rPr lang="en-US" sz="3000" spc="25" dirty="0" err="1">
                <a:solidFill>
                  <a:schemeClr val="bg1"/>
                </a:solidFill>
                <a:latin typeface="Arial" panose="020B0604020202020204" pitchFamily="34" charset="0"/>
                <a:cs typeface="Arial" panose="020B0604020202020204" pitchFamily="34" charset="0"/>
              </a:rPr>
              <a:t>Practise</a:t>
            </a:r>
            <a:r>
              <a:rPr lang="en-US" sz="3000" spc="25" dirty="0">
                <a:solidFill>
                  <a:schemeClr val="bg1"/>
                </a:solidFill>
                <a:latin typeface="Arial" panose="020B0604020202020204" pitchFamily="34" charset="0"/>
                <a:cs typeface="Arial" panose="020B0604020202020204" pitchFamily="34" charset="0"/>
              </a:rPr>
              <a:t> generating solutions to Rio Tinto’s issue using that technique.</a:t>
            </a:r>
          </a:p>
          <a:p>
            <a:pPr marL="514350" indent="-514350">
              <a:lnSpc>
                <a:spcPct val="114000"/>
              </a:lnSpc>
              <a:spcBef>
                <a:spcPts val="600"/>
              </a:spcBef>
              <a:spcAft>
                <a:spcPts val="600"/>
              </a:spcAft>
              <a:buFont typeface="+mj-lt"/>
              <a:buAutoNum type="arabicPeriod"/>
            </a:pPr>
            <a:r>
              <a:rPr lang="en-US" sz="3000" spc="25" dirty="0">
                <a:solidFill>
                  <a:schemeClr val="bg1"/>
                </a:solidFill>
                <a:latin typeface="Arial" panose="020B0604020202020204" pitchFamily="34" charset="0"/>
                <a:cs typeface="Arial" panose="020B0604020202020204" pitchFamily="34" charset="0"/>
              </a:rPr>
              <a:t>Present your solutions to a larger group by outlining the problem, explaining the critical-thinking method you followed and </a:t>
            </a:r>
            <a:r>
              <a:rPr lang="en-US" sz="3000" spc="25" dirty="0" err="1">
                <a:solidFill>
                  <a:schemeClr val="bg1"/>
                </a:solidFill>
                <a:latin typeface="Arial" panose="020B0604020202020204" pitchFamily="34" charset="0"/>
                <a:cs typeface="Arial" panose="020B0604020202020204" pitchFamily="34" charset="0"/>
              </a:rPr>
              <a:t>summarising</a:t>
            </a:r>
            <a:r>
              <a:rPr lang="en-US" sz="3000" spc="25" dirty="0">
                <a:solidFill>
                  <a:schemeClr val="bg1"/>
                </a:solidFill>
                <a:latin typeface="Arial" panose="020B0604020202020204" pitchFamily="34" charset="0"/>
                <a:cs typeface="Arial" panose="020B0604020202020204" pitchFamily="34" charset="0"/>
              </a:rPr>
              <a:t> the ideas generated.</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47</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18342344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DEVELOP</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Continue working on the problem you chose in the “Develop” activity at the end of Topic 1.</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48</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2: A critical thinking approach to resolving complex issues</a:t>
            </a:r>
          </a:p>
        </p:txBody>
      </p:sp>
    </p:spTree>
    <p:extLst>
      <p:ext uri="{BB962C8B-B14F-4D97-AF65-F5344CB8AC3E}">
        <p14:creationId xmlns:p14="http://schemas.microsoft.com/office/powerpoint/2010/main" val="563839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290497"/>
            <a:ext cx="18288000" cy="8196478"/>
          </a:xfrm>
          <a:prstGeom prst="rect">
            <a:avLst/>
          </a:prstGeom>
          <a:solidFill>
            <a:srgbClr val="31859C"/>
          </a:solidFill>
        </p:spPr>
      </p:sp>
      <p:sp>
        <p:nvSpPr>
          <p:cNvPr id="3" name="TextBox 3"/>
          <p:cNvSpPr txBox="1"/>
          <p:nvPr/>
        </p:nvSpPr>
        <p:spPr>
          <a:xfrm>
            <a:off x="1044000" y="1866900"/>
            <a:ext cx="16655652" cy="1748236"/>
          </a:xfrm>
          <a:prstGeom prst="rect">
            <a:avLst/>
          </a:prstGeom>
        </p:spPr>
        <p:txBody>
          <a:bodyPr wrap="square" lIns="0" tIns="0" rIns="0" bIns="0" rtlCol="0" anchor="t">
            <a:spAutoFit/>
          </a:bodyPr>
          <a:lstStyle/>
          <a:p>
            <a:pPr>
              <a:lnSpc>
                <a:spcPct val="114000"/>
              </a:lnSpc>
              <a:spcBef>
                <a:spcPts val="600"/>
              </a:spcBef>
              <a:spcAft>
                <a:spcPts val="600"/>
              </a:spcAft>
            </a:pPr>
            <a:r>
              <a:rPr lang="en-US" sz="5200" b="1"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rgbClr val="31859C"/>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sp>
        <p:nvSpPr>
          <p:cNvPr id="13" name="Slide Number Placeholder 10">
            <a:extLst>
              <a:ext uri="{FF2B5EF4-FFF2-40B4-BE49-F238E27FC236}">
                <a16:creationId xmlns:a16="http://schemas.microsoft.com/office/drawing/2014/main" id="{4538CC83-08C9-4A4A-AF50-3DDFA9C924C2}"/>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49</a:t>
            </a:fld>
            <a:endParaRPr lang="en-US" b="1" dirty="0">
              <a:solidFill>
                <a:srgbClr val="31859C"/>
              </a:solidFill>
              <a:latin typeface="Arial" panose="020B0604020202020204" pitchFamily="34" charset="0"/>
              <a:cs typeface="Arial" panose="020B0604020202020204" pitchFamily="34" charset="0"/>
            </a:endParaRPr>
          </a:p>
        </p:txBody>
      </p:sp>
      <p:sp>
        <p:nvSpPr>
          <p:cNvPr id="14" name="Footer Placeholder 9">
            <a:extLst>
              <a:ext uri="{FF2B5EF4-FFF2-40B4-BE49-F238E27FC236}">
                <a16:creationId xmlns:a16="http://schemas.microsoft.com/office/drawing/2014/main" id="{07043586-2022-0942-B7A7-70145F426F8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pic>
        <p:nvPicPr>
          <p:cNvPr id="5" name="Picture 4" descr="Logo&#10;&#10;Description automatically generated">
            <a:extLst>
              <a:ext uri="{FF2B5EF4-FFF2-40B4-BE49-F238E27FC236}">
                <a16:creationId xmlns:a16="http://schemas.microsoft.com/office/drawing/2014/main" id="{6938A9ED-F0EB-8B4A-993A-2412FD7D23C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124754" y="4477054"/>
            <a:ext cx="8038492" cy="4019246"/>
          </a:xfrm>
          <a:prstGeom prst="rect">
            <a:avLst/>
          </a:prstGeom>
          <a:ln w="38100">
            <a:solidFill>
              <a:schemeClr val="bg1"/>
            </a:solidFill>
          </a:ln>
        </p:spPr>
      </p:pic>
      <p:sp>
        <p:nvSpPr>
          <p:cNvPr id="15" name="Footer Placeholder 9">
            <a:extLst>
              <a:ext uri="{FF2B5EF4-FFF2-40B4-BE49-F238E27FC236}">
                <a16:creationId xmlns:a16="http://schemas.microsoft.com/office/drawing/2014/main" id="{75D48EBD-38C4-CD43-9123-D086E65095F3}"/>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14151127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23806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MAKING A DECISION</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To choose the best solution to a workplace issue:</a:t>
            </a:r>
          </a:p>
          <a:p>
            <a:pPr marL="514350" indent="-514350">
              <a:lnSpc>
                <a:spcPct val="114000"/>
              </a:lnSpc>
              <a:spcBef>
                <a:spcPts val="600"/>
              </a:spcBef>
              <a:spcAft>
                <a:spcPts val="600"/>
              </a:spcAft>
              <a:buFont typeface="+mj-lt"/>
              <a:buAutoNum type="arabicPeriod"/>
            </a:pPr>
            <a:r>
              <a:rPr lang="en-US" sz="3000" spc="25" dirty="0">
                <a:solidFill>
                  <a:srgbClr val="31859C"/>
                </a:solidFill>
                <a:latin typeface="Arial" panose="020B0604020202020204" pitchFamily="34" charset="0"/>
                <a:cs typeface="Arial" panose="020B0604020202020204" pitchFamily="34" charset="0"/>
              </a:rPr>
              <a:t>Consider all the information available to you.</a:t>
            </a:r>
          </a:p>
          <a:p>
            <a:pPr marL="514350" indent="-514350">
              <a:lnSpc>
                <a:spcPct val="114000"/>
              </a:lnSpc>
              <a:spcBef>
                <a:spcPts val="600"/>
              </a:spcBef>
              <a:spcAft>
                <a:spcPts val="600"/>
              </a:spcAft>
              <a:buFont typeface="+mj-lt"/>
              <a:buAutoNum type="arabicPeriod"/>
            </a:pPr>
            <a:r>
              <a:rPr lang="en-US" sz="3000" spc="25" dirty="0">
                <a:solidFill>
                  <a:srgbClr val="31859C"/>
                </a:solidFill>
                <a:latin typeface="Arial" panose="020B0604020202020204" pitchFamily="34" charset="0"/>
                <a:cs typeface="Arial" panose="020B0604020202020204" pitchFamily="34" charset="0"/>
              </a:rPr>
              <a:t>Evaluate each option to make sure it is feasible.</a:t>
            </a:r>
          </a:p>
          <a:p>
            <a:pPr marL="514350" indent="-514350">
              <a:lnSpc>
                <a:spcPct val="114000"/>
              </a:lnSpc>
              <a:spcBef>
                <a:spcPts val="600"/>
              </a:spcBef>
              <a:spcAft>
                <a:spcPts val="600"/>
              </a:spcAft>
              <a:buFont typeface="+mj-lt"/>
              <a:buAutoNum type="arabicPeriod"/>
            </a:pPr>
            <a:r>
              <a:rPr lang="en-US" sz="3000" spc="25" dirty="0">
                <a:solidFill>
                  <a:srgbClr val="31859C"/>
                </a:solidFill>
                <a:latin typeface="Arial" panose="020B0604020202020204" pitchFamily="34" charset="0"/>
                <a:cs typeface="Arial" panose="020B0604020202020204" pitchFamily="34" charset="0"/>
              </a:rPr>
              <a:t>Compare all feasible solutions to one another.</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50</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FDF9153C-0E8C-A846-83E0-7549CA61A2C0}"/>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20137477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EVALUATING OPTIONS</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Success criteria provide a framework against which potential solutions can be evaluated. </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Make sure your success criteria reflect the task objectives established at the start of the decision-making process.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51</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8A8FA8DF-A2F7-4E49-88A0-DF087173F1C7}"/>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8441373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COMPARING OPTIONS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Once individual solutions have been evaluated, all feasible alternatives can be compared to one another using a variety of techniques. Choose the best solution.</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52</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6306CB64-6082-2C41-810E-3FAC69EE2C68}"/>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15146165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23806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WATCH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Once technique to compare solution options is comparison analysis.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Watch the video that briefly explains what it involves.</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Video: </a:t>
            </a:r>
            <a:r>
              <a:rPr lang="en-US" sz="3000" spc="25" dirty="0">
                <a:solidFill>
                  <a:schemeClr val="bg1"/>
                </a:solidFill>
                <a:latin typeface="Arial" panose="020B0604020202020204" pitchFamily="34" charset="0"/>
                <a:cs typeface="Arial" panose="020B0604020202020204" pitchFamily="34" charset="0"/>
                <a:hlinkClick r:id="rId3"/>
              </a:rPr>
              <a:t>https://www.youtube.com/watch?v=m4o2aJ7YyZ8&amp;feature=emb_logo</a:t>
            </a:r>
            <a:r>
              <a:rPr lang="en-US" sz="3000" spc="25" dirty="0">
                <a:solidFill>
                  <a:schemeClr val="bg1"/>
                </a:solidFill>
                <a:latin typeface="Arial" panose="020B0604020202020204" pitchFamily="34" charset="0"/>
                <a:cs typeface="Arial" panose="020B0604020202020204" pitchFamily="34" charset="0"/>
              </a:rPr>
              <a:t> (02:11)</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53</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1899965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45658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RESEARCH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Analysis in decision making is complex and takes effort. Research other analysis methods appliable to your workplace or industry of interest. Make sure you include numeric and financial analysis in your research.</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 Share your research with another student and compare your findings.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54</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34510050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19750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DISCUSS</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How can the representation of numerical and financial data be misleading?</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55</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25063613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61047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PRACTICAL</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Consider the financial and numeric data in the Rio Tinto article we’ve been </a:t>
            </a:r>
            <a:r>
              <a:rPr lang="en-US" sz="3000" spc="25" dirty="0" err="1">
                <a:solidFill>
                  <a:schemeClr val="bg1"/>
                </a:solidFill>
                <a:latin typeface="Arial" panose="020B0604020202020204" pitchFamily="34" charset="0"/>
                <a:cs typeface="Arial" panose="020B0604020202020204" pitchFamily="34" charset="0"/>
              </a:rPr>
              <a:t>analysing</a:t>
            </a:r>
            <a:r>
              <a:rPr lang="en-US" sz="3000" spc="25" dirty="0">
                <a:solidFill>
                  <a:schemeClr val="bg1"/>
                </a:solidFill>
                <a:latin typeface="Arial" panose="020B0604020202020204" pitchFamily="34" charset="0"/>
                <a:cs typeface="Arial" panose="020B0604020202020204" pitchFamily="34" charset="0"/>
              </a:rPr>
              <a:t> throughout this course (</a:t>
            </a:r>
            <a:r>
              <a:rPr lang="en-US" sz="3000" spc="25" dirty="0">
                <a:solidFill>
                  <a:schemeClr val="bg1"/>
                </a:solidFill>
                <a:latin typeface="Arial" panose="020B0604020202020204" pitchFamily="34" charset="0"/>
                <a:cs typeface="Arial" panose="020B0604020202020204" pitchFamily="34" charset="0"/>
                <a:hlinkClick r:id="rId3"/>
              </a:rPr>
              <a:t>https://www.smh.com.au/business/companies/rio-tinto-blasted-ancient-aboriginal-caves-for-135m-of-iron-ore-20200807-p55jia.html</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err="1">
                <a:solidFill>
                  <a:schemeClr val="bg1"/>
                </a:solidFill>
                <a:latin typeface="Arial" panose="020B0604020202020204" pitchFamily="34" charset="0"/>
                <a:cs typeface="Arial" panose="020B0604020202020204" pitchFamily="34" charset="0"/>
              </a:rPr>
              <a:t>Analyse</a:t>
            </a:r>
            <a:r>
              <a:rPr lang="en-US" sz="3000" spc="25" dirty="0">
                <a:solidFill>
                  <a:schemeClr val="bg1"/>
                </a:solidFill>
                <a:latin typeface="Arial" panose="020B0604020202020204" pitchFamily="34" charset="0"/>
                <a:cs typeface="Arial" panose="020B0604020202020204" pitchFamily="34" charset="0"/>
              </a:rPr>
              <a:t> and present the numeric/financial information in an appropriate format.</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Compare your work with another student.</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56</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35213470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345658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SOLUTION PRESENTATION</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The policies and procedures of an </a:t>
            </a:r>
            <a:r>
              <a:rPr lang="en-US" sz="3000" spc="25" dirty="0" err="1">
                <a:solidFill>
                  <a:srgbClr val="31859C"/>
                </a:solidFill>
                <a:latin typeface="Arial" panose="020B0604020202020204" pitchFamily="34" charset="0"/>
                <a:cs typeface="Arial" panose="020B0604020202020204" pitchFamily="34" charset="0"/>
              </a:rPr>
              <a:t>organisation</a:t>
            </a:r>
            <a:r>
              <a:rPr lang="en-US" sz="3000" spc="25" dirty="0">
                <a:solidFill>
                  <a:srgbClr val="31859C"/>
                </a:solidFill>
                <a:latin typeface="Arial" panose="020B0604020202020204" pitchFamily="34" charset="0"/>
                <a:cs typeface="Arial" panose="020B0604020202020204" pitchFamily="34" charset="0"/>
              </a:rPr>
              <a:t> guide how to brief and present a chosen solution to relevant stakeholders.</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There is no set way to write a brief. Each </a:t>
            </a:r>
            <a:r>
              <a:rPr lang="en-US" sz="3000" spc="25" dirty="0" err="1">
                <a:solidFill>
                  <a:srgbClr val="31859C"/>
                </a:solidFill>
                <a:latin typeface="Arial" panose="020B0604020202020204" pitchFamily="34" charset="0"/>
                <a:cs typeface="Arial" panose="020B0604020202020204" pitchFamily="34" charset="0"/>
              </a:rPr>
              <a:t>organisation</a:t>
            </a:r>
            <a:r>
              <a:rPr lang="en-US" sz="3000" spc="25" dirty="0">
                <a:solidFill>
                  <a:srgbClr val="31859C"/>
                </a:solidFill>
                <a:latin typeface="Arial" panose="020B0604020202020204" pitchFamily="34" charset="0"/>
                <a:cs typeface="Arial" panose="020B0604020202020204" pitchFamily="34" charset="0"/>
              </a:rPr>
              <a:t> will have different requirements. The type of industry (and complex issue) will influence what the brief contains.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57</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FBFA4258-39DD-EF41-A6F1-6C8DC0B13117}"/>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6759125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238066"/>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a look at the examples of different brief templates in the websites below:</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1: </a:t>
            </a:r>
            <a:r>
              <a:rPr lang="en-US" sz="3000" spc="25" dirty="0">
                <a:solidFill>
                  <a:schemeClr val="bg1"/>
                </a:solidFill>
                <a:latin typeface="Arial" panose="020B0604020202020204" pitchFamily="34" charset="0"/>
                <a:cs typeface="Arial" panose="020B0604020202020204" pitchFamily="34" charset="0"/>
                <a:hlinkClick r:id="rId3"/>
              </a:rPr>
              <a:t>https://www.wordtemplatesonline.net/project-brief-templates/</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2: </a:t>
            </a:r>
            <a:r>
              <a:rPr lang="en-US" sz="3000" spc="25" dirty="0">
                <a:solidFill>
                  <a:schemeClr val="bg1"/>
                </a:solidFill>
                <a:latin typeface="Arial" panose="020B0604020202020204" pitchFamily="34" charset="0"/>
                <a:cs typeface="Arial" panose="020B0604020202020204" pitchFamily="34" charset="0"/>
                <a:hlinkClick r:id="rId4"/>
              </a:rPr>
              <a:t>https://www.smartsheet.com/free-project-proposal-templates</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3: </a:t>
            </a:r>
            <a:r>
              <a:rPr lang="en-US" sz="3000" spc="25" dirty="0">
                <a:solidFill>
                  <a:schemeClr val="bg1"/>
                </a:solidFill>
                <a:latin typeface="Arial" panose="020B0604020202020204" pitchFamily="34" charset="0"/>
                <a:cs typeface="Arial" panose="020B0604020202020204" pitchFamily="34" charset="0"/>
                <a:hlinkClick r:id="rId5"/>
              </a:rPr>
              <a:t>https://www.smartsheet.com/business-case-templates</a:t>
            </a:r>
            <a:r>
              <a:rPr lang="en-US" sz="3000" spc="25" dirty="0">
                <a:solidFill>
                  <a:schemeClr val="bg1"/>
                </a:solidFill>
                <a:latin typeface="Arial" panose="020B0604020202020204"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58</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
        <p:nvSpPr>
          <p:cNvPr id="15" name="Footer Placeholder 9">
            <a:extLst>
              <a:ext uri="{FF2B5EF4-FFF2-40B4-BE49-F238E27FC236}">
                <a16:creationId xmlns:a16="http://schemas.microsoft.com/office/drawing/2014/main" id="{F317F1E7-A290-9C4B-903C-1186065D96DF}"/>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28028759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877694"/>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DISCUSS</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As a group, discuss the similarities and differences in the template examples above.</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59</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34433789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77640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SOLUTION PRESENTATION</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Generally, a solution brief may outline the issue and constraints, describe the solution (including how it meets objectives and success criteria), highlight advantages, risks and resources required and substantiate the solution with numerical or financial information.</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60</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CC03E7C4-E0A6-0D46-AACA-35B74677495A}"/>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17628167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CONSIDERING FEEDBACK</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Workplaces need timely, accurate and constructive feedback in order to succeed.</a:t>
            </a:r>
          </a:p>
          <a:p>
            <a:pPr marL="457200" indent="-457200">
              <a:lnSpc>
                <a:spcPct val="114000"/>
              </a:lnSpc>
              <a:spcBef>
                <a:spcPts val="600"/>
              </a:spcBef>
              <a:spcAft>
                <a:spcPts val="600"/>
              </a:spcAft>
              <a:buFont typeface="Arial" panose="020B0604020202020204" pitchFamily="34" charset="0"/>
              <a:buChar char="•"/>
            </a:pPr>
            <a:r>
              <a:rPr lang="en-US" sz="3000" spc="25" dirty="0">
                <a:solidFill>
                  <a:srgbClr val="31859C"/>
                </a:solidFill>
                <a:latin typeface="Arial" panose="020B0604020202020204" pitchFamily="34" charset="0"/>
                <a:cs typeface="Arial" panose="020B0604020202020204" pitchFamily="34" charset="0"/>
              </a:rPr>
              <a:t>The time during or after a presentation is an opportunity to ask for feedback and then actively consider the feedback.</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61</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82206A7E-3F17-5340-957E-A6E1B7F501E9}"/>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1318020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40399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BRAINSTORM</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In a group, brainstorm ways to record and include feedback. Take notes and keep them for future reference.</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Your trainer will facilitate a group discussion to </a:t>
            </a:r>
            <a:r>
              <a:rPr lang="en-US" sz="3000" spc="25" dirty="0" err="1">
                <a:solidFill>
                  <a:schemeClr val="bg1"/>
                </a:solidFill>
                <a:latin typeface="Arial" panose="020B0604020202020204" pitchFamily="34" charset="0"/>
                <a:cs typeface="Arial" panose="020B0604020202020204" pitchFamily="34" charset="0"/>
              </a:rPr>
              <a:t>summarise</a:t>
            </a:r>
            <a:r>
              <a:rPr lang="en-US" sz="3000" spc="25" dirty="0">
                <a:solidFill>
                  <a:schemeClr val="bg1"/>
                </a:solidFill>
                <a:latin typeface="Arial" panose="020B0604020202020204" pitchFamily="34" charset="0"/>
                <a:cs typeface="Arial" panose="020B0604020202020204" pitchFamily="34" charset="0"/>
              </a:rPr>
              <a:t> what you’ve brainstormed.</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62</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
        <p:nvSpPr>
          <p:cNvPr id="15" name="Footer Placeholder 9">
            <a:extLst>
              <a:ext uri="{FF2B5EF4-FFF2-40B4-BE49-F238E27FC236}">
                <a16:creationId xmlns:a16="http://schemas.microsoft.com/office/drawing/2014/main" id="{92778D89-A75E-434D-9E85-B7F3251D28C0}"/>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3335792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4663071"/>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a look at the examples of different feedback registers in the websites below:</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1: </a:t>
            </a:r>
            <a:r>
              <a:rPr lang="en-US" sz="3000" spc="25" dirty="0">
                <a:solidFill>
                  <a:schemeClr val="bg1"/>
                </a:solidFill>
                <a:latin typeface="Arial" panose="020B0604020202020204" pitchFamily="34" charset="0"/>
                <a:cs typeface="Arial" panose="020B0604020202020204" pitchFamily="34" charset="0"/>
                <a:hlinkClick r:id="rId3"/>
              </a:rPr>
              <a:t>https://www.dlsweb.rmit.edu.au/Toolbox/finservretail/intranet/procedures/ recording_feedback.htm</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2: </a:t>
            </a:r>
            <a:r>
              <a:rPr lang="en-US" sz="3000" spc="25" dirty="0">
                <a:solidFill>
                  <a:schemeClr val="bg1"/>
                </a:solidFill>
                <a:latin typeface="Arial" panose="020B0604020202020204" pitchFamily="34" charset="0"/>
                <a:cs typeface="Arial" panose="020B0604020202020204" pitchFamily="34" charset="0"/>
                <a:hlinkClick r:id="rId4"/>
              </a:rPr>
              <a:t>https://</a:t>
            </a:r>
            <a:r>
              <a:rPr lang="en-US" sz="3000" spc="25" dirty="0" err="1">
                <a:solidFill>
                  <a:schemeClr val="bg1"/>
                </a:solidFill>
                <a:latin typeface="Arial" panose="020B0604020202020204" pitchFamily="34" charset="0"/>
                <a:cs typeface="Arial" panose="020B0604020202020204" pitchFamily="34" charset="0"/>
                <a:hlinkClick r:id="rId4"/>
              </a:rPr>
              <a:t>www.google.com</a:t>
            </a:r>
            <a:r>
              <a:rPr lang="en-US" sz="3000" spc="25" dirty="0">
                <a:solidFill>
                  <a:schemeClr val="bg1"/>
                </a:solidFill>
                <a:latin typeface="Arial" panose="020B0604020202020204" pitchFamily="34" charset="0"/>
                <a:cs typeface="Arial" panose="020B0604020202020204" pitchFamily="34" charset="0"/>
                <a:hlinkClick r:id="rId4"/>
              </a:rPr>
              <a:t>/</a:t>
            </a:r>
            <a:r>
              <a:rPr lang="en-US" sz="3000" spc="25" dirty="0" err="1">
                <a:solidFill>
                  <a:schemeClr val="bg1"/>
                </a:solidFill>
                <a:latin typeface="Arial" panose="020B0604020202020204" pitchFamily="34" charset="0"/>
                <a:cs typeface="Arial" panose="020B0604020202020204" pitchFamily="34" charset="0"/>
                <a:hlinkClick r:id="rId4"/>
              </a:rPr>
              <a:t>search?source</a:t>
            </a:r>
            <a:r>
              <a:rPr lang="en-US" sz="3000" spc="25" dirty="0">
                <a:solidFill>
                  <a:schemeClr val="bg1"/>
                </a:solidFill>
                <a:latin typeface="Arial" panose="020B0604020202020204" pitchFamily="34" charset="0"/>
                <a:cs typeface="Arial" panose="020B0604020202020204" pitchFamily="34" charset="0"/>
                <a:hlinkClick r:id="rId4"/>
              </a:rPr>
              <a:t>=</a:t>
            </a:r>
            <a:r>
              <a:rPr lang="en-US" sz="3000" spc="25" dirty="0" err="1">
                <a:solidFill>
                  <a:schemeClr val="bg1"/>
                </a:solidFill>
                <a:latin typeface="Arial" panose="020B0604020202020204" pitchFamily="34" charset="0"/>
                <a:cs typeface="Arial" panose="020B0604020202020204" pitchFamily="34" charset="0"/>
                <a:hlinkClick r:id="rId4"/>
              </a:rPr>
              <a:t>univ&amp;tbm</a:t>
            </a:r>
            <a:r>
              <a:rPr lang="en-US" sz="3000" spc="25" dirty="0">
                <a:solidFill>
                  <a:schemeClr val="bg1"/>
                </a:solidFill>
                <a:latin typeface="Arial" panose="020B0604020202020204" pitchFamily="34" charset="0"/>
                <a:cs typeface="Arial" panose="020B0604020202020204" pitchFamily="34" charset="0"/>
                <a:hlinkClick r:id="rId4"/>
              </a:rPr>
              <a:t>=</a:t>
            </a:r>
            <a:r>
              <a:rPr lang="en-US" sz="3000" spc="25" dirty="0" err="1">
                <a:solidFill>
                  <a:schemeClr val="bg1"/>
                </a:solidFill>
                <a:latin typeface="Arial" panose="020B0604020202020204" pitchFamily="34" charset="0"/>
                <a:cs typeface="Arial" panose="020B0604020202020204" pitchFamily="34" charset="0"/>
                <a:hlinkClick r:id="rId4"/>
              </a:rPr>
              <a:t>isch&amp;q</a:t>
            </a:r>
            <a:r>
              <a:rPr lang="en-US" sz="3000" spc="25" dirty="0">
                <a:solidFill>
                  <a:schemeClr val="bg1"/>
                </a:solidFill>
                <a:latin typeface="Arial" panose="020B0604020202020204" pitchFamily="34" charset="0"/>
                <a:cs typeface="Arial" panose="020B0604020202020204" pitchFamily="34" charset="0"/>
                <a:hlinkClick r:id="rId4"/>
              </a:rPr>
              <a:t>=feedback+ </a:t>
            </a:r>
            <a:r>
              <a:rPr lang="en-US" sz="3000" spc="25" dirty="0" err="1">
                <a:solidFill>
                  <a:schemeClr val="bg1"/>
                </a:solidFill>
                <a:latin typeface="Arial" panose="020B0604020202020204" pitchFamily="34" charset="0"/>
                <a:cs typeface="Arial" panose="020B0604020202020204" pitchFamily="34" charset="0"/>
                <a:hlinkClick r:id="rId4"/>
              </a:rPr>
              <a:t>register&amp;sa</a:t>
            </a:r>
            <a:r>
              <a:rPr lang="en-US" sz="3000" spc="25" dirty="0">
                <a:solidFill>
                  <a:schemeClr val="bg1"/>
                </a:solidFill>
                <a:latin typeface="Arial" panose="020B0604020202020204" pitchFamily="34" charset="0"/>
                <a:cs typeface="Arial" panose="020B0604020202020204" pitchFamily="34" charset="0"/>
                <a:hlinkClick r:id="rId4"/>
              </a:rPr>
              <a:t>=</a:t>
            </a:r>
            <a:r>
              <a:rPr lang="en-US" sz="3000" spc="25" dirty="0" err="1">
                <a:solidFill>
                  <a:schemeClr val="bg1"/>
                </a:solidFill>
                <a:latin typeface="Arial" panose="020B0604020202020204" pitchFamily="34" charset="0"/>
                <a:cs typeface="Arial" panose="020B0604020202020204" pitchFamily="34" charset="0"/>
                <a:hlinkClick r:id="rId4"/>
              </a:rPr>
              <a:t>X&amp;ved</a:t>
            </a:r>
            <a:r>
              <a:rPr lang="en-US" sz="3000" spc="25" dirty="0">
                <a:solidFill>
                  <a:schemeClr val="bg1"/>
                </a:solidFill>
                <a:latin typeface="Arial" panose="020B0604020202020204" pitchFamily="34" charset="0"/>
                <a:cs typeface="Arial" panose="020B0604020202020204" pitchFamily="34" charset="0"/>
                <a:hlinkClick r:id="rId4"/>
              </a:rPr>
              <a:t>=2ahUKEwj_-uG-qKHsAhW9zDgGHdLmBY0Q7Al6BAgLEEo&amp;biw=1200&amp;bih=581#imgrc=vn7H3q76tHJiKM</a:t>
            </a:r>
            <a:endParaRPr lang="en-US" sz="3000" spc="25" dirty="0">
              <a:solidFill>
                <a:schemeClr val="bg1"/>
              </a:solidFill>
              <a:latin typeface="Arial" panose="020B0604020202020204" pitchFamily="34" charset="0"/>
              <a:cs typeface="Arial" panose="020B0604020202020204" pitchFamily="34" charset="0"/>
            </a:endParaRP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63</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1689218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CONSIDERING FEEDBACK</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Apart from receiving feedback from stakeholders, critical thinkers also reflect on their own performance. You may benchmark against your peers, your supervisors or </a:t>
            </a:r>
            <a:r>
              <a:rPr lang="en-US" sz="3000" spc="25" dirty="0" err="1">
                <a:solidFill>
                  <a:srgbClr val="31859C"/>
                </a:solidFill>
                <a:latin typeface="Arial" panose="020B0604020202020204" pitchFamily="34" charset="0"/>
                <a:cs typeface="Arial" panose="020B0604020202020204" pitchFamily="34" charset="0"/>
              </a:rPr>
              <a:t>recognised</a:t>
            </a:r>
            <a:r>
              <a:rPr lang="en-US" sz="3000" spc="25" dirty="0">
                <a:solidFill>
                  <a:srgbClr val="31859C"/>
                </a:solidFill>
                <a:latin typeface="Arial" panose="020B0604020202020204" pitchFamily="34" charset="0"/>
                <a:cs typeface="Arial" panose="020B0604020202020204" pitchFamily="34" charset="0"/>
              </a:rPr>
              <a:t> industry standards of excellence.</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64</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sp>
        <p:nvSpPr>
          <p:cNvPr id="15" name="Footer Placeholder 9">
            <a:extLst>
              <a:ext uri="{FF2B5EF4-FFF2-40B4-BE49-F238E27FC236}">
                <a16:creationId xmlns:a16="http://schemas.microsoft.com/office/drawing/2014/main" id="{75EBF8DD-EB00-7D43-99BD-AAEB159A82A1}"/>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41456257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55788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WATCH</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Watch the video on 10 tips for making a self-evaluation more meaningful.</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Video: </a:t>
            </a:r>
            <a:r>
              <a:rPr lang="en-US" sz="3000" spc="25" dirty="0">
                <a:solidFill>
                  <a:schemeClr val="bg1"/>
                </a:solidFill>
                <a:latin typeface="Arial" panose="020B0604020202020204" pitchFamily="34" charset="0"/>
                <a:cs typeface="Arial" panose="020B0604020202020204" pitchFamily="34" charset="0"/>
                <a:hlinkClick r:id="rId3"/>
              </a:rPr>
              <a:t>https://www.youtube.com/watch?v=-blNWDCjDcQ</a:t>
            </a:r>
            <a:r>
              <a:rPr lang="en-US" sz="3000" spc="25" dirty="0">
                <a:solidFill>
                  <a:schemeClr val="bg1"/>
                </a:solidFill>
                <a:latin typeface="Arial" panose="020B0604020202020204" pitchFamily="34" charset="0"/>
                <a:cs typeface="Arial" panose="020B0604020202020204" pitchFamily="34" charset="0"/>
              </a:rPr>
              <a:t> (05:11)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65</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9986697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25010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REFLECT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What are your strengths? What are your weaknesses? How can you address your weaknesses? Do you currently have any skills that are unused in the workplace? What would you like to improve on?</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66</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30978267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603551" y="8746411"/>
            <a:ext cx="11716295" cy="717197"/>
          </a:xfrm>
          <a:prstGeom prst="rect">
            <a:avLst/>
          </a:prstGeom>
        </p:spPr>
        <p:txBody>
          <a:bodyPr lIns="0" tIns="0" rIns="0" bIns="0" rtlCol="0" anchor="t">
            <a:spAutoFit/>
          </a:bodyPr>
          <a:lstStyle/>
          <a:p>
            <a:pPr algn="r">
              <a:lnSpc>
                <a:spcPts val="5759"/>
              </a:lnSpc>
            </a:pPr>
            <a:r>
              <a:rPr lang="en-US" sz="4800" spc="192" dirty="0">
                <a:solidFill>
                  <a:srgbClr val="F4F8F3"/>
                </a:solidFill>
                <a:latin typeface="Montserrat Light"/>
              </a:rPr>
              <a:t>Topic 1: Insert topic title </a:t>
            </a:r>
          </a:p>
        </p:txBody>
      </p:sp>
      <p:grpSp>
        <p:nvGrpSpPr>
          <p:cNvPr id="5" name="Group 5"/>
          <p:cNvGrpSpPr/>
          <p:nvPr/>
        </p:nvGrpSpPr>
        <p:grpSpPr>
          <a:xfrm>
            <a:off x="1028700" y="446788"/>
            <a:ext cx="17244000" cy="220040"/>
            <a:chOff x="0" y="0"/>
            <a:chExt cx="23454501" cy="293386"/>
          </a:xfrm>
        </p:grpSpPr>
        <p:sp>
          <p:nvSpPr>
            <p:cNvPr id="6" name="AutoShape 6"/>
            <p:cNvSpPr/>
            <p:nvPr/>
          </p:nvSpPr>
          <p:spPr>
            <a:xfrm>
              <a:off x="0" y="125899"/>
              <a:ext cx="23454501" cy="27726"/>
            </a:xfrm>
            <a:prstGeom prst="rect">
              <a:avLst/>
            </a:prstGeom>
            <a:solidFill>
              <a:srgbClr val="31859C"/>
            </a:solidFill>
          </p:spPr>
        </p:sp>
        <p:sp>
          <p:nvSpPr>
            <p:cNvPr id="7" name="AutoShape 7"/>
            <p:cNvSpPr/>
            <p:nvPr/>
          </p:nvSpPr>
          <p:spPr>
            <a:xfrm>
              <a:off x="0" y="13863"/>
              <a:ext cx="292033" cy="279524"/>
            </a:xfrm>
            <a:prstGeom prst="rect">
              <a:avLst/>
            </a:prstGeom>
            <a:solidFill>
              <a:srgbClr val="31859C"/>
            </a:solidFill>
          </p:spPr>
        </p:sp>
        <p:sp>
          <p:nvSpPr>
            <p:cNvPr id="8" name="AutoShape 8"/>
            <p:cNvSpPr/>
            <p:nvPr/>
          </p:nvSpPr>
          <p:spPr>
            <a:xfrm>
              <a:off x="7770499" y="0"/>
              <a:ext cx="292033" cy="279524"/>
            </a:xfrm>
            <a:prstGeom prst="rect">
              <a:avLst/>
            </a:prstGeom>
            <a:solidFill>
              <a:srgbClr val="31859C"/>
            </a:solidFill>
          </p:spPr>
        </p:sp>
        <p:sp>
          <p:nvSpPr>
            <p:cNvPr id="9" name="AutoShape 9"/>
            <p:cNvSpPr/>
            <p:nvPr/>
          </p:nvSpPr>
          <p:spPr>
            <a:xfrm>
              <a:off x="15540998" y="0"/>
              <a:ext cx="292033" cy="279524"/>
            </a:xfrm>
            <a:prstGeom prst="rect">
              <a:avLst/>
            </a:prstGeom>
            <a:solidFill>
              <a:srgbClr val="31859C"/>
            </a:solidFill>
          </p:spPr>
        </p:sp>
      </p:grpSp>
      <p:sp>
        <p:nvSpPr>
          <p:cNvPr id="12" name="AutoShape 2">
            <a:extLst>
              <a:ext uri="{FF2B5EF4-FFF2-40B4-BE49-F238E27FC236}">
                <a16:creationId xmlns:a16="http://schemas.microsoft.com/office/drawing/2014/main" id="{54B605DE-63C5-4B19-89D4-FD69EFF21B44}"/>
              </a:ext>
            </a:extLst>
          </p:cNvPr>
          <p:cNvSpPr/>
          <p:nvPr/>
        </p:nvSpPr>
        <p:spPr>
          <a:xfrm>
            <a:off x="0" y="7886700"/>
            <a:ext cx="18288000" cy="1621070"/>
          </a:xfrm>
          <a:prstGeom prst="rect">
            <a:avLst/>
          </a:prstGeom>
          <a:solidFill>
            <a:srgbClr val="31859C"/>
          </a:solidFill>
        </p:spPr>
      </p:sp>
      <p:sp>
        <p:nvSpPr>
          <p:cNvPr id="13" name="TextBox 3">
            <a:extLst>
              <a:ext uri="{FF2B5EF4-FFF2-40B4-BE49-F238E27FC236}">
                <a16:creationId xmlns:a16="http://schemas.microsoft.com/office/drawing/2014/main" id="{A31A0CE9-BF08-435F-8682-EFAE4D36D398}"/>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chemeClr val="bg1"/>
                </a:solidFill>
                <a:latin typeface="Arial" panose="020B0604020202020204" pitchFamily="34" charset="0"/>
                <a:cs typeface="Arial" panose="020B0604020202020204" pitchFamily="34" charset="0"/>
              </a:rPr>
              <a:t>Topic 3: A critical thinking approach to making and reviewing decisions</a:t>
            </a:r>
          </a:p>
        </p:txBody>
      </p:sp>
      <p:sp>
        <p:nvSpPr>
          <p:cNvPr id="17" name="TextBox 4">
            <a:extLst>
              <a:ext uri="{FF2B5EF4-FFF2-40B4-BE49-F238E27FC236}">
                <a16:creationId xmlns:a16="http://schemas.microsoft.com/office/drawing/2014/main" id="{EAC90A64-36BA-4EF5-BA95-DA478EAEA9E6}"/>
              </a:ext>
            </a:extLst>
          </p:cNvPr>
          <p:cNvSpPr txBox="1"/>
          <p:nvPr/>
        </p:nvSpPr>
        <p:spPr>
          <a:xfrm>
            <a:off x="1028700" y="1676834"/>
            <a:ext cx="12687300" cy="1723805"/>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5" dirty="0">
                <a:solidFill>
                  <a:srgbClr val="31859C"/>
                </a:solidFill>
                <a:latin typeface="Arial" panose="020B0604020202020204" pitchFamily="34" charset="0"/>
                <a:cs typeface="Arial" panose="020B0604020202020204" pitchFamily="34" charset="0"/>
              </a:rPr>
              <a:t>SEEKING APPROVAL</a:t>
            </a:r>
          </a:p>
          <a:p>
            <a:pPr>
              <a:lnSpc>
                <a:spcPct val="114000"/>
              </a:lnSpc>
              <a:spcBef>
                <a:spcPts val="600"/>
              </a:spcBef>
              <a:spcAft>
                <a:spcPts val="600"/>
              </a:spcAft>
            </a:pPr>
            <a:r>
              <a:rPr lang="en-US" sz="3000" spc="25" dirty="0">
                <a:solidFill>
                  <a:srgbClr val="31859C"/>
                </a:solidFill>
                <a:latin typeface="Arial" panose="020B0604020202020204" pitchFamily="34" charset="0"/>
                <a:cs typeface="Arial" panose="020B0604020202020204" pitchFamily="34" charset="0"/>
              </a:rPr>
              <a:t>After careful consideration of feedback, follow the </a:t>
            </a:r>
            <a:r>
              <a:rPr lang="en-US" sz="3000" spc="25" dirty="0" err="1">
                <a:solidFill>
                  <a:srgbClr val="31859C"/>
                </a:solidFill>
                <a:latin typeface="Arial" panose="020B0604020202020204" pitchFamily="34" charset="0"/>
                <a:cs typeface="Arial" panose="020B0604020202020204" pitchFamily="34" charset="0"/>
              </a:rPr>
              <a:t>organisation’s</a:t>
            </a:r>
            <a:r>
              <a:rPr lang="en-US" sz="3000" spc="25" dirty="0">
                <a:solidFill>
                  <a:srgbClr val="31859C"/>
                </a:solidFill>
                <a:latin typeface="Arial" panose="020B0604020202020204" pitchFamily="34" charset="0"/>
                <a:cs typeface="Arial" panose="020B0604020202020204" pitchFamily="34" charset="0"/>
              </a:rPr>
              <a:t> procedures to seek approval to implement the refined solution. </a:t>
            </a:r>
          </a:p>
        </p:txBody>
      </p:sp>
      <p:sp>
        <p:nvSpPr>
          <p:cNvPr id="14" name="Slide Number Placeholder 10">
            <a:extLst>
              <a:ext uri="{FF2B5EF4-FFF2-40B4-BE49-F238E27FC236}">
                <a16:creationId xmlns:a16="http://schemas.microsoft.com/office/drawing/2014/main" id="{5BC0C534-ADAF-D84D-81C8-2A1D2405EFB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rgbClr val="31859C"/>
                </a:solidFill>
                <a:latin typeface="Arial" panose="020B0604020202020204" pitchFamily="34" charset="0"/>
                <a:cs typeface="Arial" panose="020B0604020202020204" pitchFamily="34" charset="0"/>
              </a:rPr>
              <a:pPr/>
              <a:t>67</a:t>
            </a:fld>
            <a:endParaRPr lang="en-US" b="1" dirty="0">
              <a:solidFill>
                <a:srgbClr val="31859C"/>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29767DB4-4F5A-EE43-87FE-030B2D14D3A1}"/>
              </a:ext>
            </a:extLst>
          </p:cNvPr>
          <p:cNvSpPr>
            <a:spLocks noGrp="1"/>
          </p:cNvSpPr>
          <p:nvPr>
            <p:ph type="ftr" sz="quarter" idx="11"/>
          </p:nvPr>
        </p:nvSpPr>
        <p:spPr>
          <a:xfrm>
            <a:off x="533400" y="9715499"/>
            <a:ext cx="6019800" cy="442894"/>
          </a:xfrm>
        </p:spPr>
        <p:txBody>
          <a:bodyPr/>
          <a:lstStyle/>
          <a:p>
            <a:pPr algn="l"/>
            <a:r>
              <a:rPr lang="en-US" b="1" dirty="0">
                <a:solidFill>
                  <a:srgbClr val="31859C"/>
                </a:solidFill>
                <a:latin typeface="Arial" panose="020B0604020202020204" pitchFamily="34" charset="0"/>
                <a:cs typeface="Arial" panose="020B0604020202020204" pitchFamily="34" charset="0"/>
              </a:rPr>
              <a:t>BSBCRT611 </a:t>
            </a:r>
            <a:r>
              <a:rPr lang="en-US" dirty="0">
                <a:solidFill>
                  <a:srgbClr val="31859C"/>
                </a:solidFill>
                <a:latin typeface="Arial" panose="020B0604020202020204" pitchFamily="34" charset="0"/>
                <a:cs typeface="Arial" panose="020B0604020202020204" pitchFamily="34" charset="0"/>
              </a:rPr>
              <a:t>Apply critical thinking for complex problem solving </a:t>
            </a:r>
          </a:p>
        </p:txBody>
      </p:sp>
      <p:pic>
        <p:nvPicPr>
          <p:cNvPr id="4" name="Picture 3" descr="Text&#10;&#10;Description automatically generated">
            <a:extLst>
              <a:ext uri="{FF2B5EF4-FFF2-40B4-BE49-F238E27FC236}">
                <a16:creationId xmlns:a16="http://schemas.microsoft.com/office/drawing/2014/main" id="{B281686C-989D-A243-985D-E5DC4D52798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280900" y="3400639"/>
            <a:ext cx="4978400" cy="3733800"/>
          </a:xfrm>
          <a:prstGeom prst="rect">
            <a:avLst/>
          </a:prstGeom>
        </p:spPr>
      </p:pic>
      <p:sp>
        <p:nvSpPr>
          <p:cNvPr id="15" name="Footer Placeholder 9">
            <a:extLst>
              <a:ext uri="{FF2B5EF4-FFF2-40B4-BE49-F238E27FC236}">
                <a16:creationId xmlns:a16="http://schemas.microsoft.com/office/drawing/2014/main" id="{E662C173-2FF3-7944-8A9C-0A468BEEA7EE}"/>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41173996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930289"/>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DISCUSS</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As a group, discuss your experiences with different approval processes at work. Why is approval to develop and implement a solution necessary even if you’ve already presented the solution to stakeholders and incorporated their feedback.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68</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
        <p:nvSpPr>
          <p:cNvPr id="15" name="Footer Placeholder 9">
            <a:extLst>
              <a:ext uri="{FF2B5EF4-FFF2-40B4-BE49-F238E27FC236}">
                <a16:creationId xmlns:a16="http://schemas.microsoft.com/office/drawing/2014/main" id="{7DF655EB-BDB5-5641-8449-D329850DC250}"/>
              </a:ext>
            </a:extLst>
          </p:cNvPr>
          <p:cNvSpPr txBox="1">
            <a:spLocks/>
          </p:cNvSpPr>
          <p:nvPr/>
        </p:nvSpPr>
        <p:spPr>
          <a:xfrm>
            <a:off x="15163800" y="9715499"/>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rgbClr val="31859C"/>
                </a:solidFill>
                <a:latin typeface="Arial" panose="020B0604020202020204" pitchFamily="34" charset="0"/>
                <a:cs typeface="Arial" panose="020B0604020202020204" pitchFamily="34" charset="0"/>
              </a:rPr>
              <a:t>© 2021 Milestones International College</a:t>
            </a:r>
          </a:p>
        </p:txBody>
      </p:sp>
    </p:spTree>
    <p:extLst>
      <p:ext uri="{BB962C8B-B14F-4D97-AF65-F5344CB8AC3E}">
        <p14:creationId xmlns:p14="http://schemas.microsoft.com/office/powerpoint/2010/main" val="7960090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2557880"/>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a look at the website explaining approval processes and their automation.</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a:t>
            </a:r>
            <a:r>
              <a:rPr lang="en-US" sz="3000" spc="25" dirty="0">
                <a:solidFill>
                  <a:schemeClr val="bg1"/>
                </a:solidFill>
                <a:latin typeface="Arial" panose="020B0604020202020204" pitchFamily="34" charset="0"/>
                <a:cs typeface="Arial" panose="020B0604020202020204" pitchFamily="34" charset="0"/>
                <a:hlinkClick r:id="rId3"/>
              </a:rPr>
              <a:t>https://www.smartsheet.com/approval-process-workflow</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69</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22013015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680623"/>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BARRIERS TO EFFECTIVE DECISION MAKING</a:t>
            </a:r>
          </a:p>
          <a:p>
            <a:pPr>
              <a:lnSpc>
                <a:spcPct val="114000"/>
              </a:lnSpc>
              <a:spcBef>
                <a:spcPts val="600"/>
              </a:spcBef>
              <a:spcAft>
                <a:spcPts val="600"/>
              </a:spcAft>
            </a:pPr>
            <a:endParaRPr lang="en-US" sz="32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REFLECT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Think back to topic 1 were the decision-making process was mentioned for the first time. Why should you follow a systematic decision-making process? As you’ve worked through the contents of this course, can you see the benefits?</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70</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2501440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3084178"/>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READ</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a look at the website outlining barriers to effective decision-making.</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Website: </a:t>
            </a:r>
            <a:r>
              <a:rPr lang="en-US" sz="3000" spc="25" dirty="0">
                <a:solidFill>
                  <a:schemeClr val="bg1"/>
                </a:solidFill>
                <a:latin typeface="Arial" panose="020B0604020202020204" pitchFamily="34" charset="0"/>
                <a:cs typeface="Arial" panose="020B0604020202020204" pitchFamily="34" charset="0"/>
                <a:hlinkClick r:id="rId3"/>
              </a:rPr>
              <a:t>https://www.proschoolonline.com/blog/hurdles-faced-effective-decision-making</a:t>
            </a:r>
            <a:r>
              <a:rPr lang="en-US" sz="3000" spc="25" dirty="0">
                <a:solidFill>
                  <a:schemeClr val="bg1"/>
                </a:solidFill>
                <a:latin typeface="Arial" panose="020B0604020202020204" pitchFamily="34" charset="0"/>
                <a:cs typeface="Arial" panose="020B0604020202020204" pitchFamily="34" charset="0"/>
              </a:rPr>
              <a:t> </a:t>
            </a: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Take notes and keep them for future reference.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71</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36522786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19750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REFLECT</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Have you experienced any of the barriers mentioned in the article?</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72</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1737395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31859C"/>
        </a:solidFill>
        <a:effectLst/>
      </p:bgPr>
    </p:bg>
    <p:spTree>
      <p:nvGrpSpPr>
        <p:cNvPr id="1" name=""/>
        <p:cNvGrpSpPr/>
        <p:nvPr/>
      </p:nvGrpSpPr>
      <p:grpSpPr>
        <a:xfrm>
          <a:off x="0" y="0"/>
          <a:ext cx="0" cy="0"/>
          <a:chOff x="0" y="0"/>
          <a:chExt cx="0" cy="0"/>
        </a:xfrm>
      </p:grpSpPr>
      <p:sp>
        <p:nvSpPr>
          <p:cNvPr id="2" name="AutoShape 2"/>
          <p:cNvSpPr/>
          <p:nvPr/>
        </p:nvSpPr>
        <p:spPr>
          <a:xfrm>
            <a:off x="0" y="7886700"/>
            <a:ext cx="18288000" cy="1621070"/>
          </a:xfrm>
          <a:prstGeom prst="rect">
            <a:avLst/>
          </a:prstGeom>
          <a:solidFill>
            <a:schemeClr val="bg1"/>
          </a:solidFill>
        </p:spPr>
      </p:sp>
      <p:sp>
        <p:nvSpPr>
          <p:cNvPr id="4" name="TextBox 4"/>
          <p:cNvSpPr txBox="1"/>
          <p:nvPr/>
        </p:nvSpPr>
        <p:spPr>
          <a:xfrm>
            <a:off x="2209800" y="1676834"/>
            <a:ext cx="14935200" cy="1197507"/>
          </a:xfrm>
          <a:prstGeom prst="rect">
            <a:avLst/>
          </a:prstGeom>
        </p:spPr>
        <p:txBody>
          <a:bodyPr wrap="square" lIns="0" tIns="0" rIns="0" bIns="0" rtlCol="0" anchor="t">
            <a:spAutoFit/>
          </a:bodyPr>
          <a:lstStyle/>
          <a:p>
            <a:pPr>
              <a:lnSpc>
                <a:spcPct val="114000"/>
              </a:lnSpc>
              <a:spcBef>
                <a:spcPts val="600"/>
              </a:spcBef>
              <a:spcAft>
                <a:spcPts val="600"/>
              </a:spcAft>
            </a:pPr>
            <a:r>
              <a:rPr lang="en-US" sz="3200" b="1" spc="200" dirty="0">
                <a:solidFill>
                  <a:schemeClr val="bg1"/>
                </a:solidFill>
                <a:latin typeface="Arial" panose="020B0604020202020204" pitchFamily="34" charset="0"/>
                <a:cs typeface="Arial" panose="020B0604020202020204" pitchFamily="34" charset="0"/>
              </a:rPr>
              <a:t>ACTIVITY: DEVELOP</a:t>
            </a:r>
            <a:endParaRPr lang="en-US" sz="2500" b="1" spc="200" dirty="0">
              <a:solidFill>
                <a:schemeClr val="bg1"/>
              </a:solidFill>
              <a:latin typeface="Arial" panose="020B0604020202020204" pitchFamily="34" charset="0"/>
              <a:cs typeface="Arial" panose="020B0604020202020204" pitchFamily="34" charset="0"/>
            </a:endParaRPr>
          </a:p>
          <a:p>
            <a:pPr>
              <a:lnSpc>
                <a:spcPct val="114000"/>
              </a:lnSpc>
              <a:spcBef>
                <a:spcPts val="600"/>
              </a:spcBef>
              <a:spcAft>
                <a:spcPts val="600"/>
              </a:spcAft>
            </a:pPr>
            <a:r>
              <a:rPr lang="en-US" sz="3000" spc="25" dirty="0">
                <a:solidFill>
                  <a:schemeClr val="bg1"/>
                </a:solidFill>
                <a:latin typeface="Arial" panose="020B0604020202020204" pitchFamily="34" charset="0"/>
                <a:cs typeface="Arial" panose="020B0604020202020204" pitchFamily="34" charset="0"/>
              </a:rPr>
              <a:t>Continue with the concept you refined in the previous “Develop” activity. </a:t>
            </a:r>
          </a:p>
        </p:txBody>
      </p:sp>
      <p:grpSp>
        <p:nvGrpSpPr>
          <p:cNvPr id="17" name="Group 16">
            <a:extLst>
              <a:ext uri="{FF2B5EF4-FFF2-40B4-BE49-F238E27FC236}">
                <a16:creationId xmlns:a16="http://schemas.microsoft.com/office/drawing/2014/main" id="{9BC53F16-C04B-4406-BBF9-D518BC5BACFE}"/>
              </a:ext>
            </a:extLst>
          </p:cNvPr>
          <p:cNvGrpSpPr/>
          <p:nvPr/>
        </p:nvGrpSpPr>
        <p:grpSpPr>
          <a:xfrm>
            <a:off x="1028700" y="495300"/>
            <a:ext cx="17259300" cy="218203"/>
            <a:chOff x="1028700" y="723900"/>
            <a:chExt cx="17259300" cy="218203"/>
          </a:xfrm>
          <a:solidFill>
            <a:schemeClr val="bg1"/>
          </a:solidFill>
        </p:grpSpPr>
        <p:sp>
          <p:nvSpPr>
            <p:cNvPr id="6" name="AutoShape 6"/>
            <p:cNvSpPr/>
            <p:nvPr/>
          </p:nvSpPr>
          <p:spPr>
            <a:xfrm>
              <a:off x="1044000" y="826884"/>
              <a:ext cx="17244000" cy="20795"/>
            </a:xfrm>
            <a:prstGeom prst="rect">
              <a:avLst/>
            </a:prstGeom>
            <a:grpFill/>
          </p:spPr>
        </p:sp>
        <p:sp>
          <p:nvSpPr>
            <p:cNvPr id="7" name="AutoShape 7"/>
            <p:cNvSpPr/>
            <p:nvPr/>
          </p:nvSpPr>
          <p:spPr>
            <a:xfrm>
              <a:off x="1028700" y="723900"/>
              <a:ext cx="219025" cy="209643"/>
            </a:xfrm>
            <a:prstGeom prst="rect">
              <a:avLst/>
            </a:prstGeom>
            <a:grpFill/>
          </p:spPr>
        </p:sp>
        <p:sp>
          <p:nvSpPr>
            <p:cNvPr id="8" name="AutoShape 8"/>
            <p:cNvSpPr/>
            <p:nvPr/>
          </p:nvSpPr>
          <p:spPr>
            <a:xfrm>
              <a:off x="6856574" y="732460"/>
              <a:ext cx="219025" cy="209643"/>
            </a:xfrm>
            <a:prstGeom prst="rect">
              <a:avLst/>
            </a:prstGeom>
            <a:grpFill/>
          </p:spPr>
        </p:sp>
        <p:sp>
          <p:nvSpPr>
            <p:cNvPr id="9" name="AutoShape 9"/>
            <p:cNvSpPr/>
            <p:nvPr/>
          </p:nvSpPr>
          <p:spPr>
            <a:xfrm>
              <a:off x="12684448" y="732460"/>
              <a:ext cx="219025" cy="209643"/>
            </a:xfrm>
            <a:prstGeom prst="rect">
              <a:avLst/>
            </a:prstGeom>
            <a:grpFill/>
          </p:spPr>
        </p:sp>
      </p:grpSp>
      <p:pic>
        <p:nvPicPr>
          <p:cNvPr id="12" name="Graphic 11" descr="Head with gears">
            <a:extLst>
              <a:ext uri="{FF2B5EF4-FFF2-40B4-BE49-F238E27FC236}">
                <a16:creationId xmlns:a16="http://schemas.microsoft.com/office/drawing/2014/main" id="{24660D36-8AF2-4286-AAA9-78D28F426C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3741" y="1676834"/>
            <a:ext cx="1207968" cy="1207968"/>
          </a:xfrm>
          <a:prstGeom prst="rect">
            <a:avLst/>
          </a:prstGeom>
        </p:spPr>
      </p:pic>
      <p:sp>
        <p:nvSpPr>
          <p:cNvPr id="14" name="Slide Number Placeholder 10">
            <a:extLst>
              <a:ext uri="{FF2B5EF4-FFF2-40B4-BE49-F238E27FC236}">
                <a16:creationId xmlns:a16="http://schemas.microsoft.com/office/drawing/2014/main" id="{2CC8EE72-4EB2-A843-A602-EEAF09A8A808}"/>
              </a:ext>
            </a:extLst>
          </p:cNvPr>
          <p:cNvSpPr txBox="1">
            <a:spLocks/>
          </p:cNvSpPr>
          <p:nvPr/>
        </p:nvSpPr>
        <p:spPr>
          <a:xfrm>
            <a:off x="17526000" y="164563"/>
            <a:ext cx="478452" cy="34785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b="1" smtClean="0">
                <a:solidFill>
                  <a:schemeClr val="bg1"/>
                </a:solidFill>
                <a:latin typeface="Arial" panose="020B0604020202020204" pitchFamily="34" charset="0"/>
                <a:cs typeface="Arial" panose="020B0604020202020204" pitchFamily="34" charset="0"/>
              </a:rPr>
              <a:pPr/>
              <a:t>73</a:t>
            </a:fld>
            <a:endParaRPr lang="en-US" b="1" dirty="0">
              <a:solidFill>
                <a:schemeClr val="bg1"/>
              </a:solidFill>
              <a:latin typeface="Arial" panose="020B0604020202020204" pitchFamily="34" charset="0"/>
              <a:cs typeface="Arial" panose="020B0604020202020204" pitchFamily="34" charset="0"/>
            </a:endParaRPr>
          </a:p>
        </p:txBody>
      </p:sp>
      <p:sp>
        <p:nvSpPr>
          <p:cNvPr id="16" name="Footer Placeholder 9">
            <a:extLst>
              <a:ext uri="{FF2B5EF4-FFF2-40B4-BE49-F238E27FC236}">
                <a16:creationId xmlns:a16="http://schemas.microsoft.com/office/drawing/2014/main" id="{0FAC493E-3CDD-2944-861A-BB9FAC90517D}"/>
              </a:ext>
            </a:extLst>
          </p:cNvPr>
          <p:cNvSpPr>
            <a:spLocks noGrp="1"/>
          </p:cNvSpPr>
          <p:nvPr>
            <p:ph type="ftr" sz="quarter" idx="11"/>
          </p:nvPr>
        </p:nvSpPr>
        <p:spPr>
          <a:xfrm>
            <a:off x="533400" y="9715499"/>
            <a:ext cx="6019800" cy="442894"/>
          </a:xfrm>
        </p:spPr>
        <p:txBody>
          <a:bodyPr/>
          <a:lstStyle/>
          <a:p>
            <a:pPr algn="l"/>
            <a:r>
              <a:rPr lang="en-US" b="1" dirty="0">
                <a:solidFill>
                  <a:schemeClr val="bg1"/>
                </a:solidFill>
                <a:latin typeface="Arial" panose="020B0604020202020204" pitchFamily="34" charset="0"/>
                <a:cs typeface="Arial" panose="020B0604020202020204" pitchFamily="34" charset="0"/>
              </a:rPr>
              <a:t>BSBCRT611 </a:t>
            </a:r>
            <a:r>
              <a:rPr lang="en-US" dirty="0">
                <a:solidFill>
                  <a:schemeClr val="bg1"/>
                </a:solidFill>
                <a:latin typeface="Arial" panose="020B0604020202020204" pitchFamily="34" charset="0"/>
                <a:cs typeface="Arial" panose="020B0604020202020204" pitchFamily="34" charset="0"/>
              </a:rPr>
              <a:t>Apply critical thinking for complex problem solving </a:t>
            </a:r>
          </a:p>
        </p:txBody>
      </p:sp>
      <p:sp>
        <p:nvSpPr>
          <p:cNvPr id="19" name="TextBox 3">
            <a:extLst>
              <a:ext uri="{FF2B5EF4-FFF2-40B4-BE49-F238E27FC236}">
                <a16:creationId xmlns:a16="http://schemas.microsoft.com/office/drawing/2014/main" id="{0FD62B4A-3B0D-8A4F-B83E-75957ADC82B4}"/>
              </a:ext>
            </a:extLst>
          </p:cNvPr>
          <p:cNvSpPr txBox="1"/>
          <p:nvPr/>
        </p:nvSpPr>
        <p:spPr>
          <a:xfrm>
            <a:off x="990600" y="7962900"/>
            <a:ext cx="16745495" cy="1435906"/>
          </a:xfrm>
          <a:prstGeom prst="rect">
            <a:avLst/>
          </a:prstGeom>
        </p:spPr>
        <p:txBody>
          <a:bodyPr wrap="square" lIns="0" tIns="0" rIns="0" bIns="0" rtlCol="0" anchor="t">
            <a:spAutoFit/>
          </a:bodyPr>
          <a:lstStyle/>
          <a:p>
            <a:pPr algn="r">
              <a:lnSpc>
                <a:spcPts val="5759"/>
              </a:lnSpc>
            </a:pPr>
            <a:r>
              <a:rPr lang="en-US" sz="4600" spc="192" dirty="0">
                <a:solidFill>
                  <a:srgbClr val="31859C"/>
                </a:solidFill>
                <a:latin typeface="Arial" panose="020B0604020202020204" pitchFamily="34" charset="0"/>
                <a:cs typeface="Arial" panose="020B0604020202020204" pitchFamily="34" charset="0"/>
              </a:rPr>
              <a:t>Topic 3: A critical thinking approach to making and reviewing decisions</a:t>
            </a:r>
          </a:p>
        </p:txBody>
      </p:sp>
    </p:spTree>
    <p:extLst>
      <p:ext uri="{BB962C8B-B14F-4D97-AF65-F5344CB8AC3E}">
        <p14:creationId xmlns:p14="http://schemas.microsoft.com/office/powerpoint/2010/main" val="2260583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4849</Words>
  <Application>Microsoft Macintosh PowerPoint</Application>
  <PresentationFormat>Custom</PresentationFormat>
  <Paragraphs>556</Paragraphs>
  <Slides>73</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Calibri</vt:lpstr>
      <vt:lpstr>Arial</vt:lpstr>
      <vt:lpstr>Montserrat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campat10@hotmail.com</cp:lastModifiedBy>
  <cp:revision>111</cp:revision>
  <dcterms:created xsi:type="dcterms:W3CDTF">2006-08-16T00:00:00Z</dcterms:created>
  <dcterms:modified xsi:type="dcterms:W3CDTF">2021-07-05T02:50:14Z</dcterms:modified>
  <dc:identifier>DADyeL1zUHA</dc:identifier>
</cp:coreProperties>
</file>