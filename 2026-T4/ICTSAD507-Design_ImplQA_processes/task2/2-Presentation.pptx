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4" r:id="rId1"/>
  </p:sldMasterIdLst>
  <p:notesMasterIdLst>
    <p:notesMasterId r:id="rId17"/>
  </p:notesMasterIdLst>
  <p:sldIdLst>
    <p:sldId id="257" r:id="rId2"/>
    <p:sldId id="258" r:id="rId3"/>
    <p:sldId id="259" r:id="rId4"/>
    <p:sldId id="260" r:id="rId5"/>
    <p:sldId id="267" r:id="rId6"/>
    <p:sldId id="268" r:id="rId7"/>
    <p:sldId id="269" r:id="rId8"/>
    <p:sldId id="270" r:id="rId9"/>
    <p:sldId id="261" r:id="rId10"/>
    <p:sldId id="262" r:id="rId11"/>
    <p:sldId id="263" r:id="rId12"/>
    <p:sldId id="264" r:id="rId13"/>
    <p:sldId id="265" r:id="rId14"/>
    <p:sldId id="266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21"/>
    <p:restoredTop sz="94707"/>
  </p:normalViewPr>
  <p:slideViewPr>
    <p:cSldViewPr snapToGrid="0">
      <p:cViewPr varScale="1">
        <p:scale>
          <a:sx n="75" d="100"/>
          <a:sy n="75" d="100"/>
        </p:scale>
        <p:origin x="192" y="1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A45CFF-950A-4041-8C74-DADB5D97DAF6}" type="datetimeFigureOut">
              <a:rPr lang="en-AU" smtClean="0"/>
              <a:t>17/10/2026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8FFF2-C073-EF4D-8574-2A01AE9B0B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684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C7BCD-1F5A-49FC-B325-D7B500CBA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792D8E-939B-2E4A-5DC6-E6ED111406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0D2DB5-A3E3-E5B9-C97D-DD728CE18E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65D9C6-BA3C-31ED-4F62-EE7E56EA6B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648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6E21C-9782-6BF5-9EE4-0C67B2058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4DE1A0-9D16-4336-B4EB-17170B5077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D135FD-8E20-928F-D4C1-3C750DFC05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1D1C4-0BD1-1DE4-E2BE-AB4447F9D2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1488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52119-3F6C-6257-CB51-AEF7DB797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51D8BE-692F-18E3-0C9F-036E661798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6A5700-6F77-A130-6A30-1D84156DF8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B115EF-0748-8C3C-14B4-BE1892ECC1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9812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2BFFA-7138-03B8-430E-8A5F2959F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6014F1-D96E-0093-69D9-DE7C5C6F10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4E8BB9-0D10-5138-2ECD-225352A141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9DF79A-A23C-96E7-3A84-489727892B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7732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3F85AFC-B25C-9A42-9D1F-183747EA9F71}" type="datetimeFigureOut">
              <a:rPr lang="en-AU" smtClean="0"/>
              <a:t>17/10/2026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AE496C9A-7638-C247-96BF-57A882EA367A}" type="slidenum">
              <a:rPr lang="en-AU" smtClean="0"/>
              <a:t>‹#›</a:t>
            </a:fld>
            <a:endParaRPr lang="en-A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71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5AFC-B25C-9A42-9D1F-183747EA9F71}" type="datetimeFigureOut">
              <a:rPr lang="en-AU" smtClean="0"/>
              <a:t>17/10/2026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96C9A-7638-C247-96BF-57A882EA367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2326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5AFC-B25C-9A42-9D1F-183747EA9F71}" type="datetimeFigureOut">
              <a:rPr lang="en-AU" smtClean="0"/>
              <a:t>17/10/2026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96C9A-7638-C247-96BF-57A882EA367A}" type="slidenum">
              <a:rPr lang="en-AU" smtClean="0"/>
              <a:t>‹#›</a:t>
            </a:fld>
            <a:endParaRPr lang="en-AU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031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5AFC-B25C-9A42-9D1F-183747EA9F71}" type="datetimeFigureOut">
              <a:rPr lang="en-AU" smtClean="0"/>
              <a:t>17/10/2026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96C9A-7638-C247-96BF-57A882EA367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0699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5AFC-B25C-9A42-9D1F-183747EA9F71}" type="datetimeFigureOut">
              <a:rPr lang="en-AU" smtClean="0"/>
              <a:t>17/10/2026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96C9A-7638-C247-96BF-57A882EA367A}" type="slidenum">
              <a:rPr lang="en-AU" smtClean="0"/>
              <a:t>‹#›</a:t>
            </a:fld>
            <a:endParaRPr lang="en-AU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1695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5AFC-B25C-9A42-9D1F-183747EA9F71}" type="datetimeFigureOut">
              <a:rPr lang="en-AU" smtClean="0"/>
              <a:t>17/10/2026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96C9A-7638-C247-96BF-57A882EA367A}" type="slidenum">
              <a:rPr lang="en-AU" smtClean="0"/>
              <a:t>‹#›</a:t>
            </a:fld>
            <a:endParaRPr lang="en-A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6396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5AFC-B25C-9A42-9D1F-183747EA9F71}" type="datetimeFigureOut">
              <a:rPr lang="en-AU" smtClean="0"/>
              <a:t>17/10/2026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96C9A-7638-C247-96BF-57A882EA367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9618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5AFC-B25C-9A42-9D1F-183747EA9F71}" type="datetimeFigureOut">
              <a:rPr lang="en-AU" smtClean="0"/>
              <a:t>17/10/2026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96C9A-7638-C247-96BF-57A882EA367A}" type="slidenum">
              <a:rPr lang="en-AU" smtClean="0"/>
              <a:t>‹#›</a:t>
            </a:fld>
            <a:endParaRPr lang="en-A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387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5AFC-B25C-9A42-9D1F-183747EA9F71}" type="datetimeFigureOut">
              <a:rPr lang="en-AU" smtClean="0"/>
              <a:t>17/10/2026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96C9A-7638-C247-96BF-57A882EA367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2958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5AFC-B25C-9A42-9D1F-183747EA9F71}" type="datetimeFigureOut">
              <a:rPr lang="en-AU" smtClean="0"/>
              <a:t>17/10/2026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96C9A-7638-C247-96BF-57A882EA367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1204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5AFC-B25C-9A42-9D1F-183747EA9F71}" type="datetimeFigureOut">
              <a:rPr lang="en-AU" smtClean="0"/>
              <a:t>17/10/2026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96C9A-7638-C247-96BF-57A882EA367A}" type="slidenum">
              <a:rPr lang="en-AU" smtClean="0"/>
              <a:t>‹#›</a:t>
            </a:fld>
            <a:endParaRPr lang="en-A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5487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5AFC-B25C-9A42-9D1F-183747EA9F71}" type="datetimeFigureOut">
              <a:rPr lang="en-AU" smtClean="0"/>
              <a:t>17/10/2026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96C9A-7638-C247-96BF-57A882EA367A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4516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5AFC-B25C-9A42-9D1F-183747EA9F71}" type="datetimeFigureOut">
              <a:rPr lang="en-AU" smtClean="0"/>
              <a:t>17/10/2026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96C9A-7638-C247-96BF-57A882EA367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77813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5AFC-B25C-9A42-9D1F-183747EA9F71}" type="datetimeFigureOut">
              <a:rPr lang="en-AU" smtClean="0"/>
              <a:t>17/10/2026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96C9A-7638-C247-96BF-57A882EA367A}" type="slidenum">
              <a:rPr lang="en-AU" smtClean="0"/>
              <a:t>‹#›</a:t>
            </a:fld>
            <a:endParaRPr lang="en-AU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62113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5AFC-B25C-9A42-9D1F-183747EA9F71}" type="datetimeFigureOut">
              <a:rPr lang="en-AU" smtClean="0"/>
              <a:t>17/10/2026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96C9A-7638-C247-96BF-57A882EA367A}" type="slidenum">
              <a:rPr lang="en-AU" smtClean="0"/>
              <a:t>‹#›</a:t>
            </a:fld>
            <a:endParaRPr lang="en-A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32153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5AFC-B25C-9A42-9D1F-183747EA9F71}" type="datetimeFigureOut">
              <a:rPr lang="en-AU" smtClean="0"/>
              <a:t>17/10/2026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96C9A-7638-C247-96BF-57A882EA367A}" type="slidenum">
              <a:rPr lang="en-AU" smtClean="0"/>
              <a:t>‹#›</a:t>
            </a:fld>
            <a:endParaRPr lang="en-A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88913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5AFC-B25C-9A42-9D1F-183747EA9F71}" type="datetimeFigureOut">
              <a:rPr lang="en-AU" smtClean="0"/>
              <a:t>17/10/2026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96C9A-7638-C247-96BF-57A882EA367A}" type="slidenum">
              <a:rPr lang="en-AU" smtClean="0"/>
              <a:t>‹#›</a:t>
            </a:fld>
            <a:endParaRPr lang="en-AU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02813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188720"/>
            <a:ext cx="1069848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840480"/>
            <a:ext cx="106984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512106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463040"/>
            <a:ext cx="11064240" cy="47548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1630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765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3F85AFC-B25C-9A42-9D1F-183747EA9F71}" type="datetimeFigureOut">
              <a:rPr lang="en-AU" smtClean="0"/>
              <a:t>17/10/2026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E496C9A-7638-C247-96BF-57A882EA367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3792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  <p:sldLayoutId id="2147483796" r:id="rId12"/>
    <p:sldLayoutId id="2147483797" r:id="rId13"/>
    <p:sldLayoutId id="2147483798" r:id="rId14"/>
    <p:sldLayoutId id="2147483799" r:id="rId15"/>
    <p:sldLayoutId id="2147483800" r:id="rId16"/>
    <p:sldLayoutId id="2147483801" r:id="rId17"/>
    <p:sldLayoutId id="2147483802" r:id="rId18"/>
    <p:sldLayoutId id="2147483803" r:id="rId19"/>
    <p:sldLayoutId id="2147483804" r:id="rId20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731520" y="118872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r>
              <a:rPr lang="en-US" dirty="0"/>
              <a:t>New Website Quality Management Plan</a:t>
            </a: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/>
          </p:nvPr>
        </p:nvSpPr>
        <p:spPr>
          <a:xfrm>
            <a:off x="659745" y="5342374"/>
            <a:ext cx="6888480" cy="812800"/>
          </a:xfrm>
          <a:prstGeom prst="rect">
            <a:avLst/>
          </a:prstGeom>
          <a:noFill/>
          <a:ln/>
        </p:spPr>
        <p:txBody>
          <a:bodyPr wrap="square" rtlCol="0" anchor="t">
            <a:normAutofit fontScale="70000" lnSpcReduction="20000"/>
          </a:bodyPr>
          <a:lstStyle/>
          <a:p>
            <a:pPr marL="0" indent="0" algn="l">
              <a:spcAft>
                <a:spcPts val="800"/>
              </a:spcAft>
              <a:buNone/>
            </a:pP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By: Manuel P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chemeClr val="tx1"/>
                </a:solidFill>
              </a:rPr>
              <a:t>Date: 16/10/2026</a:t>
            </a: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E09E9C-008A-2C70-2598-6BC6BDF727DD}"/>
              </a:ext>
            </a:extLst>
          </p:cNvPr>
          <p:cNvSpPr txBox="1"/>
          <p:nvPr/>
        </p:nvSpPr>
        <p:spPr>
          <a:xfrm>
            <a:off x="731520" y="1188720"/>
            <a:ext cx="6096000" cy="288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1">
              <a:lnSpc>
                <a:spcPct val="100000"/>
              </a:lnSpc>
              <a:buNone/>
            </a:pPr>
            <a:r>
              <a:rPr lang="en-AU" b="0" i="0" dirty="0">
                <a:solidFill>
                  <a:schemeClr val="tx1"/>
                </a:solidFill>
                <a:effectLst/>
                <a:latin typeface="+mn-lt"/>
              </a:rPr>
              <a:t>ICTSAD507 Assessment Task 2: Project Portfolio</a:t>
            </a:r>
            <a:endParaRPr lang="en-AU" b="0" i="0" dirty="0">
              <a:solidFill>
                <a:srgbClr val="FFFFFF"/>
              </a:solidFill>
              <a:effectLst/>
              <a:latin typeface="Roboto Flex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FF8862-E735-2117-A3C4-5BD5C01A982B}"/>
              </a:ext>
            </a:extLst>
          </p:cNvPr>
          <p:cNvSpPr txBox="1"/>
          <p:nvPr/>
        </p:nvSpPr>
        <p:spPr>
          <a:xfrm>
            <a:off x="7895250" y="5748774"/>
            <a:ext cx="385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Milestones IC | Advance Diploma of 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Why quality matters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/>
          </p:nvPr>
        </p:nvSpPr>
        <p:spPr>
          <a:xfrm>
            <a:off x="629920" y="1440180"/>
            <a:ext cx="42164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SWOT analysis identifies the </a:t>
            </a:r>
            <a:r>
              <a:rPr lang="en-US" sz="1800" b="1" dirty="0">
                <a:solidFill>
                  <a:schemeClr val="tx1"/>
                </a:solidFill>
              </a:rPr>
              <a:t>lack of a clear quality management system</a:t>
            </a:r>
            <a:r>
              <a:rPr lang="en-US" sz="1800" dirty="0">
                <a:solidFill>
                  <a:schemeClr val="tx1"/>
                </a:solidFill>
              </a:rPr>
              <a:t> as a weakness</a:t>
            </a:r>
            <a:endParaRPr lang="en-US" sz="18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College maintains quality in compliance with the </a:t>
            </a:r>
            <a:r>
              <a:rPr lang="en-US" sz="1800" b="1" dirty="0">
                <a:solidFill>
                  <a:schemeClr val="tx1"/>
                </a:solidFill>
              </a:rPr>
              <a:t>national VET Quality Framework</a:t>
            </a:r>
            <a:r>
              <a:rPr lang="en-US" sz="1800" dirty="0">
                <a:solidFill>
                  <a:schemeClr val="tx1"/>
                </a:solidFill>
              </a:rPr>
              <a:t> and through its </a:t>
            </a:r>
            <a:r>
              <a:rPr lang="en-US" sz="1800" b="1" dirty="0">
                <a:solidFill>
                  <a:schemeClr val="tx1"/>
                </a:solidFill>
              </a:rPr>
              <a:t>continuous improvement system</a:t>
            </a:r>
            <a:endParaRPr lang="en-US" sz="18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Strategic Objective 2: </a:t>
            </a:r>
            <a:r>
              <a:rPr lang="en-US" sz="1800" i="1" dirty="0">
                <a:solidFill>
                  <a:schemeClr val="tx1"/>
                </a:solidFill>
              </a:rPr>
              <a:t>"To establish and maintain high quality infrastructure supporting clients and staff"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4" name="Picture 3" descr="Supporting Hands Foundation (@SupportingHandsFoundation) • Facebook">
            <a:extLst>
              <a:ext uri="{FF2B5EF4-FFF2-40B4-BE49-F238E27FC236}">
                <a16:creationId xmlns:a16="http://schemas.microsoft.com/office/drawing/2014/main" id="{1D201537-974A-794D-2DDE-96A18336F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861135"/>
            <a:ext cx="5059680" cy="5059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enchmark - Free business and finance icons">
            <a:extLst>
              <a:ext uri="{FF2B5EF4-FFF2-40B4-BE49-F238E27FC236}">
                <a16:creationId xmlns:a16="http://schemas.microsoft.com/office/drawing/2014/main" id="{139DA43F-F826-324D-A34D-E3A00CE2F76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6379285" y="990600"/>
            <a:ext cx="4876800" cy="4876800"/>
          </a:xfrm>
          <a:prstGeom prst="rect">
            <a:avLst/>
          </a:prstGeom>
        </p:spPr>
      </p:pic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Legislation and benchmarks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3" name="Legislation list"/>
          <p:cNvSpPr txBox="1"/>
          <p:nvPr/>
        </p:nvSpPr>
        <p:spPr>
          <a:xfrm>
            <a:off x="548640" y="1463040"/>
            <a:ext cx="53035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Legislation our IT quality processes must support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Privacy Act 1988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Copyright Act 1968 and Copyright (International Protection) Regulations 1969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Australian Consumer Law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Work Health and Safety Act 2011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Corporations Act 2001</a:t>
            </a:r>
            <a:endParaRPr lang="en-US" sz="1800" dirty="0"/>
          </a:p>
        </p:txBody>
      </p:sp>
      <p:sp>
        <p:nvSpPr>
          <p:cNvPr id="4" name="Benchmarks heading"/>
          <p:cNvSpPr txBox="1"/>
          <p:nvPr/>
        </p:nvSpPr>
        <p:spPr>
          <a:xfrm>
            <a:off x="6309360" y="146304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/>
              <a:t>B</a:t>
            </a:r>
            <a:r>
              <a:rPr lang="en-US" sz="1800" b="1" dirty="0">
                <a:solidFill>
                  <a:schemeClr val="tx1"/>
                </a:solidFill>
              </a:rPr>
              <a:t>enchmarks</a:t>
            </a:r>
            <a:endParaRPr lang="en-US" sz="1800" dirty="0"/>
          </a:p>
        </p:txBody>
      </p:sp>
      <p:graphicFrame>
        <p:nvGraphicFramePr>
          <p:cNvPr id="5" name="Benchmarks table"/>
          <p:cNvGraphicFramePr>
            <a:graphicFrameLocks noGrp="1"/>
          </p:cNvGraphicFramePr>
          <p:nvPr/>
        </p:nvGraphicFramePr>
        <p:xfrm>
          <a:off x="6309360" y="2377440"/>
          <a:ext cx="5303520" cy="22860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Benchmark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Target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Annual profit increases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10%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Employee turnover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Less than 10%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Customer complaints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Less than 5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New ideas implemented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 each year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ook Icon PNG Images, Vectors Free Download - Pngtree">
            <a:extLst>
              <a:ext uri="{FF2B5EF4-FFF2-40B4-BE49-F238E27FC236}">
                <a16:creationId xmlns:a16="http://schemas.microsoft.com/office/drawing/2014/main" id="{6992D66E-85C8-3915-201D-4108A9ED70B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rcRect l="7393" t="21278" r="8236" b="20645"/>
          <a:stretch>
            <a:fillRect/>
          </a:stretch>
        </p:blipFill>
        <p:spPr>
          <a:xfrm rot="1871321">
            <a:off x="6845985" y="2426278"/>
            <a:ext cx="4049768" cy="2787690"/>
          </a:xfrm>
          <a:prstGeom prst="rect">
            <a:avLst/>
          </a:prstGeom>
        </p:spPr>
      </p:pic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Quality management system and plan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/>
          </p:nvPr>
        </p:nvSpPr>
        <p:spPr>
          <a:xfrm>
            <a:off x="548640" y="1463040"/>
            <a:ext cx="565551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spcAft>
                <a:spcPts val="800"/>
              </a:spcAft>
              <a:buSzPct val="100000"/>
            </a:pPr>
            <a:r>
              <a:rPr lang="en-US" sz="1800" b="1" dirty="0">
                <a:solidFill>
                  <a:schemeClr val="tx1"/>
                </a:solidFill>
              </a:rPr>
              <a:t>Suitable system:</a:t>
            </a:r>
            <a:r>
              <a:rPr lang="en-US" sz="1800" dirty="0">
                <a:solidFill>
                  <a:schemeClr val="tx1"/>
                </a:solidFill>
              </a:rPr>
              <a:t> ISO 9000 (ISO 9001), first in the IT department, then across the College</a:t>
            </a:r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endParaRPr lang="en-US" sz="18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endParaRPr lang="en-US" sz="1800" dirty="0"/>
          </a:p>
          <a:p>
            <a:pPr>
              <a:spcAft>
                <a:spcPts val="800"/>
              </a:spcAft>
              <a:buSzPct val="100000"/>
            </a:pPr>
            <a:r>
              <a:rPr lang="en-AU" b="1" dirty="0"/>
              <a:t>Purpose:</a:t>
            </a:r>
            <a:br>
              <a:rPr lang="en-AU" dirty="0"/>
            </a:br>
            <a:r>
              <a:rPr lang="en-AU" dirty="0"/>
              <a:t>This plan provides a formal framework for ensuring quality throughout the new website project. It has two components 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AU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BB8C4-28BF-A5D2-747C-572036220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rocess Arrow Vector Art, Icons, and Graphics for Free Download">
            <a:extLst>
              <a:ext uri="{FF2B5EF4-FFF2-40B4-BE49-F238E27FC236}">
                <a16:creationId xmlns:a16="http://schemas.microsoft.com/office/drawing/2014/main" id="{5FDDEFF8-FA83-34BE-03C7-00B2917CE0B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6000"/>
          </a:blip>
          <a:stretch>
            <a:fillRect/>
          </a:stretch>
        </p:blipFill>
        <p:spPr>
          <a:xfrm>
            <a:off x="548640" y="1463040"/>
            <a:ext cx="7666990" cy="3833495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62FC7FDB-F333-17E0-6CF9-0BD23F09A217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Quality management system and plan</a:t>
            </a:r>
            <a:endParaRPr lang="en-US" sz="32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674EC54C-2138-F7D9-FEF9-8729F0018AD8}"/>
              </a:ext>
            </a:extLst>
          </p:cNvPr>
          <p:cNvSpPr>
            <a:spLocks noGrp="1"/>
          </p:cNvSpPr>
          <p:nvPr>
            <p:ph type="body" idx="101"/>
          </p:nvPr>
        </p:nvSpPr>
        <p:spPr>
          <a:xfrm>
            <a:off x="548640" y="1463040"/>
            <a:ext cx="42900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0"/>
            <a:r>
              <a:rPr lang="en-AU" b="1" dirty="0"/>
              <a:t>Deliverables:</a:t>
            </a:r>
            <a:r>
              <a:rPr lang="en-AU" dirty="0"/>
              <a:t> website design, website content, online enrolment form, accounting system integration, students only area/LMS link, IT department training.</a:t>
            </a:r>
          </a:p>
          <a:p>
            <a:pPr lvl="0"/>
            <a:endParaRPr lang="en-AU" dirty="0"/>
          </a:p>
          <a:p>
            <a:pPr lvl="0"/>
            <a:endParaRPr lang="en-AU" dirty="0"/>
          </a:p>
          <a:p>
            <a:pPr lvl="0"/>
            <a:endParaRPr lang="en-AU" dirty="0"/>
          </a:p>
          <a:p>
            <a:pPr lvl="0"/>
            <a:r>
              <a:rPr lang="en-AU" b="1" dirty="0"/>
              <a:t>Processes:</a:t>
            </a:r>
            <a:r>
              <a:rPr lang="en-AU" dirty="0"/>
              <a:t> supplier selection, progress meetings and communication with the developer, change control, testing and acceptance, budget and schedule control.</a:t>
            </a:r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endParaRPr lang="en-US" sz="18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5D937248-C641-68A6-16AC-088E611C153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4" name="Picture 3" descr="Website - Free interface icons">
            <a:extLst>
              <a:ext uri="{FF2B5EF4-FFF2-40B4-BE49-F238E27FC236}">
                <a16:creationId xmlns:a16="http://schemas.microsoft.com/office/drawing/2014/main" id="{DEFB9205-F44E-5ED6-7DCB-F70FE0D49E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5900" y="2239010"/>
            <a:ext cx="3147060" cy="3147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676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A793C-F8CE-14A8-7337-E609772A9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20A6CB8-5486-57BC-2A5D-3E77988433A8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Quality management system and plan</a:t>
            </a:r>
            <a:endParaRPr lang="en-US" sz="32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C2809FCD-FCC8-CDE5-E871-6C1524811B06}"/>
              </a:ext>
            </a:extLst>
          </p:cNvPr>
          <p:cNvSpPr>
            <a:spLocks noGrp="1"/>
          </p:cNvSpPr>
          <p:nvPr>
            <p:ph type="body" idx="101"/>
          </p:nvPr>
        </p:nvSpPr>
        <p:spPr>
          <a:xfrm>
            <a:off x="548640" y="1463040"/>
            <a:ext cx="4298663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AU" b="1" dirty="0"/>
              <a:t>Process standards</a:t>
            </a:r>
            <a:endParaRPr lang="en-AU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dirty="0"/>
              <a:t>Three quotes are obtained before the developer is engaged.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dirty="0"/>
              <a:t>The developer attends a progress meeting every week, and the minutes are recorded.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dirty="0"/>
              <a:t>Changes to scope, budget or timeframe are approved in writing before they are made.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dirty="0"/>
              <a:t>Issues are recorded in the project issues register within 1 business day.</a:t>
            </a: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E3E40CF8-60EF-5ABC-4752-7128C564F6C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5093CA-C11A-EC4D-26BF-CBEEE5DF958E}"/>
              </a:ext>
            </a:extLst>
          </p:cNvPr>
          <p:cNvSpPr txBox="1"/>
          <p:nvPr/>
        </p:nvSpPr>
        <p:spPr>
          <a:xfrm>
            <a:off x="6508954" y="1463040"/>
            <a:ext cx="510392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800" b="1" dirty="0"/>
              <a:t>Timing standards</a:t>
            </a:r>
          </a:p>
          <a:p>
            <a:endParaRPr lang="en-AU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sz="1800" dirty="0"/>
              <a:t>The website goes live by 30 June 2023.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sz="1800" dirty="0"/>
              <a:t>Spending stays within $10,000, and payments are tracked against milestones.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sz="1800" dirty="0"/>
              <a:t>A status report goes to senior management every month.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sz="1800" dirty="0"/>
              <a:t>IT department training is completed before handover.</a:t>
            </a:r>
          </a:p>
        </p:txBody>
      </p:sp>
      <p:pic>
        <p:nvPicPr>
          <p:cNvPr id="6" name="Picture 5" descr="Requirement - Free technology icons">
            <a:extLst>
              <a:ext uri="{FF2B5EF4-FFF2-40B4-BE49-F238E27FC236}">
                <a16:creationId xmlns:a16="http://schemas.microsoft.com/office/drawing/2014/main" id="{F157EF03-FA2A-1AF1-2D6C-F3833050AD6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6000"/>
          </a:blip>
          <a:stretch>
            <a:fillRect/>
          </a:stretch>
        </p:blipFill>
        <p:spPr>
          <a:xfrm>
            <a:off x="3244647" y="107950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457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C48B5-307F-C929-93F7-32EF60F6F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F2E24A0-A1AF-C0B8-BCE1-719E057F4587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Quality management system and plan</a:t>
            </a:r>
            <a:endParaRPr lang="en-US" sz="32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4C547DC7-6FA8-1C4B-6C40-7A1A734D2D2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63DD6D-B9CE-6215-5AB3-7E4D3F4B4344}"/>
              </a:ext>
            </a:extLst>
          </p:cNvPr>
          <p:cNvSpPr txBox="1"/>
          <p:nvPr/>
        </p:nvSpPr>
        <p:spPr>
          <a:xfrm>
            <a:off x="629263" y="1474208"/>
            <a:ext cx="927181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/>
              <a:t>Quality control and assurance activities</a:t>
            </a:r>
            <a:endParaRPr lang="en-AU" dirty="0"/>
          </a:p>
          <a:p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Obtain three quotes and confirm the requirements in the developer contract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Hold weekly progress meetings and review progress against the schedule and budget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Apply change control: review and approve change requests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A8889C-A12C-A5D8-1BD6-24EB87174186}"/>
              </a:ext>
            </a:extLst>
          </p:cNvPr>
          <p:cNvSpPr txBox="1"/>
          <p:nvPr/>
        </p:nvSpPr>
        <p:spPr>
          <a:xfrm>
            <a:off x="4078420" y="4155257"/>
            <a:ext cx="897685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AU" sz="1800" dirty="0"/>
              <a:t>Review the design and content against the Website Design Brief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AU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AU" sz="1800" dirty="0"/>
              <a:t>Test every deliverable against the standards in Section 4 and record the results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AU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AU" sz="1800" dirty="0"/>
              <a:t>User acceptance check by College staff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AU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AU" sz="1800" dirty="0"/>
              <a:t>Evaluate the project and record the lessons learnt</a:t>
            </a:r>
          </a:p>
        </p:txBody>
      </p:sp>
      <p:pic>
        <p:nvPicPr>
          <p:cNvPr id="10" name="Picture 9" descr="Quality Control Approved Icon Vector Stock Vector (Royalty Free) 1396741916  | Shutterstock">
            <a:extLst>
              <a:ext uri="{FF2B5EF4-FFF2-40B4-BE49-F238E27FC236}">
                <a16:creationId xmlns:a16="http://schemas.microsoft.com/office/drawing/2014/main" id="{3F20BA67-6F5B-BF7F-105F-86C9E1AFE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5450" y="988869"/>
            <a:ext cx="1651000" cy="177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907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2C6B1-B97D-48AA-04A9-561957EE9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AA0134F-2896-12E7-CC05-95EE1BDFA71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l="15212" r="14958"/>
          <a:stretch>
            <a:fillRect/>
          </a:stretch>
        </p:blipFill>
        <p:spPr>
          <a:xfrm>
            <a:off x="629263" y="635000"/>
            <a:ext cx="10933474" cy="5720079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D41238E7-6926-CEEF-B51F-6C2105AB9C51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Quality management system and plan</a:t>
            </a:r>
            <a:endParaRPr lang="en-US" sz="32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F0E4DA83-737D-7161-752F-96A3F646A5C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423738-B5A9-E479-1906-C8EE1980A0F0}"/>
              </a:ext>
            </a:extLst>
          </p:cNvPr>
          <p:cNvSpPr txBox="1"/>
          <p:nvPr/>
        </p:nvSpPr>
        <p:spPr>
          <a:xfrm>
            <a:off x="629263" y="1474208"/>
            <a:ext cx="927181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/>
              <a:t>Pillars</a:t>
            </a:r>
          </a:p>
          <a:p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B34DA8-A2EE-D6A5-7124-D52B9328F6C5}"/>
              </a:ext>
            </a:extLst>
          </p:cNvPr>
          <p:cNvSpPr txBox="1"/>
          <p:nvPr/>
        </p:nvSpPr>
        <p:spPr>
          <a:xfrm rot="16200000">
            <a:off x="2366480" y="3674787"/>
            <a:ext cx="21836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800" b="1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Quality roles and responsibilities</a:t>
            </a:r>
            <a:r>
              <a:rPr lang="en-AU" dirty="0">
                <a:effectLst/>
              </a:rPr>
              <a:t> 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954F1A-E1F5-935F-FEA0-54A11BC0B027}"/>
              </a:ext>
            </a:extLst>
          </p:cNvPr>
          <p:cNvSpPr txBox="1"/>
          <p:nvPr/>
        </p:nvSpPr>
        <p:spPr>
          <a:xfrm rot="16200000">
            <a:off x="7393085" y="3452569"/>
            <a:ext cx="24793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AU" sz="1800" b="1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Quality tools</a:t>
            </a:r>
            <a:endParaRPr lang="en-AU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5B0BCB-7BB8-6CAE-566A-2029B5B33AB1}"/>
              </a:ext>
            </a:extLst>
          </p:cNvPr>
          <p:cNvSpPr txBox="1"/>
          <p:nvPr/>
        </p:nvSpPr>
        <p:spPr>
          <a:xfrm rot="16200000">
            <a:off x="4841061" y="3217455"/>
            <a:ext cx="24793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800" b="1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Plan for reporting quality control  (identify &amp; corrective action)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66099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IT Quality Policy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/>
          </p:nvPr>
        </p:nvSpPr>
        <p:spPr>
          <a:xfrm>
            <a:off x="548640" y="1463040"/>
            <a:ext cx="3017520" cy="3525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spcAft>
                <a:spcPts val="1400"/>
              </a:spcAft>
              <a:buNone/>
            </a:pPr>
            <a:r>
              <a:rPr lang="en-US" b="1" dirty="0"/>
              <a:t>To </a:t>
            </a:r>
            <a:r>
              <a:rPr lang="en-US" sz="1800" dirty="0">
                <a:solidFill>
                  <a:schemeClr val="tx1"/>
                </a:solidFill>
              </a:rPr>
              <a:t>commitment to quality across all IT activities and ICT systems, aligned with Strategic Objective 2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D10A9B-D5D8-9EE8-5B8D-AA496E67A751}"/>
              </a:ext>
            </a:extLst>
          </p:cNvPr>
          <p:cNvSpPr txBox="1"/>
          <p:nvPr/>
        </p:nvSpPr>
        <p:spPr>
          <a:xfrm>
            <a:off x="6664960" y="1876063"/>
            <a:ext cx="4561840" cy="38831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Policy principles</a:t>
            </a:r>
            <a:endParaRPr lang="en-US" sz="1800" dirty="0"/>
          </a:p>
          <a:p>
            <a:pPr marL="342900" indent="-342900" algn="l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</a:rPr>
              <a:t>Fitness for purpose</a:t>
            </a:r>
            <a:endParaRPr lang="en-US" sz="1800" dirty="0"/>
          </a:p>
          <a:p>
            <a:pPr marL="342900" indent="-342900" algn="l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</a:rPr>
              <a:t>Legislative compliance</a:t>
            </a:r>
            <a:endParaRPr lang="en-US" sz="1800" dirty="0"/>
          </a:p>
          <a:p>
            <a:pPr marL="342900" indent="-342900" algn="l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</a:rPr>
              <a:t>Structured governance and procurement (QMP for every project)</a:t>
            </a:r>
            <a:endParaRPr lang="en-US" sz="1800" dirty="0"/>
          </a:p>
          <a:p>
            <a:pPr marL="342900" indent="-342900" algn="l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</a:rPr>
              <a:t>Quality assurance and control (testing before go-live)</a:t>
            </a:r>
            <a:endParaRPr lang="en-US" sz="1800" dirty="0"/>
          </a:p>
          <a:p>
            <a:pPr marL="342900" indent="-342900" algn="l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</a:rPr>
              <a:t>Risk and issue management (issues register, corrective action requests)</a:t>
            </a:r>
            <a:endParaRPr lang="en-US" sz="1800" dirty="0"/>
          </a:p>
          <a:p>
            <a:pPr marL="342900" indent="-342900" algn="l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</a:rPr>
              <a:t>Continuous improvement and capability (training, benchmarks, yearly review)</a:t>
            </a:r>
            <a:endParaRPr lang="en-US" sz="1800" dirty="0"/>
          </a:p>
        </p:txBody>
      </p:sp>
      <p:pic>
        <p:nvPicPr>
          <p:cNvPr id="6" name="Picture 5" descr="Policy Document Icon PNG Images, Vectors Free Download - Pngtree">
            <a:extLst>
              <a:ext uri="{FF2B5EF4-FFF2-40B4-BE49-F238E27FC236}">
                <a16:creationId xmlns:a16="http://schemas.microsoft.com/office/drawing/2014/main" id="{6138EBF2-5146-E3A6-B330-2A904138B5C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1000"/>
          </a:blip>
          <a:stretch>
            <a:fillRect/>
          </a:stretch>
        </p:blipFill>
        <p:spPr>
          <a:xfrm>
            <a:off x="1689100" y="1404620"/>
            <a:ext cx="4826000" cy="482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QMP: objectives and deliverables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/>
          </p:nvPr>
        </p:nvSpPr>
        <p:spPr>
          <a:xfrm>
            <a:off x="548640" y="1463040"/>
            <a:ext cx="9103360" cy="327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Quality </a:t>
            </a:r>
            <a:r>
              <a:rPr lang="en-US" sz="1600" b="1" dirty="0"/>
              <a:t>O</a:t>
            </a:r>
            <a:r>
              <a:rPr lang="en-US" sz="1600" b="1" dirty="0">
                <a:solidFill>
                  <a:schemeClr val="tx1"/>
                </a:solidFill>
              </a:rPr>
              <a:t>bjectives:</a:t>
            </a:r>
            <a:endParaRPr lang="en-US" sz="18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Modern, responsive website that appeals to younger students</a:t>
            </a:r>
            <a:endParaRPr lang="en-US" sz="18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Online enrolments with invoices issued automatically through the accounting system</a:t>
            </a:r>
            <a:endParaRPr lang="en-US" sz="18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Students only area linked to the LMS, for authorised users only</a:t>
            </a:r>
            <a:endParaRPr lang="en-US" sz="18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Positive user experience, fewer than 5 customer complaints</a:t>
            </a:r>
            <a:endParaRPr lang="en-US" sz="18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Delivery by </a:t>
            </a:r>
            <a:r>
              <a:rPr lang="en-US" sz="1600" b="1" dirty="0">
                <a:solidFill>
                  <a:schemeClr val="tx1"/>
                </a:solidFill>
              </a:rPr>
              <a:t>30 June 2023</a:t>
            </a:r>
            <a:r>
              <a:rPr lang="en-US" sz="1600" dirty="0">
                <a:solidFill>
                  <a:schemeClr val="tx1"/>
                </a:solidFill>
              </a:rPr>
              <a:t>, within </a:t>
            </a:r>
            <a:r>
              <a:rPr lang="en-US" sz="1600" b="1" dirty="0">
                <a:solidFill>
                  <a:schemeClr val="tx1"/>
                </a:solidFill>
              </a:rPr>
              <a:t>$10,000</a:t>
            </a:r>
            <a:endParaRPr lang="en-US" sz="18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IT department trained to maintain the website</a:t>
            </a:r>
            <a:endParaRPr lang="en-US" sz="18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Compliance with privacy, copyright, Australian Consumer Law and WHS</a:t>
            </a:r>
            <a:endParaRPr lang="en-US" sz="1800" dirty="0"/>
          </a:p>
          <a:p>
            <a:pPr marL="0" indent="0" algn="l">
              <a:spcBef>
                <a:spcPts val="1000"/>
              </a:spcBef>
              <a:buNone/>
            </a:pPr>
            <a:endParaRPr lang="en-US" sz="1600" b="1" dirty="0">
              <a:solidFill>
                <a:schemeClr val="tx1"/>
              </a:solidFill>
            </a:endParaRPr>
          </a:p>
          <a:p>
            <a:pPr marL="0" indent="0" algn="l">
              <a:spcBef>
                <a:spcPts val="1000"/>
              </a:spcBef>
              <a:buNone/>
            </a:pPr>
            <a:endParaRPr lang="en-US" sz="1600" b="1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FA81E7-3169-60AC-D2FC-E6DC709BEA2C}"/>
              </a:ext>
            </a:extLst>
          </p:cNvPr>
          <p:cNvSpPr txBox="1"/>
          <p:nvPr/>
        </p:nvSpPr>
        <p:spPr>
          <a:xfrm>
            <a:off x="5659120" y="4975573"/>
            <a:ext cx="61163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spcBef>
                <a:spcPts val="1000"/>
              </a:spcBef>
              <a:buNone/>
            </a:pPr>
            <a:r>
              <a:rPr lang="en-US" sz="1600" b="1" dirty="0">
                <a:solidFill>
                  <a:schemeClr val="tx1"/>
                </a:solidFill>
              </a:rPr>
              <a:t>Deliverables reviewed:</a:t>
            </a:r>
            <a:r>
              <a:rPr lang="en-US" sz="1600" dirty="0">
                <a:solidFill>
                  <a:schemeClr val="tx1"/>
                </a:solidFill>
              </a:rPr>
              <a:t> design, content, enrolment form, accounting integration, students only area/LMS, IT training</a:t>
            </a:r>
            <a:endParaRPr lang="en-US" sz="1800" dirty="0"/>
          </a:p>
        </p:txBody>
      </p:sp>
      <p:pic>
        <p:nvPicPr>
          <p:cNvPr id="6" name="Picture 5" descr="Png File - Goal White Icon Png Transparent PNG - 980x984 - Free Download on  NicePNG">
            <a:extLst>
              <a:ext uri="{FF2B5EF4-FFF2-40B4-BE49-F238E27FC236}">
                <a16:creationId xmlns:a16="http://schemas.microsoft.com/office/drawing/2014/main" id="{E6F93FD1-D372-C1A5-07FD-F39CE0A0FBD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4887595" y="684125"/>
            <a:ext cx="5226050" cy="54897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QMP: quality standards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graphicFrame>
        <p:nvGraphicFramePr>
          <p:cNvPr id="8" name="Quality standard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9284778"/>
              </p:ext>
            </p:extLst>
          </p:nvPr>
        </p:nvGraphicFramePr>
        <p:xfrm>
          <a:off x="1412240" y="1463040"/>
          <a:ext cx="8991600" cy="1828800"/>
        </p:xfrm>
        <a:graphic>
          <a:graphicData uri="http://schemas.openxmlformats.org/drawingml/2006/table">
            <a:tbl>
              <a:tblPr/>
              <a:tblGrid>
                <a:gridCol w="1486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5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Type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Example standards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Performance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100% of test enrolments submitted and invoiced correctly; 0 broken links; only authorised users access the students only area; HTTPS on all pages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Process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Three quotes; weekly developer meetings with minutes; written approval of changes; issues recorded within 1 business day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Timing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Go-live by 30 June 2023; within $10,000; monthly status report; training before handover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tandards notes"/>
          <p:cNvSpPr txBox="1"/>
          <p:nvPr/>
        </p:nvSpPr>
        <p:spPr>
          <a:xfrm>
            <a:off x="660400" y="4368800"/>
            <a:ext cx="5588000" cy="1686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Cannot be compromised:</a:t>
            </a:r>
            <a:r>
              <a:rPr lang="en-US" sz="1800" dirty="0">
                <a:solidFill>
                  <a:schemeClr val="tx1"/>
                </a:solidFill>
              </a:rPr>
              <a:t> enrolments, invoices, access, links, content, privacy and security</a:t>
            </a:r>
          </a:p>
          <a:p>
            <a:pPr marL="0" indent="0">
              <a:spcAft>
                <a:spcPts val="800"/>
              </a:spcAft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Can be fixed after go-live:</a:t>
            </a:r>
            <a:r>
              <a:rPr lang="en-US" sz="1800" dirty="0">
                <a:solidFill>
                  <a:schemeClr val="tx1"/>
                </a:solidFill>
              </a:rPr>
              <a:t> minor cosmetic issues in responsive design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QMP: roles, monitoring and corrective action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graphicFrame>
        <p:nvGraphicFramePr>
          <p:cNvPr id="9" name="Rol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263205"/>
              </p:ext>
            </p:extLst>
          </p:nvPr>
        </p:nvGraphicFramePr>
        <p:xfrm>
          <a:off x="762000" y="1371600"/>
          <a:ext cx="9499600" cy="2304288"/>
        </p:xfrm>
        <a:graphic>
          <a:graphicData uri="http://schemas.openxmlformats.org/drawingml/2006/table">
            <a:tbl>
              <a:tblPr/>
              <a:tblGrid>
                <a:gridCol w="20412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8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Role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Main responsibilities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IT Manager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Owns the plan, single point of contact with the developer, approves changes and CARs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IT Support Officer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Testing, link checks, issues register, test log, status reports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Web developer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Delivers to standards, attends weekly meetings, fixes defects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Senior management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Approves budget, timeframe and scope changes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College staff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Provide and approve content, user acceptance check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ools and corrective action"/>
          <p:cNvSpPr txBox="1"/>
          <p:nvPr/>
        </p:nvSpPr>
        <p:spPr>
          <a:xfrm>
            <a:off x="548640" y="4206240"/>
            <a:ext cx="110642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endParaRPr lang="en-US" sz="1600" b="1" dirty="0">
              <a:solidFill>
                <a:schemeClr val="tx1"/>
              </a:solidFill>
            </a:endParaRPr>
          </a:p>
          <a:p>
            <a:pPr marL="0" indent="0">
              <a:spcAft>
                <a:spcPts val="800"/>
              </a:spcAft>
              <a:buNone/>
            </a:pPr>
            <a:endParaRPr lang="en-US" sz="1600" b="1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Tools:</a:t>
            </a:r>
            <a:r>
              <a:rPr lang="en-US" sz="1600" dirty="0">
                <a:solidFill>
                  <a:schemeClr val="tx1"/>
                </a:solidFill>
              </a:rPr>
              <a:t> issues register, test plan and log, checklist, meeting minutes, monthly status report, CAR form, complaints log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Corrective action:</a:t>
            </a:r>
            <a:r>
              <a:rPr lang="en-US" sz="1600" dirty="0">
                <a:solidFill>
                  <a:schemeClr val="tx1"/>
                </a:solidFill>
              </a:rPr>
              <a:t> Identify and record, Analyse, Raise CAR, Approve, Implement, Verify, Close and improve</a:t>
            </a:r>
            <a:endParaRPr lang="en-US" sz="1600" dirty="0"/>
          </a:p>
        </p:txBody>
      </p:sp>
      <p:pic>
        <p:nvPicPr>
          <p:cNvPr id="3" name="Picture 2" descr="Tree Root Icon Outline Stock Illustrations – 2,233 Tree Root Icon Outline  Stock Illustrations, Vectors &amp; Clipart - Dreamstime">
            <a:extLst>
              <a:ext uri="{FF2B5EF4-FFF2-40B4-BE49-F238E27FC236}">
                <a16:creationId xmlns:a16="http://schemas.microsoft.com/office/drawing/2014/main" id="{7CDBF633-36FB-38BE-5DDF-2C5B5D5F593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3327400" y="982980"/>
            <a:ext cx="51435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Skills to meet quality standards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/>
          </p:nvPr>
        </p:nvSpPr>
        <p:spPr>
          <a:xfrm>
            <a:off x="548640" y="1463040"/>
            <a:ext cx="11064240" cy="41080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AU" sz="2400" dirty="0"/>
              <a:t>Which quality-related roles and key tasks can you competently perform on the project?</a:t>
            </a:r>
          </a:p>
          <a:p>
            <a:pPr marL="342900" indent="-342900">
              <a:buFont typeface="+mj-lt"/>
              <a:buAutoNum type="arabicPeriod"/>
            </a:pPr>
            <a:r>
              <a:rPr lang="en-AU" sz="2400" dirty="0"/>
              <a:t>Are you able to cover each of the following areas of interest?</a:t>
            </a:r>
          </a:p>
          <a:p>
            <a:pPr marL="342900" indent="-342900">
              <a:buFont typeface="+mj-lt"/>
              <a:buAutoNum type="arabicPeriod"/>
            </a:pPr>
            <a:r>
              <a:rPr lang="en-AU" sz="2400" dirty="0"/>
              <a:t>Are there any skills or knowledge gaps that could affect? training, support or specialist expertise required? </a:t>
            </a:r>
          </a:p>
          <a:p>
            <a:pPr marL="342900" indent="-342900">
              <a:buFont typeface="+mj-lt"/>
              <a:buAutoNum type="arabicPeriod"/>
            </a:pPr>
            <a:r>
              <a:rPr lang="en-AU" sz="2400"/>
              <a:t>Do you identify with the standards required to ensure that quality objectives are met?</a:t>
            </a:r>
          </a:p>
          <a:p>
            <a:pPr marL="342900" indent="-342900">
              <a:buFont typeface="+mj-lt"/>
              <a:buAutoNum type="arabicPeriod"/>
            </a:pPr>
            <a:endParaRPr lang="en-AU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3616960" y="1016000"/>
            <a:ext cx="738632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0000"/>
          </a:bodyPr>
          <a:lstStyle/>
          <a:p>
            <a:pPr marL="0" indent="0" algn="l">
              <a:buNone/>
            </a:pPr>
            <a:r>
              <a:rPr lang="en-US" sz="6000" b="1" dirty="0">
                <a:solidFill>
                  <a:schemeClr val="tx1"/>
                </a:solidFill>
              </a:rPr>
              <a:t>Questions?</a:t>
            </a:r>
            <a:endParaRPr lang="en-US" sz="6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/>
          </p:nvPr>
        </p:nvSpPr>
        <p:spPr>
          <a:xfrm>
            <a:off x="2753360" y="3068321"/>
            <a:ext cx="8884920" cy="1859280"/>
          </a:xfrm>
          <a:prstGeom prst="rect">
            <a:avLst/>
          </a:prstGeom>
          <a:noFill/>
          <a:ln/>
        </p:spPr>
        <p:txBody>
          <a:bodyPr wrap="square" rtlCol="0" anchor="t">
            <a:normAutofit fontScale="92500"/>
          </a:bodyPr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What </a:t>
            </a:r>
            <a:r>
              <a:rPr lang="en-US" sz="3200" b="1" dirty="0">
                <a:solidFill>
                  <a:schemeClr val="tx1"/>
                </a:solidFill>
              </a:rPr>
              <a:t>add, remove or change</a:t>
            </a:r>
            <a:r>
              <a:rPr lang="en-US" sz="3200" dirty="0">
                <a:solidFill>
                  <a:schemeClr val="tx1"/>
                </a:solidFill>
              </a:rPr>
              <a:t> in the policy or the plan?</a:t>
            </a:r>
            <a:endParaRPr lang="en-US" sz="3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3200" b="1" dirty="0">
                <a:solidFill>
                  <a:schemeClr val="tx1"/>
                </a:solidFill>
              </a:rPr>
              <a:t>roles or responsibilities</a:t>
            </a:r>
            <a:r>
              <a:rPr lang="en-US" sz="3200" dirty="0">
                <a:solidFill>
                  <a:schemeClr val="tx1"/>
                </a:solidFill>
              </a:rPr>
              <a:t>?</a:t>
            </a:r>
            <a:endParaRPr lang="en-US" sz="3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3200" b="1" dirty="0"/>
              <a:t>Any no listed R</a:t>
            </a:r>
            <a:r>
              <a:rPr lang="en-US" sz="3200" b="1" dirty="0">
                <a:solidFill>
                  <a:schemeClr val="tx1"/>
                </a:solidFill>
              </a:rPr>
              <a:t>isk</a:t>
            </a:r>
            <a:r>
              <a:rPr lang="en-US" sz="3200" dirty="0">
                <a:solidFill>
                  <a:schemeClr val="tx1"/>
                </a:solidFill>
              </a:rPr>
              <a:t>?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  <p:pic>
        <p:nvPicPr>
          <p:cNvPr id="4" name="Picture 3" descr="Questions - Free communications icons">
            <a:extLst>
              <a:ext uri="{FF2B5EF4-FFF2-40B4-BE49-F238E27FC236}">
                <a16:creationId xmlns:a16="http://schemas.microsoft.com/office/drawing/2014/main" id="{ECEE0A44-D03D-82AB-078B-4426EA8268E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830825" y="1091380"/>
            <a:ext cx="4876800" cy="4876800"/>
          </a:xfrm>
          <a:prstGeom prst="rect">
            <a:avLst/>
          </a:prstGeom>
        </p:spPr>
      </p:pic>
      <p:pic>
        <p:nvPicPr>
          <p:cNvPr id="5" name="Picture 4" descr="Questions - Free communications icons">
            <a:extLst>
              <a:ext uri="{FF2B5EF4-FFF2-40B4-BE49-F238E27FC236}">
                <a16:creationId xmlns:a16="http://schemas.microsoft.com/office/drawing/2014/main" id="{74BB7478-0563-1E0B-1408-EAB3E7D319B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6644640" y="1268361"/>
            <a:ext cx="48768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EBDE6-F9FE-BEFA-0BF9-67E48C26DABB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2560320" y="2514600"/>
            <a:ext cx="7680960" cy="914400"/>
          </a:xfrm>
        </p:spPr>
        <p:txBody>
          <a:bodyPr>
            <a:noAutofit/>
          </a:bodyPr>
          <a:lstStyle/>
          <a:p>
            <a:r>
              <a:rPr lang="en-AU" sz="8800" dirty="0"/>
              <a:t>THANKS!</a:t>
            </a:r>
          </a:p>
        </p:txBody>
      </p:sp>
    </p:spTree>
    <p:extLst>
      <p:ext uri="{BB962C8B-B14F-4D97-AF65-F5344CB8AC3E}">
        <p14:creationId xmlns:p14="http://schemas.microsoft.com/office/powerpoint/2010/main" val="25596731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{E4CE3404-14BE-7649-B3DE-9F76381A32FB}tf10001064</Template>
  <TotalTime>49</TotalTime>
  <Words>958</Words>
  <Application>Microsoft Macintosh PowerPoint</Application>
  <PresentationFormat>Widescreen</PresentationFormat>
  <Paragraphs>155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Garamond</vt:lpstr>
      <vt:lpstr>Roboto Flex</vt:lpstr>
      <vt:lpstr>Organic</vt:lpstr>
      <vt:lpstr>New Website Quality Management Plan</vt:lpstr>
      <vt:lpstr>Why quality matters</vt:lpstr>
      <vt:lpstr>Legislation and benchmarks</vt:lpstr>
      <vt:lpstr>Quality management system and plan</vt:lpstr>
      <vt:lpstr>Quality management system and plan</vt:lpstr>
      <vt:lpstr>Quality management system and plan</vt:lpstr>
      <vt:lpstr>Quality management system and plan</vt:lpstr>
      <vt:lpstr>Quality management system and plan</vt:lpstr>
      <vt:lpstr>IT Quality Policy</vt:lpstr>
      <vt:lpstr>QMP: objectives and deliverables</vt:lpstr>
      <vt:lpstr>QMP: quality standards</vt:lpstr>
      <vt:lpstr>QMP: roles, monitoring and corrective action</vt:lpstr>
      <vt:lpstr>Skills to meet quality standards</vt:lpstr>
      <vt:lpstr>Questions?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Manuel Perez</dc:creator>
  <cp:lastModifiedBy>Manuel Perez</cp:lastModifiedBy>
  <cp:revision>5</cp:revision>
  <dcterms:created xsi:type="dcterms:W3CDTF">2026-10-15T12:43:03Z</dcterms:created>
  <dcterms:modified xsi:type="dcterms:W3CDTF">2026-10-17T10:16:34Z</dcterms:modified>
</cp:coreProperties>
</file>