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7" r:id="rId6"/>
    <p:sldId id="268" r:id="rId7"/>
    <p:sldId id="269" r:id="rId8"/>
    <p:sldId id="270" r:id="rId9"/>
    <p:sldId id="261" r:id="rId10"/>
    <p:sldId id="262" r:id="rId11"/>
    <p:sldId id="263" r:id="rId12"/>
    <p:sldId id="264" r:id="rId13"/>
    <p:sldId id="265" r:id="rId14"/>
    <p:sldId id="266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94694"/>
  </p:normalViewPr>
  <p:slideViewPr>
    <p:cSldViewPr snapToGrid="0">
      <p:cViewPr varScale="1">
        <p:scale>
          <a:sx n="111" d="100"/>
          <a:sy n="111" d="100"/>
        </p:scale>
        <p:origin x="22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45CFF-950A-4041-8C74-DADB5D97DAF6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8FFF2-C073-EF4D-8574-2A01AE9B0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7BCD-1F5A-49FC-B325-D7B500CB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92D8E-939B-2E4A-5DC6-E6ED11140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D2DB5-A3E3-E5B9-C97D-DD728CE18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5D9C6-BA3C-31ED-4F62-EE7E56EA6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64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E21C-9782-6BF5-9EE4-0C67B205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DE1A0-9D16-4336-B4EB-17170B507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135FD-8E20-928F-D4C1-3C750DFC0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1D1C4-0BD1-1DE4-E2BE-AB4447F9D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8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2119-3F6C-6257-CB51-AEF7DB79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1D8BE-692F-18E3-0C9F-036E66179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A5700-6F77-A130-6A30-1D84156DF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15EF-0748-8C3C-14B4-BE1892ECC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81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BFFA-7138-03B8-430E-8A5F2959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014F1-D96E-0093-69D9-DE7C5C6F1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8BB9-0D10-5138-2ECD-225352A14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DF79A-A23C-96E7-3A84-489727892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73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2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3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0699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69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39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9618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8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95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120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48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51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781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211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15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891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81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188720"/>
            <a:ext cx="106984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8404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1210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630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6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3F85AFC-B25C-9A42-9D1F-183747EA9F71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496C9A-7638-C247-96BF-57A882EA367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379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  <p:sldLayoutId id="2147483802" r:id="rId18"/>
    <p:sldLayoutId id="2147483803" r:id="rId19"/>
    <p:sldLayoutId id="2147483804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731520" y="1188720"/>
            <a:ext cx="10698480" cy="25730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r>
              <a:rPr lang="en-US" dirty="0"/>
              <a:t>New Website Quality Management Plan</a:t>
            </a:r>
            <a:br>
              <a:rPr lang="en-US" dirty="0"/>
            </a:br>
            <a:r>
              <a:rPr lang="en-US" sz="1400" b="0" dirty="0"/>
              <a:t>Based on QA_planning-and-developmentV1</a:t>
            </a:r>
            <a:endParaRPr lang="en-US" sz="1600" b="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59745" y="5342374"/>
            <a:ext cx="6888480" cy="8128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70000" lnSpcReduction="20000"/>
          </a:bodyPr>
          <a:lstStyle/>
          <a:p>
            <a:pPr marL="0" indent="0" algn="l">
              <a:spcAft>
                <a:spcPts val="800"/>
              </a:spcAft>
              <a:buNone/>
            </a:pP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By: Manuel P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tx1"/>
                </a:solidFill>
              </a:rPr>
              <a:t>Date: 16/10/2026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09E9C-008A-2C70-2598-6BC6BDF727DD}"/>
              </a:ext>
            </a:extLst>
          </p:cNvPr>
          <p:cNvSpPr txBox="1"/>
          <p:nvPr/>
        </p:nvSpPr>
        <p:spPr>
          <a:xfrm>
            <a:off x="731520" y="1188720"/>
            <a:ext cx="6096000" cy="28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n-AU" b="0" i="0" dirty="0">
                <a:solidFill>
                  <a:schemeClr val="tx1"/>
                </a:solidFill>
                <a:effectLst/>
                <a:latin typeface="+mn-lt"/>
              </a:rPr>
              <a:t>ICTSAD507 Assessment Task 2: Project Portfolio</a:t>
            </a:r>
            <a:endParaRPr lang="en-AU" b="0" i="0" dirty="0">
              <a:solidFill>
                <a:srgbClr val="FFFFFF"/>
              </a:solidFill>
              <a:effectLst/>
              <a:latin typeface="Roboto Flex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F8862-E735-2117-A3C4-5BD5C01A982B}"/>
              </a:ext>
            </a:extLst>
          </p:cNvPr>
          <p:cNvSpPr txBox="1"/>
          <p:nvPr/>
        </p:nvSpPr>
        <p:spPr>
          <a:xfrm>
            <a:off x="7895250" y="5748774"/>
            <a:ext cx="396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Milestones IC | Advanced Diploma of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Why quality matters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629920" y="1440180"/>
            <a:ext cx="421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SWOT analysis identifies the </a:t>
            </a:r>
            <a:r>
              <a:rPr lang="en-US" sz="1800" b="1" dirty="0">
                <a:solidFill>
                  <a:schemeClr val="tx1"/>
                </a:solidFill>
              </a:rPr>
              <a:t>lack of a clear quality management system</a:t>
            </a:r>
            <a:r>
              <a:rPr lang="en-US" sz="1800" dirty="0">
                <a:solidFill>
                  <a:schemeClr val="tx1"/>
                </a:solidFill>
              </a:rPr>
              <a:t> as a weakness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College maintains quality in compliance with the </a:t>
            </a:r>
            <a:r>
              <a:rPr lang="en-US" sz="1800" b="1" dirty="0">
                <a:solidFill>
                  <a:schemeClr val="tx1"/>
                </a:solidFill>
              </a:rPr>
              <a:t>national VET Quality Framework</a:t>
            </a:r>
            <a:r>
              <a:rPr lang="en-US" sz="1800" dirty="0">
                <a:solidFill>
                  <a:schemeClr val="tx1"/>
                </a:solidFill>
              </a:rPr>
              <a:t> and through its </a:t>
            </a:r>
            <a:r>
              <a:rPr lang="en-US" sz="1800" b="1" dirty="0">
                <a:solidFill>
                  <a:schemeClr val="tx1"/>
                </a:solidFill>
              </a:rPr>
              <a:t>continuous improvement system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Strategic Objective 2: </a:t>
            </a:r>
            <a:r>
              <a:rPr lang="en-US" sz="1800" i="1" dirty="0">
                <a:solidFill>
                  <a:schemeClr val="tx1"/>
                </a:solidFill>
              </a:rPr>
              <a:t>"To establish and maintain high quality infrastructure supporting clients and staff"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4" name="Picture 3" descr="Supporting Hands Foundation (@SupportingHandsFoundation) • Facebook">
            <a:extLst>
              <a:ext uri="{FF2B5EF4-FFF2-40B4-BE49-F238E27FC236}">
                <a16:creationId xmlns:a16="http://schemas.microsoft.com/office/drawing/2014/main" id="{1D201537-974A-794D-2DDE-96A18336F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61135"/>
            <a:ext cx="5059680" cy="5059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enchmark - Free business and finance icons">
            <a:extLst>
              <a:ext uri="{FF2B5EF4-FFF2-40B4-BE49-F238E27FC236}">
                <a16:creationId xmlns:a16="http://schemas.microsoft.com/office/drawing/2014/main" id="{139DA43F-F826-324D-A34D-E3A00CE2F76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379285" y="990600"/>
            <a:ext cx="4876800" cy="487680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Legislation and benchmarks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Legislation list"/>
          <p:cNvSpPr txBox="1"/>
          <p:nvPr/>
        </p:nvSpPr>
        <p:spPr>
          <a:xfrm>
            <a:off x="548640" y="146304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Legislation our IT quality processes must support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Privacy Act 1988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Copyright Act 1968 and Copyright (International Protection) Regulations 1969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Australian Consumer Law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 Health and Safety Act 2011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Corporations Act 2001</a:t>
            </a:r>
            <a:endParaRPr lang="en-US" sz="1800" dirty="0"/>
          </a:p>
        </p:txBody>
      </p:sp>
      <p:sp>
        <p:nvSpPr>
          <p:cNvPr id="4" name="Benchmarks heading"/>
          <p:cNvSpPr txBox="1"/>
          <p:nvPr/>
        </p:nvSpPr>
        <p:spPr>
          <a:xfrm>
            <a:off x="6309360" y="1463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/>
              <a:t>B</a:t>
            </a:r>
            <a:r>
              <a:rPr lang="en-US" sz="1800" b="1" dirty="0">
                <a:solidFill>
                  <a:schemeClr val="tx1"/>
                </a:solidFill>
              </a:rPr>
              <a:t>enchmarks</a:t>
            </a:r>
            <a:endParaRPr lang="en-US" sz="1800" dirty="0"/>
          </a:p>
        </p:txBody>
      </p:sp>
      <p:graphicFrame>
        <p:nvGraphicFramePr>
          <p:cNvPr id="5" name="Benchmarks table"/>
          <p:cNvGraphicFramePr>
            <a:graphicFrameLocks noGrp="1"/>
          </p:cNvGraphicFramePr>
          <p:nvPr/>
        </p:nvGraphicFramePr>
        <p:xfrm>
          <a:off x="6309360" y="2377440"/>
          <a:ext cx="5303520" cy="2286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Benchmark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Annual profit increases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Employee turnover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than 10%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Customer complaints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than 5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New ideas implemented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 each year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ook Icon PNG Images, Vectors Free Download - Pngtree">
            <a:extLst>
              <a:ext uri="{FF2B5EF4-FFF2-40B4-BE49-F238E27FC236}">
                <a16:creationId xmlns:a16="http://schemas.microsoft.com/office/drawing/2014/main" id="{6992D66E-85C8-3915-201D-4108A9ED70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rcRect l="7393" t="21278" r="8236" b="20645"/>
          <a:stretch>
            <a:fillRect/>
          </a:stretch>
        </p:blipFill>
        <p:spPr>
          <a:xfrm rot="1871321">
            <a:off x="6845985" y="2426278"/>
            <a:ext cx="4049768" cy="278769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565551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Aft>
                <a:spcPts val="800"/>
              </a:spcAft>
              <a:buSzPct val="100000"/>
            </a:pPr>
            <a:r>
              <a:rPr lang="en-US" sz="1800" b="1" dirty="0">
                <a:solidFill>
                  <a:schemeClr val="tx1"/>
                </a:solidFill>
              </a:rPr>
              <a:t>Suitable system:</a:t>
            </a:r>
            <a:r>
              <a:rPr lang="en-US" sz="1800" dirty="0">
                <a:solidFill>
                  <a:schemeClr val="tx1"/>
                </a:solidFill>
              </a:rPr>
              <a:t> ISO 9000 (ISO 9001), first in the IT department, then across the College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  <a:p>
            <a:pPr>
              <a:spcAft>
                <a:spcPts val="800"/>
              </a:spcAft>
              <a:buSzPct val="100000"/>
            </a:pPr>
            <a:r>
              <a:rPr lang="en-AU" b="1" dirty="0"/>
              <a:t>Purpose:</a:t>
            </a:r>
            <a:br>
              <a:rPr lang="en-AU" dirty="0"/>
            </a:br>
            <a:r>
              <a:rPr lang="en-AU" dirty="0"/>
              <a:t>This plan provides a formal framework for ensuring quality throughout the new website project. </a:t>
            </a:r>
          </a:p>
          <a:p>
            <a:pPr>
              <a:spcAft>
                <a:spcPts val="800"/>
              </a:spcAft>
              <a:buSzPct val="100000"/>
            </a:pPr>
            <a:endParaRPr lang="en-AU" dirty="0"/>
          </a:p>
          <a:p>
            <a:pPr marL="285750" indent="-285750">
              <a:spcAft>
                <a:spcPts val="800"/>
              </a:spcAft>
              <a:buSzPct val="100000"/>
              <a:buFontTx/>
              <a:buChar char="-"/>
            </a:pPr>
            <a:r>
              <a:rPr lang="en-AU" dirty="0"/>
              <a:t>Quality assurance (QA)</a:t>
            </a:r>
          </a:p>
          <a:p>
            <a:pPr marL="285750" indent="-285750">
              <a:spcAft>
                <a:spcPts val="800"/>
              </a:spcAft>
              <a:buSzPct val="100000"/>
              <a:buFontTx/>
              <a:buChar char="-"/>
            </a:pPr>
            <a:r>
              <a:rPr lang="en-AU" dirty="0"/>
              <a:t>Quality control (QC)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AU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B8C4-28BF-A5D2-747C-57203622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rocess Arrow Vector Art, Icons, and Graphics for Free Download">
            <a:extLst>
              <a:ext uri="{FF2B5EF4-FFF2-40B4-BE49-F238E27FC236}">
                <a16:creationId xmlns:a16="http://schemas.microsoft.com/office/drawing/2014/main" id="{5FDDEFF8-FA83-34BE-03C7-00B2917CE0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548640" y="1463040"/>
            <a:ext cx="7666990" cy="383349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2FC7FDB-F333-17E0-6CF9-0BD23F09A21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74EC54C-2138-F7D9-FEF9-8729F0018AD8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42900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AU" b="1" dirty="0"/>
              <a:t>Deliverables:</a:t>
            </a:r>
            <a:r>
              <a:rPr lang="en-AU" dirty="0"/>
              <a:t> website design, website content, online enrolment form, accounting system integration, students only area/LMS link, IT department training.</a:t>
            </a:r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endParaRPr lang="en-AU" dirty="0"/>
          </a:p>
          <a:p>
            <a:pPr lvl="0"/>
            <a:r>
              <a:rPr lang="en-AU" b="1" dirty="0"/>
              <a:t>Processes:</a:t>
            </a:r>
            <a:r>
              <a:rPr lang="en-AU" dirty="0"/>
              <a:t> supplier selection, progress meetings and communication with the developer, change control, testing and acceptance, budget and schedule control.</a:t>
            </a:r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D937248-C641-68A6-16AC-088E611C1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" name="Picture 3" descr="Website - Free interface icons">
            <a:extLst>
              <a:ext uri="{FF2B5EF4-FFF2-40B4-BE49-F238E27FC236}">
                <a16:creationId xmlns:a16="http://schemas.microsoft.com/office/drawing/2014/main" id="{DEFB9205-F44E-5ED6-7DCB-F70FE0D49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900" y="2239010"/>
            <a:ext cx="3147060" cy="314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7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793C-F8CE-14A8-7337-E609772A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0A6CB8-5486-57BC-2A5D-3E77988433A8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2809FCD-FCC8-CDE5-E871-6C1524811B06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4298663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AU" b="1" dirty="0"/>
              <a:t>Process standards</a:t>
            </a:r>
            <a:endParaRPr lang="en-A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Three quotes are obtained before the developer is engaged.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The developer attends a progress meeting every week, and the minutes are recorded.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Changes to scope, budget or timeframe are approved in writing before they are made.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dirty="0"/>
              <a:t>Issues are recorded in the project issues register within 1 business day.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3E40CF8-60EF-5ABC-4752-7128C564F6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093CA-C11A-EC4D-26BF-CBEEE5DF958E}"/>
              </a:ext>
            </a:extLst>
          </p:cNvPr>
          <p:cNvSpPr txBox="1"/>
          <p:nvPr/>
        </p:nvSpPr>
        <p:spPr>
          <a:xfrm>
            <a:off x="6508954" y="1463040"/>
            <a:ext cx="51039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/>
              <a:t>Timing standards</a:t>
            </a:r>
          </a:p>
          <a:p>
            <a:endParaRPr lang="en-AU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The website goes live by 30 June 2023.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Spending stays within $10,000, and payments are tracked against milestones.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A status report goes to senior management every month.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IT department training is completed before handover.</a:t>
            </a:r>
          </a:p>
        </p:txBody>
      </p:sp>
      <p:pic>
        <p:nvPicPr>
          <p:cNvPr id="6" name="Picture 5" descr="Requirement - Free technology icons">
            <a:extLst>
              <a:ext uri="{FF2B5EF4-FFF2-40B4-BE49-F238E27FC236}">
                <a16:creationId xmlns:a16="http://schemas.microsoft.com/office/drawing/2014/main" id="{F157EF03-FA2A-1AF1-2D6C-F3833050AD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244647" y="10795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5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C48B5-307F-C929-93F7-32EF60F6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2E24A0-A1AF-C0B8-BCE1-719E057F458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C547DC7-6FA8-1C4B-6C40-7A1A734D2D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3DD6D-B9CE-6215-5AB3-7E4D3F4B4344}"/>
              </a:ext>
            </a:extLst>
          </p:cNvPr>
          <p:cNvSpPr txBox="1"/>
          <p:nvPr/>
        </p:nvSpPr>
        <p:spPr>
          <a:xfrm>
            <a:off x="629263" y="1474208"/>
            <a:ext cx="927181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Quality control and assurance activities</a:t>
            </a:r>
            <a:endParaRPr lang="en-AU" dirty="0"/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Obtain three quotes and confirm the requirements in the developer contract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Hold weekly progress meetings and review progress against the schedule and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Apply change control: review and approve change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8889C-A12C-A5D8-1BD6-24EB87174186}"/>
              </a:ext>
            </a:extLst>
          </p:cNvPr>
          <p:cNvSpPr txBox="1"/>
          <p:nvPr/>
        </p:nvSpPr>
        <p:spPr>
          <a:xfrm>
            <a:off x="4078420" y="4155257"/>
            <a:ext cx="89768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Review the design and content against the Website Design Brief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Test every deliverable against the standards in Section 4 and record the results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User acceptance check by College staff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AU" sz="1800" dirty="0"/>
              <a:t>Evaluate the project and record the lessons learnt</a:t>
            </a:r>
          </a:p>
        </p:txBody>
      </p:sp>
      <p:pic>
        <p:nvPicPr>
          <p:cNvPr id="10" name="Picture 9" descr="Quality Control Approved Icon Vector Stock Vector (Royalty Free) 1396741916  | Shutterstock">
            <a:extLst>
              <a:ext uri="{FF2B5EF4-FFF2-40B4-BE49-F238E27FC236}">
                <a16:creationId xmlns:a16="http://schemas.microsoft.com/office/drawing/2014/main" id="{3F20BA67-6F5B-BF7F-105F-86C9E1AF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988869"/>
            <a:ext cx="16510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9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C6B1-B97D-48AA-04A9-561957EE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74704-7670-8DBE-EAD5-0DFE46755A3B}"/>
              </a:ext>
            </a:extLst>
          </p:cNvPr>
          <p:cNvSpPr txBox="1"/>
          <p:nvPr/>
        </p:nvSpPr>
        <p:spPr>
          <a:xfrm>
            <a:off x="730292" y="2444482"/>
            <a:ext cx="92718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AU" b="1" dirty="0">
                <a:ea typeface="Calibri" panose="020F0502020204030204" pitchFamily="34" charset="0"/>
                <a:cs typeface="Times New Roman" panose="02020603050405020304" pitchFamily="18" charset="0"/>
              </a:rPr>
              <a:t>Quality roles and responsibilities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ea typeface="Calibri" panose="020F0502020204030204" pitchFamily="34" charset="0"/>
                <a:cs typeface="Times New Roman" panose="02020603050405020304" pitchFamily="18" charset="0"/>
              </a:rPr>
              <a:t>Plan for reporting quality control  (identify &amp; corrective action)</a:t>
            </a:r>
            <a:endParaRPr lang="en-AU" dirty="0"/>
          </a:p>
          <a:p>
            <a:pPr marL="342900" indent="-342900">
              <a:buFontTx/>
              <a:buAutoNum type="arabicPeriod"/>
            </a:pPr>
            <a:r>
              <a:rPr lang="en-AU" dirty="0"/>
              <a:t> </a:t>
            </a:r>
            <a:r>
              <a:rPr lang="en-AU" b="1" kern="100" dirty="0">
                <a:ea typeface="Calibri" panose="020F0502020204030204" pitchFamily="34" charset="0"/>
                <a:cs typeface="Times New Roman" panose="02020603050405020304" pitchFamily="18" charset="0"/>
              </a:rPr>
              <a:t>Quality tools</a:t>
            </a:r>
            <a:endParaRPr lang="en-AU" dirty="0"/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A0134F-2896-12E7-CC05-95EE1BDFA7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5212" r="14958"/>
          <a:stretch>
            <a:fillRect/>
          </a:stretch>
        </p:blipFill>
        <p:spPr>
          <a:xfrm>
            <a:off x="629263" y="635000"/>
            <a:ext cx="10933474" cy="5720079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41238E7-6926-CEEF-B51F-6C2105AB9C51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management system and plan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0E4DA83-737D-7161-752F-96A3F646A5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23738-B5A9-E479-1906-C8EE1980A0F0}"/>
              </a:ext>
            </a:extLst>
          </p:cNvPr>
          <p:cNvSpPr txBox="1"/>
          <p:nvPr/>
        </p:nvSpPr>
        <p:spPr>
          <a:xfrm>
            <a:off x="629263" y="1474208"/>
            <a:ext cx="9271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Pillars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34DA8-A2EE-D6A5-7124-D52B9328F6C5}"/>
              </a:ext>
            </a:extLst>
          </p:cNvPr>
          <p:cNvSpPr txBox="1"/>
          <p:nvPr/>
        </p:nvSpPr>
        <p:spPr>
          <a:xfrm rot="16200000">
            <a:off x="2366480" y="3674787"/>
            <a:ext cx="2183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Quality roles and responsibilities</a:t>
            </a:r>
            <a:r>
              <a:rPr lang="en-AU" dirty="0">
                <a:effectLst/>
              </a:rPr>
              <a:t>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54F1A-E1F5-935F-FEA0-54A11BC0B027}"/>
              </a:ext>
            </a:extLst>
          </p:cNvPr>
          <p:cNvSpPr txBox="1"/>
          <p:nvPr/>
        </p:nvSpPr>
        <p:spPr>
          <a:xfrm rot="16200000">
            <a:off x="7393085" y="3452569"/>
            <a:ext cx="2479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AU" sz="1800" b="1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Quality tools</a:t>
            </a:r>
            <a:endParaRPr lang="en-AU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B0BCB-7BB8-6CAE-566A-2029B5B33AB1}"/>
              </a:ext>
            </a:extLst>
          </p:cNvPr>
          <p:cNvSpPr txBox="1"/>
          <p:nvPr/>
        </p:nvSpPr>
        <p:spPr>
          <a:xfrm rot="16200000">
            <a:off x="4841061" y="3217455"/>
            <a:ext cx="24793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Plan for reporting quality control  (identify &amp; corrective action)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609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IT Quality Policy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3017520" cy="3525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spcAft>
                <a:spcPts val="1400"/>
              </a:spcAft>
            </a:pPr>
            <a:r>
              <a:rPr lang="en-US" b="1" dirty="0"/>
              <a:t>To </a:t>
            </a:r>
            <a:r>
              <a:rPr lang="en-US" sz="1800" dirty="0">
                <a:solidFill>
                  <a:schemeClr val="tx1"/>
                </a:solidFill>
              </a:rPr>
              <a:t>commitment to quality with Strategic Objective 2 across all IT activities and ICT systems, aligned with Strategic Objective 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10A9B-D5D8-9EE8-5B8D-AA496E67A751}"/>
              </a:ext>
            </a:extLst>
          </p:cNvPr>
          <p:cNvSpPr txBox="1"/>
          <p:nvPr/>
        </p:nvSpPr>
        <p:spPr>
          <a:xfrm>
            <a:off x="6664960" y="1876063"/>
            <a:ext cx="4561840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Policy principles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Fitness for purpose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Legislative compliance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Structured governance and procurement (QMP for every project)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Quality assurance and control (testing before go-live)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Risk and issue management (issues register, corrective action requests)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Continuous improvement and capability (training, benchmarks, yearly review)</a:t>
            </a:r>
            <a:endParaRPr lang="en-US" sz="1800" dirty="0"/>
          </a:p>
        </p:txBody>
      </p:sp>
      <p:pic>
        <p:nvPicPr>
          <p:cNvPr id="6" name="Picture 5" descr="Policy Document Icon PNG Images, Vectors Free Download - Pngtree">
            <a:extLst>
              <a:ext uri="{FF2B5EF4-FFF2-40B4-BE49-F238E27FC236}">
                <a16:creationId xmlns:a16="http://schemas.microsoft.com/office/drawing/2014/main" id="{6138EBF2-5146-E3A6-B330-2A904138B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1838960" y="166624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objectives and deliverables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9103360" cy="327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</a:t>
            </a:r>
            <a:r>
              <a:rPr lang="en-US" sz="1600" b="1" dirty="0"/>
              <a:t>O</a:t>
            </a:r>
            <a:r>
              <a:rPr lang="en-US" sz="1600" b="1" dirty="0">
                <a:solidFill>
                  <a:schemeClr val="tx1"/>
                </a:solidFill>
              </a:rPr>
              <a:t>bjectives: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Modern, responsive website that appeals to younger students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Online enrolments with invoices issued automatically through the accounting system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Students only area linked to the LMS, for authorised users only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Positive user experience, fewer than 5 customer complaints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Delivery by </a:t>
            </a:r>
            <a:r>
              <a:rPr lang="en-US" sz="1600" b="1" dirty="0">
                <a:solidFill>
                  <a:schemeClr val="tx1"/>
                </a:solidFill>
              </a:rPr>
              <a:t>30 June 2023</a:t>
            </a:r>
            <a:r>
              <a:rPr lang="en-US" sz="1600" dirty="0">
                <a:solidFill>
                  <a:schemeClr val="tx1"/>
                </a:solidFill>
              </a:rPr>
              <a:t>, within </a:t>
            </a:r>
            <a:r>
              <a:rPr lang="en-US" sz="1600" b="1" dirty="0">
                <a:solidFill>
                  <a:schemeClr val="tx1"/>
                </a:solidFill>
              </a:rPr>
              <a:t>$10,000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department trained to maintain the website</a:t>
            </a:r>
            <a:endParaRPr lang="en-US" sz="18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Compliance with privacy, copyright, Australian Consumer Law and WHS</a:t>
            </a:r>
            <a:endParaRPr lang="en-US" sz="1800" dirty="0"/>
          </a:p>
          <a:p>
            <a:pPr marL="0" indent="0" algn="l">
              <a:spcBef>
                <a:spcPts val="1000"/>
              </a:spcBef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 algn="l">
              <a:spcBef>
                <a:spcPts val="1000"/>
              </a:spcBef>
              <a:buNone/>
            </a:pPr>
            <a:endParaRPr lang="en-US" sz="160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A81E7-3169-60AC-D2FC-E6DC709BEA2C}"/>
              </a:ext>
            </a:extLst>
          </p:cNvPr>
          <p:cNvSpPr txBox="1"/>
          <p:nvPr/>
        </p:nvSpPr>
        <p:spPr>
          <a:xfrm>
            <a:off x="5659120" y="4975573"/>
            <a:ext cx="6116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1600" b="1" dirty="0">
                <a:solidFill>
                  <a:schemeClr val="tx1"/>
                </a:solidFill>
              </a:rPr>
              <a:t>Deliverables reviewed:</a:t>
            </a:r>
            <a:r>
              <a:rPr lang="en-US" sz="1600" dirty="0">
                <a:solidFill>
                  <a:schemeClr val="tx1"/>
                </a:solidFill>
              </a:rPr>
              <a:t> design, content, enrolment form, accounting integration, students only area/LMS, IT training</a:t>
            </a:r>
            <a:endParaRPr lang="en-US" sz="1800" dirty="0"/>
          </a:p>
        </p:txBody>
      </p:sp>
      <p:pic>
        <p:nvPicPr>
          <p:cNvPr id="6" name="Picture 5" descr="Png File - Goal White Icon Png Transparent PNG - 980x984 - Free Download on  NicePNG">
            <a:extLst>
              <a:ext uri="{FF2B5EF4-FFF2-40B4-BE49-F238E27FC236}">
                <a16:creationId xmlns:a16="http://schemas.microsoft.com/office/drawing/2014/main" id="{E6F93FD1-D372-C1A5-07FD-F39CE0A0FB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4887595" y="684125"/>
            <a:ext cx="5226050" cy="5489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quality standards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aphicFrame>
        <p:nvGraphicFramePr>
          <p:cNvPr id="8" name="Quality standar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284778"/>
              </p:ext>
            </p:extLst>
          </p:nvPr>
        </p:nvGraphicFramePr>
        <p:xfrm>
          <a:off x="1412240" y="1463040"/>
          <a:ext cx="8991600" cy="1828800"/>
        </p:xfrm>
        <a:graphic>
          <a:graphicData uri="http://schemas.openxmlformats.org/drawingml/2006/table">
            <a:tbl>
              <a:tblPr/>
              <a:tblGrid>
                <a:gridCol w="148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5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Example standards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Performance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100% of test enrolments submitted and invoiced correctly; 0 broken links; only authorised users access the students only area; HTTPS on all pages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Process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Three quotes; weekly developer meetings with minutes; written approval of changes; issues recorded within 1 business day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Timing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Go-live by 30 June 2023; within $10,000; monthly status report; training before handover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tandards notes"/>
          <p:cNvSpPr txBox="1"/>
          <p:nvPr/>
        </p:nvSpPr>
        <p:spPr>
          <a:xfrm>
            <a:off x="660400" y="4368800"/>
            <a:ext cx="5588000" cy="1686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Cannot be compromised:</a:t>
            </a:r>
            <a:r>
              <a:rPr lang="en-US" sz="1800" dirty="0">
                <a:solidFill>
                  <a:schemeClr val="tx1"/>
                </a:solidFill>
              </a:rPr>
              <a:t> enrolments, invoices, access, links, content, privacy and security</a:t>
            </a:r>
          </a:p>
          <a:p>
            <a:pPr marL="0" indent="0">
              <a:spcAft>
                <a:spcPts val="800"/>
              </a:spcAft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Can be fixed after go-live:</a:t>
            </a:r>
            <a:r>
              <a:rPr lang="en-US" sz="1800" dirty="0">
                <a:solidFill>
                  <a:schemeClr val="tx1"/>
                </a:solidFill>
              </a:rPr>
              <a:t> minor cosmetic issues in responsive design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QMP: roles, monitoring and corrective action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9" name="Ro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63205"/>
              </p:ext>
            </p:extLst>
          </p:nvPr>
        </p:nvGraphicFramePr>
        <p:xfrm>
          <a:off x="762000" y="1371600"/>
          <a:ext cx="9499600" cy="2304288"/>
        </p:xfrm>
        <a:graphic>
          <a:graphicData uri="http://schemas.openxmlformats.org/drawingml/2006/table">
            <a:tbl>
              <a:tblPr/>
              <a:tblGrid>
                <a:gridCol w="204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8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Main responsibilities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 Manager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Owns the plan, single point of contact with the developer, approves changes and CARs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IT Support Officer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Testing, link checks, issues register, test log, status reports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Web developer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Delivers to standards, attends weekly meetings, fixes defects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Senior management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Approves budget, timeframe and scope changes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College staff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Provide and approve content, user acceptance check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ools and corrective action"/>
          <p:cNvSpPr txBox="1"/>
          <p:nvPr/>
        </p:nvSpPr>
        <p:spPr>
          <a:xfrm>
            <a:off x="548640" y="4206240"/>
            <a:ext cx="11064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endParaRPr lang="en-US" sz="1600" b="1" dirty="0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600" b="1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Tools:</a:t>
            </a:r>
            <a:r>
              <a:rPr lang="en-US" sz="1600" dirty="0">
                <a:solidFill>
                  <a:schemeClr val="tx1"/>
                </a:solidFill>
              </a:rPr>
              <a:t> issues register, test plan and log, checklist, meeting minutes, monthly status report, CAR form, complaints log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Corrective action:</a:t>
            </a:r>
            <a:r>
              <a:rPr lang="en-US" sz="1600" dirty="0">
                <a:solidFill>
                  <a:schemeClr val="tx1"/>
                </a:solidFill>
              </a:rPr>
              <a:t> Identify and record, Analyse, Raise CAR, Approve, Implement, Verify, Close and improve</a:t>
            </a:r>
            <a:endParaRPr lang="en-US" sz="1600" dirty="0"/>
          </a:p>
        </p:txBody>
      </p:sp>
      <p:pic>
        <p:nvPicPr>
          <p:cNvPr id="3" name="Picture 2" descr="Tree Root Icon Outline Stock Illustrations – 2,233 Tree Root Icon Outline  Stock Illustrations, Vectors &amp; Clipart - Dreamstime">
            <a:extLst>
              <a:ext uri="{FF2B5EF4-FFF2-40B4-BE49-F238E27FC236}">
                <a16:creationId xmlns:a16="http://schemas.microsoft.com/office/drawing/2014/main" id="{7CDBF633-36FB-38BE-5DDF-2C5B5D5F59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3327400" y="98298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upa logo Vectors - Download Free High-Quality Vectors | Magnific (formerly  Freepik)">
            <a:extLst>
              <a:ext uri="{FF2B5EF4-FFF2-40B4-BE49-F238E27FC236}">
                <a16:creationId xmlns:a16="http://schemas.microsoft.com/office/drawing/2014/main" id="{C056A4EA-1044-A774-7962-206E185F288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362632" y="766916"/>
            <a:ext cx="5397910" cy="5397910"/>
          </a:xfrm>
          <a:prstGeom prst="rect">
            <a:avLst/>
          </a:prstGeom>
        </p:spPr>
      </p:pic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Skills to meet quality standards</a:t>
            </a:r>
            <a:endParaRPr lang="en-US" sz="3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11064240" cy="41080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AU" sz="2400" dirty="0"/>
              <a:t>Which quality-related roles and key tasks can you competently perform on the project?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dirty="0"/>
              <a:t>Are you able to cover each of the following areas of interest?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dirty="0"/>
              <a:t>Are there any skills or knowledge gaps that could affect? training, support or specialist expertise required? 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dirty="0"/>
              <a:t>Do you identify with the standards required to ensure that quality objectives are met?</a:t>
            </a:r>
          </a:p>
          <a:p>
            <a:pPr marL="342900" indent="-342900">
              <a:buFont typeface="+mj-lt"/>
              <a:buAutoNum type="arabicPeriod"/>
            </a:pPr>
            <a:endParaRPr lang="en-AU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3616960" y="1016000"/>
            <a:ext cx="73863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Questions?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2753360" y="3068321"/>
            <a:ext cx="8884920" cy="1859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What </a:t>
            </a:r>
            <a:r>
              <a:rPr lang="en-US" sz="3200" b="1" dirty="0">
                <a:solidFill>
                  <a:schemeClr val="tx1"/>
                </a:solidFill>
              </a:rPr>
              <a:t>add, remove or change</a:t>
            </a:r>
            <a:r>
              <a:rPr lang="en-US" sz="3200" dirty="0">
                <a:solidFill>
                  <a:schemeClr val="tx1"/>
                </a:solidFill>
              </a:rPr>
              <a:t> in the policy or the plan?</a:t>
            </a:r>
            <a:endParaRPr lang="en-US" sz="3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roles or responsibilities</a:t>
            </a:r>
            <a:r>
              <a:rPr lang="en-US" sz="3200" dirty="0">
                <a:solidFill>
                  <a:schemeClr val="tx1"/>
                </a:solidFill>
              </a:rPr>
              <a:t>?</a:t>
            </a:r>
            <a:endParaRPr lang="en-US" sz="32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3200" b="1" dirty="0"/>
              <a:t>Any no listed R</a:t>
            </a:r>
            <a:r>
              <a:rPr lang="en-US" sz="3200" b="1" dirty="0">
                <a:solidFill>
                  <a:schemeClr val="tx1"/>
                </a:solidFill>
              </a:rPr>
              <a:t>isk</a:t>
            </a:r>
            <a:r>
              <a:rPr lang="en-US" sz="3200" dirty="0">
                <a:solidFill>
                  <a:schemeClr val="tx1"/>
                </a:solidFill>
              </a:rPr>
              <a:t>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4" name="Picture 3" descr="Questions - Free communications icons">
            <a:extLst>
              <a:ext uri="{FF2B5EF4-FFF2-40B4-BE49-F238E27FC236}">
                <a16:creationId xmlns:a16="http://schemas.microsoft.com/office/drawing/2014/main" id="{ECEE0A44-D03D-82AB-078B-4426EA8268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30825" y="1091380"/>
            <a:ext cx="4876800" cy="4876800"/>
          </a:xfrm>
          <a:prstGeom prst="rect">
            <a:avLst/>
          </a:prstGeom>
        </p:spPr>
      </p:pic>
      <p:pic>
        <p:nvPicPr>
          <p:cNvPr id="5" name="Picture 4" descr="Questions - Free communications icons">
            <a:extLst>
              <a:ext uri="{FF2B5EF4-FFF2-40B4-BE49-F238E27FC236}">
                <a16:creationId xmlns:a16="http://schemas.microsoft.com/office/drawing/2014/main" id="{74BB7478-0563-1E0B-1408-EAB3E7D31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644640" y="1268361"/>
            <a:ext cx="48768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BDE6-F9FE-BEFA-0BF9-67E48C26DABB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560320" y="2514600"/>
            <a:ext cx="7680960" cy="914400"/>
          </a:xfrm>
        </p:spPr>
        <p:txBody>
          <a:bodyPr>
            <a:noAutofit/>
          </a:bodyPr>
          <a:lstStyle/>
          <a:p>
            <a:r>
              <a:rPr lang="en-AU" sz="8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559673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{E4CE3404-14BE-7649-B3DE-9F76381A32FB}tf10001064</Template>
  <TotalTime>55</TotalTime>
  <Words>992</Words>
  <Application>Microsoft Macintosh PowerPoint</Application>
  <PresentationFormat>Widescreen</PresentationFormat>
  <Paragraphs>161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Garamond</vt:lpstr>
      <vt:lpstr>Roboto Flex</vt:lpstr>
      <vt:lpstr>Organic</vt:lpstr>
      <vt:lpstr>New Website Quality Management Plan Based on QA_planning-and-developmentV1</vt:lpstr>
      <vt:lpstr>Why quality matters</vt:lpstr>
      <vt:lpstr>Legislation and benchmarks</vt:lpstr>
      <vt:lpstr>Quality management system and plan</vt:lpstr>
      <vt:lpstr>Quality management system and plan</vt:lpstr>
      <vt:lpstr>Quality management system and plan</vt:lpstr>
      <vt:lpstr>Quality management system and plan</vt:lpstr>
      <vt:lpstr>Quality management system and plan</vt:lpstr>
      <vt:lpstr>IT Quality Policy</vt:lpstr>
      <vt:lpstr>QMP: objectives and deliverables</vt:lpstr>
      <vt:lpstr>QMP: quality standards</vt:lpstr>
      <vt:lpstr>QMP: roles, monitoring and corrective action</vt:lpstr>
      <vt:lpstr>Skills to meet quality standards</vt:lpstr>
      <vt:lpstr>Questions?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Perez</dc:creator>
  <cp:lastModifiedBy>Manuel Perez</cp:lastModifiedBy>
  <cp:revision>8</cp:revision>
  <dcterms:created xsi:type="dcterms:W3CDTF">2026-10-15T12:43:03Z</dcterms:created>
  <dcterms:modified xsi:type="dcterms:W3CDTF">2026-10-17T10:46:29Z</dcterms:modified>
</cp:coreProperties>
</file>