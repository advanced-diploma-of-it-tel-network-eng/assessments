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5"/>
  </p:notesMasterIdLst>
  <p:sldIdLst>
    <p:sldId id="256" r:id="rId5"/>
    <p:sldId id="264" r:id="rId6"/>
    <p:sldId id="258" r:id="rId7"/>
    <p:sldId id="265" r:id="rId8"/>
    <p:sldId id="259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3" r:id="rId25"/>
    <p:sldId id="284" r:id="rId26"/>
    <p:sldId id="282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300" r:id="rId42"/>
    <p:sldId id="299" r:id="rId43"/>
    <p:sldId id="301" r:id="rId44"/>
  </p:sldIdLst>
  <p:sldSz cx="18288000" cy="10287000"/>
  <p:notesSz cx="6858000" cy="9144000"/>
  <p:embeddedFontLst>
    <p:embeddedFont>
      <p:font typeface="Montserrat Light" panose="020F0302020204030204" pitchFamily="34" charset="0"/>
      <p:regular r:id="rId46"/>
      <p:italic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7A"/>
    <a:srgbClr val="00343B"/>
    <a:srgbClr val="3185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25" autoAdjust="0"/>
    <p:restoredTop sz="94658" autoAdjust="0"/>
  </p:normalViewPr>
  <p:slideViewPr>
    <p:cSldViewPr>
      <p:cViewPr varScale="1">
        <p:scale>
          <a:sx n="78" d="100"/>
          <a:sy n="78" d="100"/>
        </p:scale>
        <p:origin x="192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2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1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0B3E1-491F-4DE8-A825-66E9E1A4E861}" type="datetimeFigureOut">
              <a:rPr lang="en-AU" smtClean="0"/>
              <a:t>21/8/2024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39F7C-6B36-476B-B1D0-27733B12A6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897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310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689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0434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3078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8371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739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0814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5890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1899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110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0739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6619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7826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2900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583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39F7C-6B36-476B-B1D0-27733B12A66A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9117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78BD-796B-4BF5-9352-FDB8F694BDD8}" type="datetime1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C0374-7323-4899-A285-30D4680251FF}" type="datetime1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B2E7-0883-48F9-A2AE-E62B73A2CD8A}" type="datetime1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5A4A-B286-41D1-8DC5-255BBBA32973}" type="datetime1">
              <a:rPr lang="en-US" smtClean="0"/>
              <a:t>8/21/24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5A523-D0F7-40EF-A1C3-17B333BFBA64}" type="datetime1">
              <a:rPr lang="en-US" smtClean="0"/>
              <a:t>8/21/24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C1C6-123F-405D-B9C1-3B5F2BC493E7}" type="datetime1">
              <a:rPr lang="en-US" smtClean="0"/>
              <a:t>8/21/24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B230-936C-4B14-9C23-DC5BFEFFC0E3}" type="datetime1">
              <a:rPr lang="en-US" smtClean="0"/>
              <a:t>8/21/24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079D-DBB9-4D0D-96E8-FA0D521E7DD6}" type="datetime1">
              <a:rPr lang="en-US" smtClean="0"/>
              <a:t>8/21/24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4028-E257-4309-A47A-A16337C13BB6}" type="datetime1">
              <a:rPr lang="en-US" smtClean="0"/>
              <a:t>8/21/24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8A6B-8545-4E52-A3BC-AD823A5E0488}" type="datetime1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1B2BB-BE6D-4712-A22A-AC737EAAB597}" type="datetime1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code Unit title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6FB01-A7E7-41C8-A8AA-BDABEF389F1E}" type="datetime1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Unit code Unit title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reshservice.com/change-management-software/itil-change-management" TargetMode="External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s://www.prosci.com/resources/articles/change-management-process" TargetMode="External"/><Relationship Id="rId4" Type="http://schemas.openxmlformats.org/officeDocument/2006/relationships/hyperlink" Target="https://scm.ncsu.edu/scm-articles/article/what-is-supply-chain-management-scm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windows-hardware/test/hlk/testref/server-testing-overview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dging-the-gap.com/cost-effective-solution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136093"/>
            <a:ext cx="18288000" cy="2150907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055092"/>
            <a:ext cx="7120939" cy="92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00"/>
              </a:lnSpc>
            </a:pPr>
            <a:r>
              <a:rPr lang="en-US" sz="6000" b="1" spc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</a:t>
            </a:r>
            <a:endParaRPr lang="en-US" sz="6000" b="1" spc="1000" dirty="0">
              <a:solidFill>
                <a:schemeClr val="bg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876300"/>
            <a:ext cx="17590875" cy="227806"/>
            <a:chOff x="0" y="-24217"/>
            <a:chExt cx="23454501" cy="303741"/>
          </a:xfrm>
          <a:solidFill>
            <a:schemeClr val="bg1"/>
          </a:solidFill>
        </p:grpSpPr>
        <p:sp>
          <p:nvSpPr>
            <p:cNvPr id="5" name="AutoShape 5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0" y="-24217"/>
              <a:ext cx="292033" cy="27952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7F4F7A97-A779-1E49-B915-21C7B9E053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87200" y="1638300"/>
            <a:ext cx="5404100" cy="574725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494756" y="3824674"/>
            <a:ext cx="9849644" cy="2438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75"/>
              </a:lnSpc>
            </a:pPr>
            <a:r>
              <a:rPr lang="en-US" sz="5000" spc="74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  <a:endParaRPr lang="en-US" sz="5000" spc="747" dirty="0">
              <a:solidFill>
                <a:schemeClr val="bg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90497"/>
            <a:ext cx="18288000" cy="8196478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44000" y="1866900"/>
            <a:ext cx="16655652" cy="835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200" b="1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ooter Placeholder 9">
            <a:extLst>
              <a:ext uri="{FF2B5EF4-FFF2-40B4-BE49-F238E27FC236}">
                <a16:creationId xmlns:a16="http://schemas.microsoft.com/office/drawing/2014/main" id="{AF863EBA-C596-487E-8F62-FCA80C193D54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4538CC83-08C9-4A4A-AF50-3DDFA9C924C2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ooter Placeholder 9">
            <a:extLst>
              <a:ext uri="{FF2B5EF4-FFF2-40B4-BE49-F238E27FC236}">
                <a16:creationId xmlns:a16="http://schemas.microsoft.com/office/drawing/2014/main" id="{07043586-2022-0942-B7A7-70145F42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 descr="Books with solid fill">
            <a:extLst>
              <a:ext uri="{FF2B5EF4-FFF2-40B4-BE49-F238E27FC236}">
                <a16:creationId xmlns:a16="http://schemas.microsoft.com/office/drawing/2014/main" id="{0AD5BB95-9FC0-0447-9EF0-6EA767C30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3543300"/>
            <a:ext cx="5029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1791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business solution for an </a:t>
            </a:r>
            <a:r>
              <a:rPr lang="en-US" sz="3000" spc="25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come from the desire for change or to support achieving strategic objectives.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776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ORGANISATIONAL REQUIREMENTS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an </a:t>
            </a:r>
            <a:r>
              <a:rPr lang="en-US" sz="3000" spc="25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organisation’s</a:t>
            </a: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requirements, standards, policies and procedures can provide information that can help you when developing technical requirements to enable business solutions to be implemented in an </a:t>
            </a:r>
            <a:r>
              <a:rPr lang="en-US" sz="3000" spc="25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2182775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1723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READ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Australian code of ethics and how does it relate to working with a client to develop technical requirements for business solutions?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471643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930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MODELS AND SOLUTIONS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important factor in establishing business solution requirements is to determine the business model.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models describes how an </a:t>
            </a:r>
            <a:r>
              <a:rPr lang="en-US" sz="3000" spc="25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creates, delivers, and captures value. It describes how the business operates.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45991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776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PROCESS DESIGN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process design is concerned with developing an effective approach to tasks that have to be performed within a business. Therefore, tasks are defined and then documented in a work flow that ensures they are performed to requirements and that no steps are missed.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1133636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930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AND BUSINESS LIAISON PROCESSES 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and business liaison processes provide integrated support services to customers. 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business liaisons may focus on helping customers understand, explore and acquisition technology solutions.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2749418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250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STRATEGIES AND BUSINESS SOLUTIONS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exploring possible business solutions, corporate strategies can be very influential, for example, if the </a:t>
            </a:r>
            <a:r>
              <a:rPr lang="en-US" sz="3000" spc="25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organisation’s</a:t>
            </a: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objective is to </a:t>
            </a:r>
            <a:r>
              <a:rPr lang="en-US" sz="3000" spc="25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minimise</a:t>
            </a: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costs, then this will be a major factor in the solution chosen.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395774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1723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GROUP WORK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at least four ways that you can discover the business requirements of a client.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916402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1791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HARDWARE, SOFTWARE AND NETWORK REQUIREMENTS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next step in researching a business solution is to define and </a:t>
            </a:r>
            <a:r>
              <a:rPr lang="en-US" sz="3000" spc="25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hardware, software and network requirements.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1107982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1723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PRACTICAL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person in the group should test their current internet speed twice, using the ping test (</a:t>
            </a:r>
            <a:r>
              <a:rPr lang="en-US" sz="3000" spc="25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speedtest.net</a:t>
            </a: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833633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1791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SPECIFICATIONS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specifications will outline both what the current ICT infrastructure is in place and also what is required. 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  <p:pic>
        <p:nvPicPr>
          <p:cNvPr id="4" name="Graphic 3" descr="Laptop outline">
            <a:extLst>
              <a:ext uri="{FF2B5EF4-FFF2-40B4-BE49-F238E27FC236}">
                <a16:creationId xmlns:a16="http://schemas.microsoft.com/office/drawing/2014/main" id="{0C23CBBE-A59E-574B-9993-2FF7FBC94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3800" y="3117673"/>
            <a:ext cx="3460698" cy="346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99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481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PRACTICAL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a look at the computer you are working on.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up a technical specification for both hardware and software relating to the computer you are working on. Include software installed, hardware connected and peripherals.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 an overview of the network set up in the classroom that you are currently in.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up your technical specification into a word document. Use a table to display your information.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4097400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557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REQUIREMENTS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interface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interface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 interface requirements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1154574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250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REQUIREMENTS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security requirements for a business solution will be dependent upon </a:t>
            </a:r>
            <a:r>
              <a:rPr lang="en-US" sz="3000" spc="25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organisational</a:t>
            </a: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needs, compliance to legislation and standards as well as functionality.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  <p:pic>
        <p:nvPicPr>
          <p:cNvPr id="18" name="Graphic 57" descr="Lock with solid fill">
            <a:extLst>
              <a:ext uri="{FF2B5EF4-FFF2-40B4-BE49-F238E27FC236}">
                <a16:creationId xmlns:a16="http://schemas.microsoft.com/office/drawing/2014/main" id="{445583E9-9271-B24E-B359-62640CFFD2A4}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69314" y="4181779"/>
            <a:ext cx="2779172" cy="277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39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1791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DOCUMENTING THE PROPOSED BUSINESS SOLUTION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requirements report is generally undertaken to confirm what the client has told you has been recorded and documented.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2661912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1: Researching the business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1197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GROUP WORK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requirements report.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4066351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90497"/>
            <a:ext cx="18288000" cy="8196478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44000" y="1866900"/>
            <a:ext cx="16655652" cy="835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200" b="1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2: The impact of technical solutions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ooter Placeholder 9">
            <a:extLst>
              <a:ext uri="{FF2B5EF4-FFF2-40B4-BE49-F238E27FC236}">
                <a16:creationId xmlns:a16="http://schemas.microsoft.com/office/drawing/2014/main" id="{AF863EBA-C596-487E-8F62-FCA80C193D54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4538CC83-08C9-4A4A-AF50-3DDFA9C924C2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ooter Placeholder 9">
            <a:extLst>
              <a:ext uri="{FF2B5EF4-FFF2-40B4-BE49-F238E27FC236}">
                <a16:creationId xmlns:a16="http://schemas.microsoft.com/office/drawing/2014/main" id="{07043586-2022-0942-B7A7-70145F42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  <p:pic>
        <p:nvPicPr>
          <p:cNvPr id="12" name="Picture 11" descr="A picture containing indoor, floor&#10;&#10;Description automatically generated">
            <a:extLst>
              <a:ext uri="{FF2B5EF4-FFF2-40B4-BE49-F238E27FC236}">
                <a16:creationId xmlns:a16="http://schemas.microsoft.com/office/drawing/2014/main" id="{72EE7FE1-551D-1A41-A8D9-646890976DA4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374913" y="3619500"/>
            <a:ext cx="7543800" cy="4706380"/>
          </a:xfrm>
          <a:prstGeom prst="rect">
            <a:avLst/>
          </a:prstGeom>
          <a:ln w="38100">
            <a:solidFill>
              <a:schemeClr val="bg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1417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2: The impact of technical solutions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1791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SOLUTIONS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software solution should fit the business requirements and focus on the client needs.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2009873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2: The impact of technical solutions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1791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 PROCESSES REQUIRING CHANGE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a software solution has been defined, you will then need to identify processes requiring change by the business solution.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2920163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2: The impact of technical solutions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3456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OF CHANGES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implementing changes to a business solution, change management steps should be followed to ensure that the project is a success. 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new ICT project will incur some type of change in process, policy or business.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3143368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2: The impact of technical solutions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4598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READ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the following article on ITIL Change Management: 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https://freshservice.com/change-management-software/itil-change-management</a:t>
            </a: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supply chain management?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https://scm.ncsu.edu/scm-articles/article/what-is-supply-chain-management-scm</a:t>
            </a: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the following website for information about the Change Management Process: 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https://www.prosci.com/resources/articles/change-management-process</a:t>
            </a: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23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2984974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2: The impact of technical solutions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250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PROTOCOLS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sz="3000" spc="25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analysing</a:t>
            </a: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impact of technical solutions, you will also need to research the security protocols that are applicable to the business solutions being implemented.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2763725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2: The impact of technical solutions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1723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Documenting the project, goals and any impacts of changes should be done so according to any </a:t>
            </a:r>
            <a:r>
              <a:rPr lang="en-US" sz="3000" spc="25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organisational</a:t>
            </a: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requirements.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2673449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2: The impact of technical solutions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5124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GROUP WORK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report on the impacts of technical solutions that relate to this scenario.  Identify hardware, software and network requirements.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software solutions to build business platform.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processes to be changed by the business solution.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the effect changes will have on the value or supply chain.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a range of security protocols suitable for business solutions.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impact of changes and submit to relevant stakeholders.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26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1435606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90497"/>
            <a:ext cx="18288000" cy="8196478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44000" y="1866900"/>
            <a:ext cx="16655652" cy="835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200" b="1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3: Implementing business solutions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ooter Placeholder 9">
            <a:extLst>
              <a:ext uri="{FF2B5EF4-FFF2-40B4-BE49-F238E27FC236}">
                <a16:creationId xmlns:a16="http://schemas.microsoft.com/office/drawing/2014/main" id="{AF863EBA-C596-487E-8F62-FCA80C193D54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4538CC83-08C9-4A4A-AF50-3DDFA9C924C2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27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ooter Placeholder 9">
            <a:extLst>
              <a:ext uri="{FF2B5EF4-FFF2-40B4-BE49-F238E27FC236}">
                <a16:creationId xmlns:a16="http://schemas.microsoft.com/office/drawing/2014/main" id="{07043586-2022-0942-B7A7-70145F42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  <p:pic>
        <p:nvPicPr>
          <p:cNvPr id="15" name="Picture 14" descr="A group of people looking at a computer&#10;&#10;Description automatically generated">
            <a:extLst>
              <a:ext uri="{FF2B5EF4-FFF2-40B4-BE49-F238E27FC236}">
                <a16:creationId xmlns:a16="http://schemas.microsoft.com/office/drawing/2014/main" id="{E4BF86AD-CBED-C64E-99AE-830AA091C68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5456" y="3619500"/>
            <a:ext cx="7178992" cy="4782710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89530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3: Implementing business solutions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250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IMPLEMENTING HARDWARE AND SOFTWARE SOLUTIONS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next stage in developing the business solution is the implementation of the hardware and software solutions so that they can be tested. This may be via a virtual machine, trial software, prototypes or pilot tests. 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28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2873407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3: Implementing business solutions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3084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READ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the support documentation from Microsoft for Server Testing: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https://docs.microsoft.com/en-us/windows-hardware/test/hlk/testref/server-testing-overview</a:t>
            </a: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any notes to </a:t>
            </a:r>
            <a:r>
              <a:rPr lang="en-US" sz="3000" spc="25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summarise</a:t>
            </a: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you have read and keep for future reference.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29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1322484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3: Implementing business solutions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776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NEEDS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 the change management plan, should be an outline for training or a training plan. This should be developed to ensure that any gaps in knowledge and skills as a result of the business process change are addressed.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30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589910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3: Implementing business solutions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4136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RESEARCH AND DISCUSS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were part of a project team to implement a new Operating System to a department, what skills could you bring? 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any gaps that you would have.  Explain ways in which you could undertake professional development to fill any skill gaps.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a link to at least two training development courses or events that you could attend to support your training in these areas.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31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28848561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3: Implementing business solutions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5124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 TIMELINES AND ALLOCATION OF RESOURCES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timing for projects and allocation of resources will be determined within the change management plan and could include: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Benchmarks and milestones for completion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Gantt chart with timelines for activities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Allocation of resources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plans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 from software development frameworks.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32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3756353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3: Implementing business solutions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4444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COSTS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major aspect of developing business solutions will be the costs involved. There are four basic types of cost: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Fixed-Direct costs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Fixed-Indirect costs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Variable-Direct costs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Variable-Indirect costs.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33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1784287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3: Implementing business solutions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3084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READ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the following article and watch the embedded video on cost effective business solutions: 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https://www.bridging-the-gap.com/cost-effective-solutions/</a:t>
            </a: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(10:41)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any notes to </a:t>
            </a:r>
            <a:r>
              <a:rPr lang="en-US" sz="3000" spc="25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summarise</a:t>
            </a: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you have read and keep for future reference.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34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1279756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3: Implementing business solutions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1723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GROUP WORK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and undertake a number of tests for a website (choose one that is similar to your scenario).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35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1121043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90497"/>
            <a:ext cx="18288000" cy="8196478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44000" y="1866900"/>
            <a:ext cx="16655652" cy="835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200" b="1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4: Validation and </a:t>
            </a:r>
            <a:r>
              <a:rPr lang="en-US" sz="5200" b="1" spc="192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finalising</a:t>
            </a:r>
            <a:r>
              <a:rPr lang="en-US" sz="5200" b="1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activities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ooter Placeholder 9">
            <a:extLst>
              <a:ext uri="{FF2B5EF4-FFF2-40B4-BE49-F238E27FC236}">
                <a16:creationId xmlns:a16="http://schemas.microsoft.com/office/drawing/2014/main" id="{AF863EBA-C596-487E-8F62-FCA80C193D54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4538CC83-08C9-4A4A-AF50-3DDFA9C924C2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36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ooter Placeholder 9">
            <a:extLst>
              <a:ext uri="{FF2B5EF4-FFF2-40B4-BE49-F238E27FC236}">
                <a16:creationId xmlns:a16="http://schemas.microsoft.com/office/drawing/2014/main" id="{07043586-2022-0942-B7A7-70145F42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B41804A4-8AE1-9143-8276-E385D24DC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16146">
            <a:off x="6819900" y="3578601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657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4: Validation and </a:t>
            </a:r>
            <a:r>
              <a:rPr lang="en-US" sz="4600" spc="192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finalising</a:t>
            </a: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activities 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403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TESTING, VALIDATING AND DOCUMENTING RESULTS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business solution can range from upgrading equipment to design and development of a new website. 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testing and validation will be specific to the project. 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37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36568049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4: Validation and </a:t>
            </a:r>
            <a:r>
              <a:rPr lang="en-US" sz="4600" spc="192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finalising</a:t>
            </a: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activities 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1791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 is part of testing and an important step to ensuring the technical quality of a solution. 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38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  <p:pic>
        <p:nvPicPr>
          <p:cNvPr id="4" name="Graphic 3" descr="Inbox Check with solid fill">
            <a:extLst>
              <a:ext uri="{FF2B5EF4-FFF2-40B4-BE49-F238E27FC236}">
                <a16:creationId xmlns:a16="http://schemas.microsoft.com/office/drawing/2014/main" id="{DC36B8A2-2D07-BB41-8D80-0F21F37F3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72900" y="2932836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68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4: Validation and </a:t>
            </a:r>
            <a:r>
              <a:rPr lang="en-US" sz="4600" spc="192" dirty="0" err="1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finalising</a:t>
            </a:r>
            <a:r>
              <a:rPr lang="en-US" sz="4600" spc="192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activities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09800" y="1676834"/>
            <a:ext cx="14935200" cy="4290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RESEARCH AND DISCUSS</a:t>
            </a:r>
            <a:endParaRPr lang="en-US" sz="2500" b="1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a website through the validator and take a screen shot of the result.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test plan for a website for Usability, Accessibility, Functionality, Cross platform browser compatibility and Content checking.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your tests and document the results.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Draft an email to the Head of IT, explaining the test, the outcome of the results and recommendations for improvements based on the tests carried out.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C53F16-C04B-4406-BBF9-D518BC5BACFE}"/>
              </a:ext>
            </a:extLst>
          </p:cNvPr>
          <p:cNvGrpSpPr/>
          <p:nvPr/>
        </p:nvGrpSpPr>
        <p:grpSpPr>
          <a:xfrm>
            <a:off x="1028700" y="495300"/>
            <a:ext cx="17259300" cy="218203"/>
            <a:chOff x="1028700" y="723900"/>
            <a:chExt cx="17259300" cy="218203"/>
          </a:xfrm>
          <a:solidFill>
            <a:schemeClr val="bg1"/>
          </a:solidFill>
        </p:grpSpPr>
        <p:sp>
          <p:nvSpPr>
            <p:cNvPr id="6" name="AutoShape 6"/>
            <p:cNvSpPr/>
            <p:nvPr/>
          </p:nvSpPr>
          <p:spPr>
            <a:xfrm>
              <a:off x="1044000" y="826884"/>
              <a:ext cx="17244000" cy="207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028700" y="72390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6856574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2684448" y="732460"/>
              <a:ext cx="219025" cy="209643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Graphic 11" descr="Head with gears">
            <a:extLst>
              <a:ext uri="{FF2B5EF4-FFF2-40B4-BE49-F238E27FC236}">
                <a16:creationId xmlns:a16="http://schemas.microsoft.com/office/drawing/2014/main" id="{24660D36-8AF2-4286-AAA9-78D28F42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43741" y="1676834"/>
            <a:ext cx="1207968" cy="1207968"/>
          </a:xfrm>
          <a:prstGeom prst="rect">
            <a:avLst/>
          </a:prstGeom>
        </p:spPr>
      </p:pic>
      <p:sp>
        <p:nvSpPr>
          <p:cNvPr id="18" name="Footer Placeholder 9">
            <a:extLst>
              <a:ext uri="{FF2B5EF4-FFF2-40B4-BE49-F238E27FC236}">
                <a16:creationId xmlns:a16="http://schemas.microsoft.com/office/drawing/2014/main" id="{28DCC937-298F-458D-B2D1-4B0524F6D728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2CC8EE72-4EB2-A843-A602-EEAF09A8A80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39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F58BA240-524B-DA43-9C69-3E8B587D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766809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03551" y="8746411"/>
            <a:ext cx="11716295" cy="71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spc="192" dirty="0">
                <a:solidFill>
                  <a:srgbClr val="F4F8F3"/>
                </a:solidFill>
                <a:latin typeface="Montserrat Light"/>
              </a:rPr>
              <a:t>Topic 1: Insert topic title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46788"/>
            <a:ext cx="17244000" cy="220040"/>
            <a:chOff x="0" y="0"/>
            <a:chExt cx="23454501" cy="293386"/>
          </a:xfrm>
          <a:solidFill>
            <a:srgbClr val="00667A"/>
          </a:solidFill>
        </p:grpSpPr>
        <p:sp>
          <p:nvSpPr>
            <p:cNvPr id="6" name="AutoShape 6"/>
            <p:cNvSpPr/>
            <p:nvPr/>
          </p:nvSpPr>
          <p:spPr>
            <a:xfrm>
              <a:off x="0" y="125899"/>
              <a:ext cx="23454501" cy="27726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3863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770499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5540998" y="0"/>
              <a:ext cx="292033" cy="279524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54B605DE-63C5-4B19-89D4-FD69EFF21B44}"/>
              </a:ext>
            </a:extLst>
          </p:cNvPr>
          <p:cNvSpPr/>
          <p:nvPr/>
        </p:nvSpPr>
        <p:spPr>
          <a:xfrm>
            <a:off x="0" y="7886700"/>
            <a:ext cx="18288000" cy="1621070"/>
          </a:xfrm>
          <a:prstGeom prst="rect">
            <a:avLst/>
          </a:prstGeom>
          <a:solidFill>
            <a:srgbClr val="00667A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31A0CE9-BF08-435F-8682-EFAE4D36D398}"/>
              </a:ext>
            </a:extLst>
          </p:cNvPr>
          <p:cNvSpPr txBox="1"/>
          <p:nvPr/>
        </p:nvSpPr>
        <p:spPr>
          <a:xfrm>
            <a:off x="990600" y="8325338"/>
            <a:ext cx="16745495" cy="697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4: Validation and </a:t>
            </a:r>
            <a:r>
              <a:rPr lang="en-US" sz="4600" spc="192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finalising</a:t>
            </a:r>
            <a:r>
              <a:rPr lang="en-US" sz="4600" spc="19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activities 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AC90A64-36BA-4EF5-BA95-DA478EAEA9E6}"/>
              </a:ext>
            </a:extLst>
          </p:cNvPr>
          <p:cNvSpPr txBox="1"/>
          <p:nvPr/>
        </p:nvSpPr>
        <p:spPr>
          <a:xfrm>
            <a:off x="1028700" y="1676834"/>
            <a:ext cx="12687300" cy="2250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COMPLETION AND DOCUMENTATION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spc="25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testing and validation is complete then all the documentation and results should be reviewed for verification by the relevant personnel such as the project manager or client.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5BC0C534-ADAF-D84D-81C8-2A1D2405EFB8}"/>
              </a:ext>
            </a:extLst>
          </p:cNvPr>
          <p:cNvSpPr txBox="1">
            <a:spLocks/>
          </p:cNvSpPr>
          <p:nvPr/>
        </p:nvSpPr>
        <p:spPr>
          <a:xfrm>
            <a:off x="17526000" y="164563"/>
            <a:ext cx="478452" cy="3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 smtClean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40</a:t>
            </a:fld>
            <a:endParaRPr lang="en-US" b="1" dirty="0">
              <a:solidFill>
                <a:srgbClr val="31859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1238751-4B41-A64D-9256-38165806A582}"/>
              </a:ext>
            </a:extLst>
          </p:cNvPr>
          <p:cNvSpPr txBox="1">
            <a:spLocks/>
          </p:cNvSpPr>
          <p:nvPr/>
        </p:nvSpPr>
        <p:spPr>
          <a:xfrm>
            <a:off x="15163800" y="971549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rgbClr val="0066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A8F4825C-4505-0F4A-8B10-A51D3B2C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9715499"/>
            <a:ext cx="6019800" cy="442894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ICTSAD508 </a:t>
            </a:r>
            <a:r>
              <a:rPr lang="en-US" dirty="0">
                <a:solidFill>
                  <a:srgbClr val="0066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technical requirements for business solutions </a:t>
            </a:r>
          </a:p>
        </p:txBody>
      </p:sp>
    </p:spTree>
    <p:extLst>
      <p:ext uri="{BB962C8B-B14F-4D97-AF65-F5344CB8AC3E}">
        <p14:creationId xmlns:p14="http://schemas.microsoft.com/office/powerpoint/2010/main" val="1201443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FD0F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C80B126816A9409F2C6B4A1A06B318" ma:contentTypeVersion="6" ma:contentTypeDescription="Create a new document." ma:contentTypeScope="" ma:versionID="93e6218cc9a5cb33643a587d5c89411d">
  <xsd:schema xmlns:xsd="http://www.w3.org/2001/XMLSchema" xmlns:xs="http://www.w3.org/2001/XMLSchema" xmlns:p="http://schemas.microsoft.com/office/2006/metadata/properties" xmlns:ns2="f892f62c-4428-46cf-8317-3c03dc187ab3" xmlns:ns3="aee44d23-490f-4ef4-bf1f-6297206e59cc" targetNamespace="http://schemas.microsoft.com/office/2006/metadata/properties" ma:root="true" ma:fieldsID="6d6edcab13f742a9104421b1fc1081ba" ns2:_="" ns3:_="">
    <xsd:import namespace="f892f62c-4428-46cf-8317-3c03dc187ab3"/>
    <xsd:import namespace="aee44d23-490f-4ef4-bf1f-6297206e59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92f62c-4428-46cf-8317-3c03dc187a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e44d23-490f-4ef4-bf1f-6297206e59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C2408A-750E-4E6F-8A3D-D0E7614A9B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E89CE6-56DC-4C5B-AF87-65D6FCB933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92f62c-4428-46cf-8317-3c03dc187ab3"/>
    <ds:schemaRef ds:uri="aee44d23-490f-4ef4-bf1f-6297206e5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8709C2-6B68-4343-8C46-D19101FE246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2030</Words>
  <Application>Microsoft Macintosh PowerPoint</Application>
  <PresentationFormat>Custom</PresentationFormat>
  <Paragraphs>264</Paragraphs>
  <Slides>40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Calibri</vt:lpstr>
      <vt:lpstr>Montserrat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Harjot Khera</cp:lastModifiedBy>
  <cp:revision>27</cp:revision>
  <dcterms:created xsi:type="dcterms:W3CDTF">2006-08-16T00:00:00Z</dcterms:created>
  <dcterms:modified xsi:type="dcterms:W3CDTF">2024-08-21T05:17:21Z</dcterms:modified>
  <dc:identifier>DADyeL1zUHA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0x01010055C80B126816A9409F2C6B4A1A06B318</vt:lpwstr>
  </property>
  <property fmtid="{D5CDD505-2E9C-101B-9397-08002B2CF9AE}" pid="3" name="Order">
    <vt:r8>12855300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