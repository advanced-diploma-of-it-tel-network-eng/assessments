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Plus Jakarta Sans ExtraBold"/>
      <p:bold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Inter SemiBold"/>
      <p:regular r:id="rId31"/>
      <p:bold r:id="rId32"/>
      <p:italic r:id="rId33"/>
      <p:boldItalic r:id="rId34"/>
    </p:embeddedFont>
    <p:embeddedFont>
      <p:font typeface="Amatic SC"/>
      <p:regular r:id="rId35"/>
      <p:bold r:id="rId36"/>
    </p:embeddedFont>
    <p:embeddedFont>
      <p:font typeface="Inter"/>
      <p:regular r:id="rId37"/>
      <p:bold r:id="rId38"/>
      <p:italic r:id="rId39"/>
      <p:boldItalic r:id="rId40"/>
    </p:embeddedFont>
    <p:embeddedFont>
      <p:font typeface="Plus Jakarta Sans"/>
      <p:regular r:id="rId41"/>
      <p:bold r:id="rId42"/>
      <p:italic r:id="rId43"/>
      <p:boldItalic r:id="rId44"/>
    </p:embeddedFont>
    <p:embeddedFont>
      <p:font typeface="Source Code Pro"/>
      <p:regular r:id="rId45"/>
      <p:bold r:id="rId46"/>
      <p:italic r:id="rId47"/>
      <p:boldItalic r:id="rId48"/>
    </p:embeddedFont>
    <p:embeddedFont>
      <p:font typeface="Plus Jakarta Sans SemiBold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Italic.fntdata"/><Relationship Id="rId42" Type="http://schemas.openxmlformats.org/officeDocument/2006/relationships/font" Target="fonts/PlusJakartaSans-bold.fntdata"/><Relationship Id="rId41" Type="http://schemas.openxmlformats.org/officeDocument/2006/relationships/font" Target="fonts/PlusJakartaSans-regular.fntdata"/><Relationship Id="rId44" Type="http://schemas.openxmlformats.org/officeDocument/2006/relationships/font" Target="fonts/PlusJakartaSans-boldItalic.fntdata"/><Relationship Id="rId43" Type="http://schemas.openxmlformats.org/officeDocument/2006/relationships/font" Target="fonts/PlusJakartaSans-italic.fntdata"/><Relationship Id="rId46" Type="http://schemas.openxmlformats.org/officeDocument/2006/relationships/font" Target="fonts/SourceCodePro-bold.fntdata"/><Relationship Id="rId45" Type="http://schemas.openxmlformats.org/officeDocument/2006/relationships/font" Target="fonts/SourceCode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SourceCodePro-boldItalic.fntdata"/><Relationship Id="rId47" Type="http://schemas.openxmlformats.org/officeDocument/2006/relationships/font" Target="fonts/SourceCodePro-italic.fntdata"/><Relationship Id="rId49" Type="http://schemas.openxmlformats.org/officeDocument/2006/relationships/font" Target="fonts/PlusJakartaSa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SemiBold-regular.fntdata"/><Relationship Id="rId30" Type="http://schemas.openxmlformats.org/officeDocument/2006/relationships/font" Target="fonts/Roboto-boldItalic.fntdata"/><Relationship Id="rId33" Type="http://schemas.openxmlformats.org/officeDocument/2006/relationships/font" Target="fonts/InterSemiBold-italic.fntdata"/><Relationship Id="rId32" Type="http://schemas.openxmlformats.org/officeDocument/2006/relationships/font" Target="fonts/InterSemiBold-bold.fntdata"/><Relationship Id="rId35" Type="http://schemas.openxmlformats.org/officeDocument/2006/relationships/font" Target="fonts/AmaticSC-regular.fntdata"/><Relationship Id="rId34" Type="http://schemas.openxmlformats.org/officeDocument/2006/relationships/font" Target="fonts/InterSemiBold-boldItalic.fntdata"/><Relationship Id="rId37" Type="http://schemas.openxmlformats.org/officeDocument/2006/relationships/font" Target="fonts/Inter-regular.fntdata"/><Relationship Id="rId36" Type="http://schemas.openxmlformats.org/officeDocument/2006/relationships/font" Target="fonts/AmaticSC-bold.fntdata"/><Relationship Id="rId39" Type="http://schemas.openxmlformats.org/officeDocument/2006/relationships/font" Target="fonts/Inter-italic.fntdata"/><Relationship Id="rId38" Type="http://schemas.openxmlformats.org/officeDocument/2006/relationships/font" Target="fonts/Inter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font" Target="fonts/PlusJakartaSansExtraBold-boldItalic.fntdata"/><Relationship Id="rId25" Type="http://schemas.openxmlformats.org/officeDocument/2006/relationships/font" Target="fonts/PlusJakartaSansExtraBold-bold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29" Type="http://schemas.openxmlformats.org/officeDocument/2006/relationships/font" Target="fonts/Roboto-italic.fntdata"/><Relationship Id="rId51" Type="http://schemas.openxmlformats.org/officeDocument/2006/relationships/font" Target="fonts/PlusJakartaSansSemiBold-italic.fntdata"/><Relationship Id="rId50" Type="http://schemas.openxmlformats.org/officeDocument/2006/relationships/font" Target="fonts/PlusJakartaSansSemiBold-bold.fntdata"/><Relationship Id="rId52" Type="http://schemas.openxmlformats.org/officeDocument/2006/relationships/font" Target="fonts/PlusJakartaSans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7de2233b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7de2233bb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7dc332817_0_2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f7dc332817_0_2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15600" y="522867"/>
            <a:ext cx="11360700" cy="3587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15600" y="5187200"/>
            <a:ext cx="11360700" cy="941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737000" y="1070000"/>
            <a:ext cx="4718100" cy="47181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15600" y="390467"/>
            <a:ext cx="11360700" cy="106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15600" y="1638233"/>
            <a:ext cx="11360700" cy="44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15600" y="390467"/>
            <a:ext cx="11360700" cy="106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15600" y="1638233"/>
            <a:ext cx="5333100" cy="44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6443200" y="1638233"/>
            <a:ext cx="5333100" cy="44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406400" y="412467"/>
            <a:ext cx="11383500" cy="997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354000" y="1441867"/>
            <a:ext cx="5393700" cy="2280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354000" y="3793630"/>
            <a:ext cx="53937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matic SC"/>
              <a:buNone/>
              <a:defRPr b="1" sz="3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415600" y="1653700"/>
            <a:ext cx="11360700" cy="2642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415600" y="44061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390467"/>
            <a:ext cx="113607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638233"/>
            <a:ext cx="113607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Code Pro"/>
              <a:buChar char="●"/>
              <a:defRPr sz="24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○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■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●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○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■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●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○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■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23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49.png"/><Relationship Id="rId7" Type="http://schemas.openxmlformats.org/officeDocument/2006/relationships/image" Target="../media/image35.png"/><Relationship Id="rId8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image" Target="../media/image33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Relationship Id="rId4" Type="http://schemas.openxmlformats.org/officeDocument/2006/relationships/image" Target="../media/image55.png"/><Relationship Id="rId5" Type="http://schemas.openxmlformats.org/officeDocument/2006/relationships/image" Target="../media/image40.png"/><Relationship Id="rId6" Type="http://schemas.openxmlformats.org/officeDocument/2006/relationships/image" Target="../media/image37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6.png"/><Relationship Id="rId4" Type="http://schemas.openxmlformats.org/officeDocument/2006/relationships/image" Target="../media/image50.png"/><Relationship Id="rId10" Type="http://schemas.openxmlformats.org/officeDocument/2006/relationships/image" Target="../media/image39.png"/><Relationship Id="rId9" Type="http://schemas.openxmlformats.org/officeDocument/2006/relationships/image" Target="../media/image43.png"/><Relationship Id="rId5" Type="http://schemas.openxmlformats.org/officeDocument/2006/relationships/image" Target="../media/image53.png"/><Relationship Id="rId6" Type="http://schemas.openxmlformats.org/officeDocument/2006/relationships/image" Target="../media/image61.png"/><Relationship Id="rId7" Type="http://schemas.openxmlformats.org/officeDocument/2006/relationships/image" Target="../media/image31.png"/><Relationship Id="rId8" Type="http://schemas.openxmlformats.org/officeDocument/2006/relationships/image" Target="../media/image4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5.png"/><Relationship Id="rId4" Type="http://schemas.openxmlformats.org/officeDocument/2006/relationships/image" Target="../media/image44.png"/><Relationship Id="rId10" Type="http://schemas.openxmlformats.org/officeDocument/2006/relationships/image" Target="../media/image56.png"/><Relationship Id="rId9" Type="http://schemas.openxmlformats.org/officeDocument/2006/relationships/image" Target="../media/image58.png"/><Relationship Id="rId5" Type="http://schemas.openxmlformats.org/officeDocument/2006/relationships/image" Target="../media/image41.png"/><Relationship Id="rId6" Type="http://schemas.openxmlformats.org/officeDocument/2006/relationships/image" Target="../media/image38.png"/><Relationship Id="rId7" Type="http://schemas.openxmlformats.org/officeDocument/2006/relationships/image" Target="../media/image52.png"/><Relationship Id="rId8" Type="http://schemas.openxmlformats.org/officeDocument/2006/relationships/image" Target="../media/image5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7.png"/><Relationship Id="rId4" Type="http://schemas.openxmlformats.org/officeDocument/2006/relationships/image" Target="../media/image47.png"/><Relationship Id="rId5" Type="http://schemas.openxmlformats.org/officeDocument/2006/relationships/image" Target="../media/image60.png"/><Relationship Id="rId6" Type="http://schemas.openxmlformats.org/officeDocument/2006/relationships/image" Target="../media/image68.png"/><Relationship Id="rId7" Type="http://schemas.openxmlformats.org/officeDocument/2006/relationships/image" Target="../media/image7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3.png"/><Relationship Id="rId4" Type="http://schemas.openxmlformats.org/officeDocument/2006/relationships/image" Target="../media/image62.png"/><Relationship Id="rId5" Type="http://schemas.openxmlformats.org/officeDocument/2006/relationships/image" Target="../media/image51.png"/><Relationship Id="rId6" Type="http://schemas.openxmlformats.org/officeDocument/2006/relationships/image" Target="../media/image59.png"/><Relationship Id="rId7" Type="http://schemas.openxmlformats.org/officeDocument/2006/relationships/image" Target="../media/image64.png"/><Relationship Id="rId8" Type="http://schemas.openxmlformats.org/officeDocument/2006/relationships/image" Target="../media/image6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1.png"/><Relationship Id="rId4" Type="http://schemas.openxmlformats.org/officeDocument/2006/relationships/image" Target="../media/image6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7.png"/><Relationship Id="rId4" Type="http://schemas.openxmlformats.org/officeDocument/2006/relationships/image" Target="../media/image70.png"/><Relationship Id="rId5" Type="http://schemas.openxmlformats.org/officeDocument/2006/relationships/image" Target="../media/image67.png"/><Relationship Id="rId6" Type="http://schemas.openxmlformats.org/officeDocument/2006/relationships/image" Target="../media/image6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/>
        </p:nvSpPr>
        <p:spPr>
          <a:xfrm>
            <a:off x="0" y="1704100"/>
            <a:ext cx="12192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chemeClr val="accent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UPDATED ICT POLICIES AND PROCEDURES</a:t>
            </a:r>
            <a:endParaRPr sz="3900">
              <a:solidFill>
                <a:schemeClr val="accent2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601300" y="2740475"/>
            <a:ext cx="897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76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CTICT618 | Manage IP, ethics and privacy in ICT environments</a:t>
            </a:r>
            <a:endParaRPr sz="1800">
              <a:solidFill>
                <a:schemeClr val="dk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678500" y="6547050"/>
            <a:ext cx="451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5757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Milestones</a:t>
            </a:r>
            <a:r>
              <a:rPr b="0" i="0" lang="en-US" sz="1200" u="none" cap="none" strike="noStrike">
                <a:solidFill>
                  <a:srgbClr val="75757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IC </a:t>
            </a:r>
            <a:r>
              <a:rPr lang="en-US" sz="1200">
                <a:solidFill>
                  <a:srgbClr val="75757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|</a:t>
            </a:r>
            <a:r>
              <a:rPr b="0" i="0" lang="en-US" sz="1200" u="none" cap="none" strike="noStrike">
                <a:solidFill>
                  <a:srgbClr val="75757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Advanced Dip of IT</a:t>
            </a:r>
            <a:endParaRPr>
              <a:solidFill>
                <a:srgbClr val="757575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0" y="6463236"/>
            <a:ext cx="25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Manuel </a:t>
            </a:r>
            <a:r>
              <a:rPr lang="en-US"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- </a:t>
            </a:r>
            <a:r>
              <a:rPr b="0" i="0" lang="en-US" sz="1200" u="none" cap="none" strike="noStrike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08 July 2026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756526"/>
            <a:ext cx="5143500" cy="2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6581775" y="3187154"/>
            <a:ext cx="478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b="0" i="0" lang="en-US" sz="15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Interactive Focus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6581775" y="3501479"/>
            <a:ext cx="45529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presentation is designed as a structured roundtable discussion. Staff are invited to share their views, ask questions, and provide constructive feedback on technical operations.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1095375" y="2848272"/>
            <a:ext cx="48101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Present updated policies and procedures for IT Biz Solutions.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1095375" y="3250108"/>
            <a:ext cx="48101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Highlight changes made to copyright, privacy, and conduct.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1095375" y="3651944"/>
            <a:ext cx="48101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Connect compliance requirements to practical daily ICT workflows.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1095375" y="4312741"/>
            <a:ext cx="48101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Support team understanding before intranet publication.</a:t>
            </a:r>
            <a:endParaRPr/>
          </a:p>
        </p:txBody>
      </p:sp>
      <p:pic>
        <p:nvPicPr>
          <p:cNvPr descr="image.png" id="71" name="Google Shape;7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1775" y="3225254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" name="Google Shape;7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88161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" name="Google Shape;7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28344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" name="Google Shape;7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68528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" name="Google Shape;7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346078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Purpose of Today’s Session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/>
        </p:nvSpPr>
        <p:spPr>
          <a:xfrm>
            <a:off x="904875" y="1927825"/>
            <a:ext cx="4796400" cy="4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nter"/>
              <a:buChar char="●"/>
            </a:pPr>
            <a:r>
              <a:rPr lang="en-US" sz="2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Copyright policy and procedures</a:t>
            </a:r>
            <a:endParaRPr sz="2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nter"/>
              <a:buChar char="●"/>
            </a:pPr>
            <a:r>
              <a:rPr lang="en-US" sz="2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Privacy policy and procedures</a:t>
            </a:r>
            <a:endParaRPr sz="2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nter"/>
              <a:buChar char="●"/>
            </a:pPr>
            <a:r>
              <a:rPr lang="en-US" sz="2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Staff code of conduct</a:t>
            </a:r>
            <a:endParaRPr sz="2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nter"/>
              <a:buChar char="●"/>
            </a:pPr>
            <a:r>
              <a:rPr lang="en-US" sz="2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Grievance procedure for ethical breaches</a:t>
            </a:r>
            <a:endParaRPr sz="2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nter"/>
              <a:buChar char="●"/>
            </a:pPr>
            <a:r>
              <a:rPr lang="en-US" sz="2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Digital Security Procedure</a:t>
            </a:r>
            <a:endParaRPr sz="2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Policies and procedures U&amp;D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M</a:t>
            </a:r>
            <a:r>
              <a:rPr lang="en-US">
                <a:solidFill>
                  <a:schemeClr val="dk2"/>
                </a:solidFill>
              </a:rPr>
              <a:t>andatory software whitelisting checks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Role-Based Access Control (RBAC) and data masking protocols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Strict ethical guidelines regarding the use of administrative privileges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Handle confidential reporting of ethical violations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>
                <a:solidFill>
                  <a:schemeClr val="dk2"/>
                </a:solidFill>
              </a:rPr>
              <a:t>Replaced routine USB-based with approved systems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620416"/>
            <a:ext cx="5143500" cy="2179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620416"/>
            <a:ext cx="5143500" cy="217914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057275" y="3458616"/>
            <a:ext cx="47805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Identified Issues</a:t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1057275" y="3772953"/>
            <a:ext cx="45531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Existing IT policies were out of date and didn't cover modern diagnostic tools, remote terminals, cloud software licensing, and logs. This exposed IT Biz Solutions to compliance risks.</a:t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6581775" y="3458616"/>
            <a:ext cx="47805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Regulatory Alignment</a:t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6581775" y="3772941"/>
            <a:ext cx="45529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New policies update system requirements to align with current Australian standards, technical best practices, internal protocols, and proper corporate documentation workflows.</a:t>
            </a:r>
            <a:endParaRPr/>
          </a:p>
        </p:txBody>
      </p:sp>
      <p:pic>
        <p:nvPicPr>
          <p:cNvPr descr="image.png" id="96" name="Google Shape;9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7275" y="2944266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2944266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These Policies Needed Review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498526"/>
            <a:ext cx="3429000" cy="2422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498526"/>
            <a:ext cx="3429000" cy="2422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2498526"/>
            <a:ext cx="3429000" cy="242292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1057275" y="3336726"/>
            <a:ext cx="298037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Copyright &amp; IP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1057275" y="3651051"/>
            <a:ext cx="28384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Adherence to the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Copyright Act 1968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Protecting third-party proprietary systems, scripts, diagnostic utilities, and documentation.</a:t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4676775" y="3336726"/>
            <a:ext cx="298037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Privacy Security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4676775" y="3651051"/>
            <a:ext cx="2838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Compliance with the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Privacy Act 1988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Australian Privacy Principles (APPs), and logs under interception legislation.</a:t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8296275" y="3336726"/>
            <a:ext cx="298037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Professional Ethics</a:t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8296275" y="3651051"/>
            <a:ext cx="2838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Guided by standard ICT industry codes of conduct, including the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ACS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ITPA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professional codes of ethics.</a:t>
            </a:r>
            <a:endParaRPr/>
          </a:p>
        </p:txBody>
      </p:sp>
      <p:pic>
        <p:nvPicPr>
          <p:cNvPr descr="image.png" id="113" name="Google Shape;11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822376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2822376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96275" y="2822376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Compliance Requirements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523952"/>
            <a:ext cx="5095875" cy="4990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 txBox="1"/>
          <p:nvPr/>
        </p:nvSpPr>
        <p:spPr>
          <a:xfrm>
            <a:off x="904875" y="571500"/>
            <a:ext cx="52008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Copyright Policy and Procedures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762000" y="571500"/>
            <a:ext cx="47625" cy="8953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762000" y="1657350"/>
            <a:ext cx="535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b="0" i="0" lang="en-US" sz="1500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Whitelisting Mandate</a:t>
            </a:r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762000" y="1971675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mandatory check is now required before installing or executing any utility, diagnostic script, or external application on corporate systems and servers.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762000" y="2845891"/>
            <a:ext cx="50958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Unauthorised developer tools, unapproved open-source scripts, or unlicenced utilities are strictly prohibited from execution.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942975" y="3666827"/>
            <a:ext cx="47720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"Check the corporate whitelist repository prior to any installation workflow."</a:t>
            </a:r>
            <a:endParaRPr/>
          </a:p>
        </p:txBody>
      </p:sp>
      <p:pic>
        <p:nvPicPr>
          <p:cNvPr descr="image.png" id="129" name="Google Shape;12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954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me - youth mentoring that changes lives" id="130" name="Google Shape;13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1425" y="1004888"/>
            <a:ext cx="4848224" cy="484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194917"/>
            <a:ext cx="5143500" cy="3030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94917"/>
            <a:ext cx="5143500" cy="303014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 txBox="1"/>
          <p:nvPr/>
        </p:nvSpPr>
        <p:spPr>
          <a:xfrm>
            <a:off x="1057275" y="2490192"/>
            <a:ext cx="478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Practical ICT Workflows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6581775" y="2490192"/>
            <a:ext cx="478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Compliance Outcomes</a:t>
            </a:r>
            <a:endParaRPr/>
          </a:p>
        </p:txBody>
      </p:sp>
      <p:pic>
        <p:nvPicPr>
          <p:cNvPr descr="image.png" id="139" name="Google Shape;13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275" y="2528292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/>
        </p:nvSpPr>
        <p:spPr>
          <a:xfrm>
            <a:off x="1390650" y="2947392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Check license requirements for all diagnostic scripts.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1390650" y="3349228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Validate vendor terms before server installations.</a:t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1390650" y="3751064"/>
            <a:ext cx="421957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Ensure only approved manuals and training assets are distributed.</a:t>
            </a: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1390650" y="4411860"/>
            <a:ext cx="421957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Confirm third-party codes/libraries are properly referenced.</a:t>
            </a:r>
            <a:endParaRPr/>
          </a:p>
        </p:txBody>
      </p:sp>
      <p:pic>
        <p:nvPicPr>
          <p:cNvPr descr="image.png" id="144" name="Google Shape;14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52829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6915150" y="2947392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Mitigates copyright infringement risks entirely.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6915150" y="3349228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Ensures standard vendor agreements remain valid.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6915150" y="3751064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Secures company digital IP and assets properly.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6915150" y="4152900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Maintains operational security across servers.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Copyright Compliance in IT Work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498526"/>
            <a:ext cx="5143500" cy="2422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498526"/>
            <a:ext cx="5143500" cy="242292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1057275" y="3336726"/>
            <a:ext cx="47805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Technical Safeguards</a:t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1057275" y="3651051"/>
            <a:ext cx="45529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Role-Based Access Control (RBAC) enforces the principle of least privilege. Data masking is mandatory when troubleshooting enterprise databases or viewing customer profiles.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6581775" y="3336726"/>
            <a:ext cx="47805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Secure Log Handling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6581775" y="3651051"/>
            <a:ext cx="45529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Support diagnostic logs must be handled securely, kept confidential, and promptly sanitised or purged immediately after the troubleshooting ticket is marked resolved.</a:t>
            </a:r>
            <a:endParaRPr/>
          </a:p>
        </p:txBody>
      </p:sp>
      <p:pic>
        <p:nvPicPr>
          <p:cNvPr descr="image.png" id="161" name="Google Shape;16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275" y="2822376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822376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Privacy Policy and Procedures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Security Procedure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762000" y="571500"/>
            <a:ext cx="47700" cy="44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762000" y="2043750"/>
            <a:ext cx="5172600" cy="31401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ource Code Pro"/>
              <a:buChar char="●"/>
            </a:pPr>
            <a:r>
              <a:rPr lang="en-US" sz="24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Lost, stolen or damaged</a:t>
            </a:r>
            <a:endParaRPr sz="24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ource Code Pro"/>
              <a:buChar char="●"/>
            </a:pPr>
            <a:r>
              <a:rPr lang="en-US" sz="24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Malware</a:t>
            </a:r>
            <a:endParaRPr sz="24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ource Code Pro"/>
              <a:buChar char="●"/>
            </a:pPr>
            <a:r>
              <a:rPr lang="en-US" sz="24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Out of control</a:t>
            </a:r>
            <a:endParaRPr sz="24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ource Code Pro"/>
              <a:buChar char="●"/>
            </a:pPr>
            <a:r>
              <a:rPr lang="en-US" sz="24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No aligned with RBAC, SSO, MFA</a:t>
            </a:r>
            <a:endParaRPr sz="24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6024025" y="1600600"/>
            <a:ext cx="5172600" cy="4617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ource Code Pro"/>
              <a:buChar char="●"/>
            </a:pPr>
            <a:r>
              <a:rPr lang="en-US" sz="24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Must not USB drives</a:t>
            </a:r>
            <a:endParaRPr sz="24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ource Code Pro"/>
              <a:buChar char="●"/>
            </a:pPr>
            <a:r>
              <a:rPr lang="en-US" sz="24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en-US" sz="24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pproved encrypted corporate </a:t>
            </a:r>
            <a:r>
              <a:rPr lang="en-US" sz="24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backup </a:t>
            </a:r>
            <a:r>
              <a:rPr lang="en-US" sz="24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systems</a:t>
            </a:r>
            <a:endParaRPr sz="24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ource Code Pro"/>
              <a:buChar char="●"/>
            </a:pPr>
            <a:r>
              <a:rPr lang="en-US" sz="24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Out of control</a:t>
            </a:r>
            <a:endParaRPr sz="24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ource Code Pro"/>
              <a:buChar char="●"/>
            </a:pPr>
            <a:r>
              <a:rPr lang="en-US" sz="24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SSO, MFA and role-based permissions</a:t>
            </a:r>
            <a:endParaRPr sz="24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ource Code Pro"/>
              <a:buChar char="●"/>
            </a:pPr>
            <a:r>
              <a:rPr lang="en-US" sz="24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Must be logged and reviewed periodically</a:t>
            </a:r>
            <a:endParaRPr sz="24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/>
        </p:nvSpPr>
        <p:spPr>
          <a:xfrm>
            <a:off x="1095375" y="1900237"/>
            <a:ext cx="48101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Enforce strict RBAC protocols across systems.</a:t>
            </a:r>
            <a:endParaRPr/>
          </a:p>
        </p:txBody>
      </p:sp>
      <p:sp>
        <p:nvSpPr>
          <p:cNvPr id="178" name="Google Shape;178;p22"/>
          <p:cNvSpPr txBox="1"/>
          <p:nvPr/>
        </p:nvSpPr>
        <p:spPr>
          <a:xfrm>
            <a:off x="1095375" y="2302073"/>
            <a:ext cx="48101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Mask database screenshot records to protect privacy.</a:t>
            </a:r>
            <a:endParaRPr/>
          </a:p>
        </p:txBody>
      </p:sp>
      <p:sp>
        <p:nvSpPr>
          <p:cNvPr id="179" name="Google Shape;179;p22"/>
          <p:cNvSpPr txBox="1"/>
          <p:nvPr/>
        </p:nvSpPr>
        <p:spPr>
          <a:xfrm>
            <a:off x="1095375" y="2703909"/>
            <a:ext cx="48101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Purge support diagnostics files post-ticket resolution.</a:t>
            </a:r>
            <a:endParaRPr/>
          </a:p>
        </p:txBody>
      </p:sp>
      <p:sp>
        <p:nvSpPr>
          <p:cNvPr id="180" name="Google Shape;180;p22"/>
          <p:cNvSpPr txBox="1"/>
          <p:nvPr/>
        </p:nvSpPr>
        <p:spPr>
          <a:xfrm>
            <a:off x="1095375" y="3105745"/>
            <a:ext cx="48101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Store system evidence only in official ticketing files.</a:t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1095375" y="3507581"/>
            <a:ext cx="48101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Avoid browsing live personal tables without business needs.</a:t>
            </a:r>
            <a:endParaRPr/>
          </a:p>
        </p:txBody>
      </p:sp>
      <p:pic>
        <p:nvPicPr>
          <p:cNvPr descr="image.png" id="182" name="Google Shape;1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9335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35410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73724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13908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54091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Protecting Data in IT Support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67425" y="1598600"/>
            <a:ext cx="5888851" cy="3312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2742604"/>
            <a:ext cx="4114800" cy="193476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/>
        </p:nvSpPr>
        <p:spPr>
          <a:xfrm>
            <a:off x="7610475" y="3037879"/>
            <a:ext cx="37004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766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Trust Focus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7610475" y="3352204"/>
            <a:ext cx="3524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Access privileges are an administrative trust. Misuse of domain admin credentials will lead to immediate review and disciplinary actions.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1095375" y="2742604"/>
            <a:ext cx="58388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Admin Credentials: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Privileged logins must only be used for approved and logged tasks.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1095375" y="3451026"/>
            <a:ext cx="58388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Remote Control: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Clear, documented user consent is mandatory before starting any remote terminal session.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1095375" y="4159448"/>
            <a:ext cx="58388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Ethical Limits: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Accessing personal database entries out of curiosity is strictly banned.</a:t>
            </a:r>
            <a:endParaRPr/>
          </a:p>
        </p:txBody>
      </p:sp>
      <p:pic>
        <p:nvPicPr>
          <p:cNvPr descr="image.png" id="200" name="Google Shape;2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0475" y="3075979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77594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484364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192785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Staff Code of Conduct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346275"/>
            <a:ext cx="5143500" cy="2727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46275"/>
            <a:ext cx="5143500" cy="272742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4"/>
          <p:cNvSpPr txBox="1"/>
          <p:nvPr/>
        </p:nvSpPr>
        <p:spPr>
          <a:xfrm>
            <a:off x="1057275" y="2641550"/>
            <a:ext cx="478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b="0" i="0" lang="en-US" sz="1500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Ethical Principles</a:t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1057275" y="2955875"/>
            <a:ext cx="4552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values that drive our ICT operations: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6581775" y="2641550"/>
            <a:ext cx="478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b="0" i="0" lang="en-US" sz="15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Unethical Work Examples</a:t>
            </a:r>
            <a:endParaRPr/>
          </a:p>
        </p:txBody>
      </p:sp>
      <p:sp>
        <p:nvSpPr>
          <p:cNvPr id="215" name="Google Shape;215;p24"/>
          <p:cNvSpPr txBox="1"/>
          <p:nvPr/>
        </p:nvSpPr>
        <p:spPr>
          <a:xfrm>
            <a:off x="6581775" y="2955875"/>
            <a:ext cx="4552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Specific prohibited technical behaviours:</a:t>
            </a:r>
            <a:endParaRPr/>
          </a:p>
        </p:txBody>
      </p:sp>
      <p:pic>
        <p:nvPicPr>
          <p:cNvPr descr="image.png" id="216" name="Google Shape;21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275" y="267965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 txBox="1"/>
          <p:nvPr/>
        </p:nvSpPr>
        <p:spPr>
          <a:xfrm>
            <a:off x="1390650" y="3313955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Respect for others and user trust</a:t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1390650" y="3715791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Professional integrity and honesty</a:t>
            </a:r>
            <a:endParaRPr/>
          </a:p>
        </p:txBody>
      </p:sp>
      <p:sp>
        <p:nvSpPr>
          <p:cNvPr id="219" name="Google Shape;219;p24"/>
          <p:cNvSpPr txBox="1"/>
          <p:nvPr/>
        </p:nvSpPr>
        <p:spPr>
          <a:xfrm>
            <a:off x="1390650" y="4117627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Diligence in technical designs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1390650" y="4519463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Operational economy and efficiency</a:t>
            </a:r>
            <a:endParaRPr/>
          </a:p>
        </p:txBody>
      </p:sp>
      <p:pic>
        <p:nvPicPr>
          <p:cNvPr descr="image.png" id="221" name="Google Shape;22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67965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/>
        </p:nvSpPr>
        <p:spPr>
          <a:xfrm>
            <a:off x="6915150" y="3313955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Browsing personal folders without authorization</a:t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6915150" y="3715791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Using client databases for personal testing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6915150" y="4117627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Deploying unapproved monitoring scripts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6915150" y="4519463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Sharing system documentation externally</a:t>
            </a:r>
            <a:endParaRPr/>
          </a:p>
        </p:txBody>
      </p:sp>
      <p:pic>
        <p:nvPicPr>
          <p:cNvPr descr="image.png" id="226" name="Google Shape;22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334729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374912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415096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455280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347293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749129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4150965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4552801"/>
            <a:ext cx="1238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Ethical Use of Privileges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454771"/>
            <a:ext cx="5143500" cy="2510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454771"/>
            <a:ext cx="5143500" cy="251043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 txBox="1"/>
          <p:nvPr/>
        </p:nvSpPr>
        <p:spPr>
          <a:xfrm>
            <a:off x="1057275" y="2750046"/>
            <a:ext cx="478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Scope &amp; Purpose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1057275" y="3064371"/>
            <a:ext cx="45529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 establish a safe, confidential, and highly structured mechanism for any staff member or contractor to report observed ethical and policy violations.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1057275" y="3938587"/>
            <a:ext cx="45529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Reportable incidents include: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Unauthorised access to data, abuse of domain privileges, privacy leaks, and software licensing infringements.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6581775" y="2750046"/>
            <a:ext cx="478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Reporting Channels</a:t>
            </a:r>
            <a:endParaRPr/>
          </a:p>
        </p:txBody>
      </p:sp>
      <p:pic>
        <p:nvPicPr>
          <p:cNvPr descr="image.png" id="246" name="Google Shape;24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275" y="278814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78814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323001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79958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96075" y="3344316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7105650" y="3207246"/>
            <a:ext cx="195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Secure Internal Portal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7105650" y="3435846"/>
            <a:ext cx="195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Encrypted compliance intake tool</a:t>
            </a:r>
            <a:endParaRPr/>
          </a:p>
        </p:txBody>
      </p:sp>
      <p:pic>
        <p:nvPicPr>
          <p:cNvPr descr="image.png" id="253" name="Google Shape;253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96075" y="391388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7105650" y="3776811"/>
            <a:ext cx="1914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Compliance Officer Email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7105650" y="4005411"/>
            <a:ext cx="19145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Direct encrypted mailbox access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Grievance Procedure: Ethics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404169"/>
            <a:ext cx="5143500" cy="2611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404169"/>
            <a:ext cx="5143500" cy="2611487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6"/>
          <p:cNvSpPr txBox="1"/>
          <p:nvPr/>
        </p:nvSpPr>
        <p:spPr>
          <a:xfrm>
            <a:off x="1057275" y="2699444"/>
            <a:ext cx="478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Audit Evidence Required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1057275" y="3013769"/>
            <a:ext cx="4552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 investigations rely on hard technical facts: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6581775" y="2699444"/>
            <a:ext cx="478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Response SLA Timeline</a:t>
            </a:r>
            <a:endParaRPr/>
          </a:p>
        </p:txBody>
      </p:sp>
      <p:pic>
        <p:nvPicPr>
          <p:cNvPr descr="image.png" id="267" name="Google Shape;26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275" y="2737544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1390650" y="3341340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 &amp; system access audit logs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1390650" y="3695551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Active network diagnostic trace files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1390650" y="4049762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Support ticketing records &amp; timestamps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1390650" y="4403973"/>
            <a:ext cx="4219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Desktop screenshots showing data leaks</a:t>
            </a:r>
            <a:endParaRPr/>
          </a:p>
        </p:txBody>
      </p:sp>
      <p:pic>
        <p:nvPicPr>
          <p:cNvPr descr="image.png" id="272" name="Google Shape;27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737544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6581775" y="3109019"/>
            <a:ext cx="4552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 Acknowledge: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Within 48 hours of initial filing.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6581775" y="3429000"/>
            <a:ext cx="4552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 Investigate: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Technical audit of system logs and roles.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6581775" y="3748980"/>
            <a:ext cx="4552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3. Right of Reply: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Interview process for staff member.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6581775" y="4068960"/>
            <a:ext cx="4552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4. Resolution: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Case resolved inside 14 calendar days.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6581775" y="4512766"/>
            <a:ext cx="4552950" cy="20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Outcomes:</a:t>
            </a:r>
            <a:r>
              <a:rPr b="0" i="0" lang="en-US" sz="975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 Retraining, access suspension, warning, or termination.</a:t>
            </a:r>
            <a:endParaRPr/>
          </a:p>
        </p:txBody>
      </p:sp>
      <p:sp>
        <p:nvSpPr>
          <p:cNvPr id="278" name="Google Shape;278;p26"/>
          <p:cNvSpPr/>
          <p:nvPr/>
        </p:nvSpPr>
        <p:spPr>
          <a:xfrm>
            <a:off x="6581775" y="4436566"/>
            <a:ext cx="4552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9" name="Google Shape;279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3374677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3728888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083099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43731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Managing Ethical Breaches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27"/>
          <p:cNvGrpSpPr/>
          <p:nvPr/>
        </p:nvGrpSpPr>
        <p:grpSpPr>
          <a:xfrm>
            <a:off x="762000" y="1820300"/>
            <a:ext cx="3429000" cy="2181225"/>
            <a:chOff x="762000" y="2706800"/>
            <a:chExt cx="3429000" cy="2181225"/>
          </a:xfrm>
        </p:grpSpPr>
        <p:pic>
          <p:nvPicPr>
            <p:cNvPr descr="image.png" id="290" name="Google Shape;29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00" y="2706800"/>
              <a:ext cx="3429000" cy="2181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p27"/>
            <p:cNvSpPr txBox="1"/>
            <p:nvPr/>
          </p:nvSpPr>
          <p:spPr>
            <a:xfrm>
              <a:off x="1057275" y="3458616"/>
              <a:ext cx="29805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Intranet Push</a:t>
              </a:r>
              <a:endParaRPr/>
            </a:p>
          </p:txBody>
        </p:sp>
        <p:sp>
          <p:nvSpPr>
            <p:cNvPr id="292" name="Google Shape;292;p27"/>
            <p:cNvSpPr txBox="1"/>
            <p:nvPr/>
          </p:nvSpPr>
          <p:spPr>
            <a:xfrm>
              <a:off x="1057275" y="3772941"/>
              <a:ext cx="2838600" cy="77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All finalised guidelines will be hosted directly within the secure </a:t>
              </a:r>
              <a:r>
                <a:rPr b="1" i="0" lang="en-US" sz="12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Staff Portal</a:t>
              </a:r>
              <a:r>
                <a:rPr b="0" i="0" lang="en-US" sz="12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for easy 24/7 technical lookup.</a:t>
              </a:r>
              <a:endParaRPr/>
            </a:p>
          </p:txBody>
        </p:sp>
        <p:pic>
          <p:nvPicPr>
            <p:cNvPr descr="image.png" id="293" name="Google Shape;29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7275" y="2944266"/>
              <a:ext cx="381000" cy="304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4" name="Google Shape;294;p27"/>
          <p:cNvGrpSpPr/>
          <p:nvPr/>
        </p:nvGrpSpPr>
        <p:grpSpPr>
          <a:xfrm>
            <a:off x="762000" y="4270475"/>
            <a:ext cx="3429000" cy="2181225"/>
            <a:chOff x="4381500" y="2706800"/>
            <a:chExt cx="3429000" cy="2181225"/>
          </a:xfrm>
        </p:grpSpPr>
        <p:pic>
          <p:nvPicPr>
            <p:cNvPr descr="image.png" id="295" name="Google Shape;29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81500" y="2706800"/>
              <a:ext cx="3429000" cy="2181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27"/>
            <p:cNvSpPr txBox="1"/>
            <p:nvPr/>
          </p:nvSpPr>
          <p:spPr>
            <a:xfrm>
              <a:off x="4676775" y="3458616"/>
              <a:ext cx="29805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MFA Safeguard</a:t>
              </a:r>
              <a:endParaRPr/>
            </a:p>
          </p:txBody>
        </p:sp>
        <p:sp>
          <p:nvSpPr>
            <p:cNvPr id="297" name="Google Shape;297;p27"/>
            <p:cNvSpPr txBox="1"/>
            <p:nvPr/>
          </p:nvSpPr>
          <p:spPr>
            <a:xfrm>
              <a:off x="4676775" y="3772941"/>
              <a:ext cx="2838600" cy="107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Read access will be tightly bound to company active accounts. </a:t>
              </a:r>
              <a:r>
                <a:rPr b="1" i="0" lang="en-US" sz="12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Single Sign-On (SSO)</a:t>
              </a:r>
              <a:r>
                <a:rPr b="0" i="0" lang="en-US" sz="12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i="0" lang="en-US" sz="12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MFA</a:t>
              </a:r>
              <a:r>
                <a:rPr b="0" i="0" lang="en-US" sz="12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are mandatory.</a:t>
              </a:r>
              <a:endParaRPr/>
            </a:p>
          </p:txBody>
        </p:sp>
        <p:pic>
          <p:nvPicPr>
            <p:cNvPr descr="image.png" id="298" name="Google Shape;298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76775" y="2944266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9" name="Google Shape;299;p27"/>
          <p:cNvGrpSpPr/>
          <p:nvPr/>
        </p:nvGrpSpPr>
        <p:grpSpPr>
          <a:xfrm>
            <a:off x="4381500" y="2842225"/>
            <a:ext cx="3429000" cy="2181225"/>
            <a:chOff x="8001000" y="2706800"/>
            <a:chExt cx="3429000" cy="2181225"/>
          </a:xfrm>
        </p:grpSpPr>
        <p:pic>
          <p:nvPicPr>
            <p:cNvPr descr="image.png" id="300" name="Google Shape;30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01000" y="2706800"/>
              <a:ext cx="3429000" cy="2181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" name="Google Shape;301;p27"/>
            <p:cNvSpPr txBox="1"/>
            <p:nvPr/>
          </p:nvSpPr>
          <p:spPr>
            <a:xfrm>
              <a:off x="8296275" y="3458616"/>
              <a:ext cx="29805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Active Directory</a:t>
              </a:r>
              <a:endParaRPr/>
            </a:p>
          </p:txBody>
        </p:sp>
        <p:sp>
          <p:nvSpPr>
            <p:cNvPr id="302" name="Google Shape;302;p27"/>
            <p:cNvSpPr txBox="1"/>
            <p:nvPr/>
          </p:nvSpPr>
          <p:spPr>
            <a:xfrm>
              <a:off x="8296275" y="3772941"/>
              <a:ext cx="2838600" cy="77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Role assignments managed dynamically via </a:t>
              </a:r>
              <a:r>
                <a:rPr b="1" i="0" lang="en-US" sz="12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AD</a:t>
              </a:r>
              <a:r>
                <a:rPr b="0" i="0" lang="en-US" sz="12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 Only current, authorised personnel can access files.</a:t>
              </a:r>
              <a:endParaRPr/>
            </a:p>
          </p:txBody>
        </p:sp>
        <p:pic>
          <p:nvPicPr>
            <p:cNvPr descr="image.png" id="303" name="Google Shape;303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296275" y="2944266"/>
              <a:ext cx="381000" cy="304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4" name="Google Shape;304;p27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Policy Distribution and Access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6" name="Google Shape;306;p27"/>
          <p:cNvGrpSpPr/>
          <p:nvPr/>
        </p:nvGrpSpPr>
        <p:grpSpPr>
          <a:xfrm>
            <a:off x="8001000" y="2394200"/>
            <a:ext cx="3429000" cy="3338025"/>
            <a:chOff x="8060525" y="2842225"/>
            <a:chExt cx="3429000" cy="3338025"/>
          </a:xfrm>
        </p:grpSpPr>
        <p:pic>
          <p:nvPicPr>
            <p:cNvPr descr="image.png" id="307" name="Google Shape;30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60525" y="2842225"/>
              <a:ext cx="3429000" cy="3338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27"/>
            <p:cNvSpPr txBox="1"/>
            <p:nvPr/>
          </p:nvSpPr>
          <p:spPr>
            <a:xfrm>
              <a:off x="8355800" y="3594041"/>
              <a:ext cx="29805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Backup location</a:t>
              </a:r>
              <a:endParaRPr/>
            </a:p>
          </p:txBody>
        </p:sp>
        <p:sp>
          <p:nvSpPr>
            <p:cNvPr id="309" name="Google Shape;309;p27"/>
            <p:cNvSpPr txBox="1"/>
            <p:nvPr/>
          </p:nvSpPr>
          <p:spPr>
            <a:xfrm>
              <a:off x="8355800" y="3908377"/>
              <a:ext cx="2838600" cy="16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Approved backup systems must follow the same security approach.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Backup access must be restricted by </a:t>
              </a:r>
              <a:r>
                <a:rPr b="1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role-based </a:t>
              </a:r>
              <a:r>
                <a:rPr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permissions.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Backup and restoration activities must be logged.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descr="image.png" id="310" name="Google Shape;310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97762" y="3070628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"/>
          <p:cNvSpPr/>
          <p:nvPr/>
        </p:nvSpPr>
        <p:spPr>
          <a:xfrm>
            <a:off x="1295400" y="3335684"/>
            <a:ext cx="96012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28"/>
          <p:cNvPicPr preferRelativeResize="0"/>
          <p:nvPr/>
        </p:nvPicPr>
        <p:blipFill rotWithShape="1">
          <a:blip r:embed="rId3">
            <a:alphaModFix amt="15000"/>
          </a:blip>
          <a:srcRect b="0" l="0" r="0" t="28663"/>
          <a:stretch/>
        </p:blipFill>
        <p:spPr>
          <a:xfrm>
            <a:off x="1589900" y="2087550"/>
            <a:ext cx="8669101" cy="354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7235" y="310708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8"/>
          <p:cNvSpPr txBox="1"/>
          <p:nvPr/>
        </p:nvSpPr>
        <p:spPr>
          <a:xfrm>
            <a:off x="703328" y="3726209"/>
            <a:ext cx="246421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Sprint 1</a:t>
            </a:r>
            <a:endParaRPr/>
          </a:p>
        </p:txBody>
      </p:sp>
      <p:sp>
        <p:nvSpPr>
          <p:cNvPr id="319" name="Google Shape;319;p28"/>
          <p:cNvSpPr txBox="1"/>
          <p:nvPr/>
        </p:nvSpPr>
        <p:spPr>
          <a:xfrm>
            <a:off x="762000" y="4107209"/>
            <a:ext cx="234687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Reviewed IP, privacy legislation and existing policies.</a:t>
            </a:r>
            <a:endParaRPr/>
          </a:p>
        </p:txBody>
      </p:sp>
      <p:pic>
        <p:nvPicPr>
          <p:cNvPr descr="image.png" id="320" name="Google Shape;32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0945" y="310708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8"/>
          <p:cNvSpPr txBox="1"/>
          <p:nvPr/>
        </p:nvSpPr>
        <p:spPr>
          <a:xfrm>
            <a:off x="3477037" y="3726209"/>
            <a:ext cx="246421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Sprint 2</a:t>
            </a:r>
            <a:endParaRPr/>
          </a:p>
        </p:txBody>
      </p:sp>
      <p:sp>
        <p:nvSpPr>
          <p:cNvPr id="322" name="Google Shape;322;p28"/>
          <p:cNvSpPr txBox="1"/>
          <p:nvPr/>
        </p:nvSpPr>
        <p:spPr>
          <a:xfrm>
            <a:off x="3535709" y="4107209"/>
            <a:ext cx="23469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Drafted updates</a:t>
            </a:r>
            <a:r>
              <a:rPr lang="en-US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grievance procedure v1.0. &amp; Reviewed the USB-based backup procedure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6250747" y="3726209"/>
            <a:ext cx="246421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Sprint 3</a:t>
            </a:r>
            <a:endParaRPr/>
          </a:p>
        </p:txBody>
      </p:sp>
      <p:sp>
        <p:nvSpPr>
          <p:cNvPr id="324" name="Google Shape;324;p28"/>
          <p:cNvSpPr txBox="1"/>
          <p:nvPr/>
        </p:nvSpPr>
        <p:spPr>
          <a:xfrm>
            <a:off x="6309419" y="4107209"/>
            <a:ext cx="234687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 Progress: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Staff presentations &amp; roundtable reviews.</a:t>
            </a:r>
            <a:endParaRPr/>
          </a:p>
        </p:txBody>
      </p:sp>
      <p:sp>
        <p:nvSpPr>
          <p:cNvPr id="325" name="Google Shape;325;p28"/>
          <p:cNvSpPr txBox="1"/>
          <p:nvPr/>
        </p:nvSpPr>
        <p:spPr>
          <a:xfrm>
            <a:off x="9024457" y="3726209"/>
            <a:ext cx="246421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Sprint 4</a:t>
            </a:r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9083129" y="4107209"/>
            <a:ext cx="234687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Intranet upload, staff training, &amp; bi-annual audit review.</a:t>
            </a:r>
            <a:endParaRPr/>
          </a:p>
        </p:txBody>
      </p:sp>
      <p:pic>
        <p:nvPicPr>
          <p:cNvPr descr="image.png" id="327" name="Google Shape;32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68685" y="326900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2395" y="3269009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8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Implementation Action Plan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1" name="Google Shape;33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44655" y="310708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18365" y="3107084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9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762000" y="1486128"/>
            <a:ext cx="10958175" cy="4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9"/>
          <p:cNvSpPr txBox="1"/>
          <p:nvPr/>
        </p:nvSpPr>
        <p:spPr>
          <a:xfrm>
            <a:off x="1095375" y="2254054"/>
            <a:ext cx="4810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Read and fully understand the updated policies.</a:t>
            </a:r>
            <a:endParaRPr/>
          </a:p>
        </p:txBody>
      </p:sp>
      <p:sp>
        <p:nvSpPr>
          <p:cNvPr id="339" name="Google Shape;339;p29"/>
          <p:cNvSpPr txBox="1"/>
          <p:nvPr/>
        </p:nvSpPr>
        <p:spPr>
          <a:xfrm>
            <a:off x="1095375" y="2655890"/>
            <a:ext cx="4810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Verify software against the whitelist before installing.</a:t>
            </a:r>
            <a:endParaRPr/>
          </a:p>
        </p:txBody>
      </p:sp>
      <p:sp>
        <p:nvSpPr>
          <p:cNvPr id="340" name="Google Shape;340;p29"/>
          <p:cNvSpPr txBox="1"/>
          <p:nvPr/>
        </p:nvSpPr>
        <p:spPr>
          <a:xfrm>
            <a:off x="1095375" y="3057726"/>
            <a:ext cx="4810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Strictly follow RBAC and least privilege rules.</a:t>
            </a:r>
            <a:endParaRPr/>
          </a:p>
        </p:txBody>
      </p:sp>
      <p:sp>
        <p:nvSpPr>
          <p:cNvPr id="341" name="Google Shape;341;p29"/>
          <p:cNvSpPr txBox="1"/>
          <p:nvPr/>
        </p:nvSpPr>
        <p:spPr>
          <a:xfrm>
            <a:off x="1095375" y="3459561"/>
            <a:ext cx="4810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Mask sensitive data in ticket evidence logs.</a:t>
            </a:r>
            <a:endParaRPr/>
          </a:p>
        </p:txBody>
      </p:sp>
      <p:sp>
        <p:nvSpPr>
          <p:cNvPr id="342" name="Google Shape;342;p29"/>
          <p:cNvSpPr txBox="1"/>
          <p:nvPr/>
        </p:nvSpPr>
        <p:spPr>
          <a:xfrm>
            <a:off x="6619875" y="2977753"/>
            <a:ext cx="48101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Secure explicit user consent before remote access.</a:t>
            </a: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6619875" y="3379589"/>
            <a:ext cx="48101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Fully document technical work in tickets.</a:t>
            </a:r>
            <a:endParaRPr/>
          </a:p>
        </p:txBody>
      </p:sp>
      <p:sp>
        <p:nvSpPr>
          <p:cNvPr id="344" name="Google Shape;344;p29"/>
          <p:cNvSpPr txBox="1"/>
          <p:nvPr/>
        </p:nvSpPr>
        <p:spPr>
          <a:xfrm>
            <a:off x="6619875" y="3781425"/>
            <a:ext cx="48101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Report suspected privacy or software license breaches.</a:t>
            </a:r>
            <a:endParaRPr/>
          </a:p>
        </p:txBody>
      </p:sp>
      <p:pic>
        <p:nvPicPr>
          <p:cNvPr descr="image.png" id="345" name="Google Shape;34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87391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8922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9106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49289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01109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41292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814762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9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Staff Need to Do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9"/>
          <p:cNvSpPr txBox="1"/>
          <p:nvPr/>
        </p:nvSpPr>
        <p:spPr>
          <a:xfrm>
            <a:off x="1095375" y="3844877"/>
            <a:ext cx="4810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 not use USB drives for routine business data backups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55" name="Google Shape;355;p29"/>
          <p:cNvSpPr txBox="1"/>
          <p:nvPr/>
        </p:nvSpPr>
        <p:spPr>
          <a:xfrm>
            <a:off x="1095375" y="4246713"/>
            <a:ext cx="4810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 only approved encrypted backup/storage systems</a:t>
            </a:r>
            <a:endParaRPr/>
          </a:p>
        </p:txBody>
      </p:sp>
      <p:sp>
        <p:nvSpPr>
          <p:cNvPr id="356" name="Google Shape;356;p29"/>
          <p:cNvSpPr txBox="1"/>
          <p:nvPr/>
        </p:nvSpPr>
        <p:spPr>
          <a:xfrm>
            <a:off x="1095375" y="4648548"/>
            <a:ext cx="4810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Report lost, stolen or suspicious USBs immediately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357" name="Google Shape;35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878214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2800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681886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4" name="Google Shape;36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620416"/>
            <a:ext cx="3429000" cy="2179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2620416"/>
            <a:ext cx="3429000" cy="2179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2620416"/>
            <a:ext cx="3429000" cy="217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0"/>
          <p:cNvSpPr txBox="1"/>
          <p:nvPr/>
        </p:nvSpPr>
        <p:spPr>
          <a:xfrm>
            <a:off x="1057275" y="3458616"/>
            <a:ext cx="298037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IP Security</a:t>
            </a:r>
            <a:endParaRPr/>
          </a:p>
        </p:txBody>
      </p:sp>
      <p:sp>
        <p:nvSpPr>
          <p:cNvPr id="368" name="Google Shape;368;p30"/>
          <p:cNvSpPr txBox="1"/>
          <p:nvPr/>
        </p:nvSpPr>
        <p:spPr>
          <a:xfrm>
            <a:off x="1057275" y="3772941"/>
            <a:ext cx="2838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Copyright compliance defends critical corporate assets and respects third-party scripts and utilities.</a:t>
            </a:r>
            <a:endParaRPr/>
          </a:p>
        </p:txBody>
      </p:sp>
      <p:sp>
        <p:nvSpPr>
          <p:cNvPr id="369" name="Google Shape;369;p30"/>
          <p:cNvSpPr txBox="1"/>
          <p:nvPr/>
        </p:nvSpPr>
        <p:spPr>
          <a:xfrm>
            <a:off x="4676775" y="3458616"/>
            <a:ext cx="298037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Client Trust</a:t>
            </a:r>
            <a:endParaRPr/>
          </a:p>
        </p:txBody>
      </p:sp>
      <p:sp>
        <p:nvSpPr>
          <p:cNvPr id="370" name="Google Shape;370;p30"/>
          <p:cNvSpPr txBox="1"/>
          <p:nvPr/>
        </p:nvSpPr>
        <p:spPr>
          <a:xfrm>
            <a:off x="4676775" y="3772941"/>
            <a:ext cx="2838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Dynamic privacy masking and log purging protocols guarantee alignment with Australian APPs.</a:t>
            </a:r>
            <a:endParaRPr/>
          </a:p>
        </p:txBody>
      </p:sp>
      <p:sp>
        <p:nvSpPr>
          <p:cNvPr id="371" name="Google Shape;371;p30"/>
          <p:cNvSpPr txBox="1"/>
          <p:nvPr/>
        </p:nvSpPr>
        <p:spPr>
          <a:xfrm>
            <a:off x="8296275" y="3458616"/>
            <a:ext cx="298037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Accountability</a:t>
            </a:r>
            <a:endParaRPr/>
          </a:p>
        </p:txBody>
      </p:sp>
      <p:sp>
        <p:nvSpPr>
          <p:cNvPr id="372" name="Google Shape;372;p30"/>
          <p:cNvSpPr txBox="1"/>
          <p:nvPr/>
        </p:nvSpPr>
        <p:spPr>
          <a:xfrm>
            <a:off x="8296275" y="3772941"/>
            <a:ext cx="2838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Standardized grievance workflows protect reporters and maintain ACS operational ethics.</a:t>
            </a:r>
            <a:endParaRPr/>
          </a:p>
        </p:txBody>
      </p:sp>
      <p:pic>
        <p:nvPicPr>
          <p:cNvPr descr="image.png" id="373" name="Google Shape;37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7275" y="2944266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6775" y="2944266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96275" y="2944266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0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Takeaways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77" name="Google Shape;377;p30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 txBox="1"/>
          <p:nvPr/>
        </p:nvSpPr>
        <p:spPr>
          <a:xfrm>
            <a:off x="0" y="3151950"/>
            <a:ext cx="1219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Thanks!</a:t>
            </a:r>
            <a:endParaRPr b="1" sz="7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