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10287000" cx="18288000"/>
  <p:notesSz cx="6858000" cy="9144000"/>
  <p:embeddedFontLst>
    <p:embeddedFont>
      <p:font typeface="Montserrat Light"/>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4" roundtripDataSignature="AMtx7mgrBgflXuId1QtZhjhqKgw11rpJ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9F9660-000F-4380-9438-22D1764C2836}">
  <a:tblStyle styleId="{7D9F9660-000F-4380-9438-22D1764C283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Light-bold.fntdata"/><Relationship Id="rId50" Type="http://schemas.openxmlformats.org/officeDocument/2006/relationships/font" Target="fonts/MontserratLight-regular.fntdata"/><Relationship Id="rId53" Type="http://schemas.openxmlformats.org/officeDocument/2006/relationships/font" Target="fonts/MontserratLight-boldItalic.fntdata"/><Relationship Id="rId52" Type="http://schemas.openxmlformats.org/officeDocument/2006/relationships/font" Target="fonts/MontserratLight-italic.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Encourage students to provide examples of copyrights, patents, trademarks, registered designs and circuit layout right.</a:t>
            </a:r>
            <a:r>
              <a:rPr lang="en-US"/>
              <a:t> </a:t>
            </a:r>
            <a:endParaRPr/>
          </a:p>
        </p:txBody>
      </p:sp>
      <p:sp>
        <p:nvSpPr>
          <p:cNvPr id="168" name="Google Shape;1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Trainer: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Please provide students with a copy of RTO’s grievance procedure, code of ethics and any related documents to the grievance procedure.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Provide feedback on the group’s report and instruct them to update two elements of the grievance procedure.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Approve and sign off the updated procedure or relevant documents as part of your feedback to the students.  </a:t>
            </a:r>
            <a:endParaRPr/>
          </a:p>
          <a:p>
            <a:pPr indent="0" lvl="0" marL="0" rtl="0" algn="l">
              <a:spcBef>
                <a:spcPts val="0"/>
              </a:spcBef>
              <a:spcAft>
                <a:spcPts val="0"/>
              </a:spcAft>
              <a:buNone/>
            </a:pPr>
            <a:r>
              <a:t/>
            </a:r>
            <a:endParaRPr/>
          </a:p>
        </p:txBody>
      </p:sp>
      <p:sp>
        <p:nvSpPr>
          <p:cNvPr id="515" name="Google Shape;51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Trainer: Please provide a copy of RTO code of ethics for the students to analyse. If you are familiar with another business’ code of ethics you can also provide this.</a:t>
            </a:r>
            <a:r>
              <a:rPr lang="en-US"/>
              <a:t> </a:t>
            </a:r>
            <a:endParaRPr/>
          </a:p>
        </p:txBody>
      </p:sp>
      <p:sp>
        <p:nvSpPr>
          <p:cNvPr id="549" name="Google Shape;54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Trainer: Please provide a copy of RTO privacy policy the students to review.</a:t>
            </a:r>
            <a:r>
              <a:rPr lang="en-US"/>
              <a:t> </a:t>
            </a:r>
            <a:endParaRPr/>
          </a:p>
        </p:txBody>
      </p:sp>
      <p:sp>
        <p:nvSpPr>
          <p:cNvPr id="698" name="Google Shape;69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 name="Google Shape;23;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2" name="Google Shape;62;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3" name="Google Shape;6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53"/>
          <p:cNvSpPr/>
          <p:nvPr>
            <p:ph idx="2" type="pic"/>
          </p:nvPr>
        </p:nvSpPr>
        <p:spPr>
          <a:xfrm>
            <a:off x="1792288" y="612775"/>
            <a:ext cx="5486400" cy="4114800"/>
          </a:xfrm>
          <a:prstGeom prst="rect">
            <a:avLst/>
          </a:prstGeom>
          <a:noFill/>
          <a:ln>
            <a:noFill/>
          </a:ln>
        </p:spPr>
      </p:sp>
      <p:sp>
        <p:nvSpPr>
          <p:cNvPr id="69" name="Google Shape;69;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0" name="Google Shape;7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A close up of a logo&#10;&#10;Description automatically generated" id="15" name="Google Shape;15;p44"/>
          <p:cNvPicPr preferRelativeResize="0"/>
          <p:nvPr/>
        </p:nvPicPr>
        <p:blipFill rotWithShape="1">
          <a:blip r:embed="rId1">
            <a:alphaModFix/>
          </a:blip>
          <a:srcRect b="0" l="0" r="0" t="0"/>
          <a:stretch/>
        </p:blipFill>
        <p:spPr>
          <a:xfrm>
            <a:off x="15392400" y="9410700"/>
            <a:ext cx="2667000" cy="64553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ipaustralia.gov.au/understanding-ip"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communications.gov.au/file/22396/download?token=hkIjq8q1"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reativecommons.org/" TargetMode="External"/><Relationship Id="rId4" Type="http://schemas.openxmlformats.org/officeDocument/2006/relationships/hyperlink" Target="https://www.ipaustralia.gov.au/about-us/legislation/ip-legislation" TargetMode="External"/><Relationship Id="rId5" Type="http://schemas.openxmlformats.org/officeDocument/2006/relationships/hyperlink" Target="https://www.business.qld.gov.au/running-business/ip/types/copyright/defined" TargetMode="External"/><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reately.com/blog/diagrams/how-to-write-an-action-plan/" TargetMode="Externa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bentley.edu/offices/human-resources/ethics-complaint-procedures" TargetMode="External"/><Relationship Id="rId4" Type="http://schemas.openxmlformats.org/officeDocument/2006/relationships/hyperlink" Target="https://secure.ethicspoint.com/domain/media/en/gui/2265/faq.pdf" TargetMode="External"/><Relationship Id="rId5" Type="http://schemas.openxmlformats.org/officeDocument/2006/relationships/hyperlink" Target="https://hbr.org/2015/06/how-to-speak-up-about-ethical-issues-at-work" TargetMode="External"/><Relationship Id="rId6"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blink.ucsd.edu/finance/accountability/ethics/path.html" TargetMode="Externa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www.ted.com/talks/alessandro_acquisti_why_privacy_matters" TargetMode="External"/><Relationship Id="rId4" Type="http://schemas.openxmlformats.org/officeDocument/2006/relationships/hyperlink" Target="https://www.ted.com/talks/catherine_crump_the_small_and_surprisingly_dangerous_detail_the_police_track_about_you" TargetMode="External"/><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43B"/>
        </a:solidFill>
      </p:bgPr>
    </p:bg>
    <p:spTree>
      <p:nvGrpSpPr>
        <p:cNvPr id="88" name="Shape 88"/>
        <p:cNvGrpSpPr/>
        <p:nvPr/>
      </p:nvGrpSpPr>
      <p:grpSpPr>
        <a:xfrm>
          <a:off x="0" y="0"/>
          <a:ext cx="0" cy="0"/>
          <a:chOff x="0" y="0"/>
          <a:chExt cx="0" cy="0"/>
        </a:xfrm>
      </p:grpSpPr>
      <p:sp>
        <p:nvSpPr>
          <p:cNvPr id="89" name="Google Shape;89;p1"/>
          <p:cNvSpPr/>
          <p:nvPr/>
        </p:nvSpPr>
        <p:spPr>
          <a:xfrm>
            <a:off x="0" y="8136093"/>
            <a:ext cx="18288000" cy="215090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txBox="1"/>
          <p:nvPr/>
        </p:nvSpPr>
        <p:spPr>
          <a:xfrm>
            <a:off x="1028700" y="2055092"/>
            <a:ext cx="7120939" cy="92538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6000">
                <a:solidFill>
                  <a:schemeClr val="lt1"/>
                </a:solidFill>
                <a:latin typeface="Arial"/>
                <a:ea typeface="Arial"/>
                <a:cs typeface="Arial"/>
                <a:sym typeface="Arial"/>
              </a:rPr>
              <a:t>ICTICT618</a:t>
            </a:r>
            <a:endParaRPr/>
          </a:p>
        </p:txBody>
      </p:sp>
      <p:grpSp>
        <p:nvGrpSpPr>
          <p:cNvPr id="91" name="Google Shape;91;p1"/>
          <p:cNvGrpSpPr/>
          <p:nvPr/>
        </p:nvGrpSpPr>
        <p:grpSpPr>
          <a:xfrm>
            <a:off x="1028700" y="876300"/>
            <a:ext cx="17590875" cy="227806"/>
            <a:chOff x="0" y="-24217"/>
            <a:chExt cx="23454501" cy="303741"/>
          </a:xfrm>
        </p:grpSpPr>
        <p:sp>
          <p:nvSpPr>
            <p:cNvPr id="92" name="Google Shape;92;p1"/>
            <p:cNvSpPr/>
            <p:nvPr/>
          </p:nvSpPr>
          <p:spPr>
            <a:xfrm>
              <a:off x="0" y="125899"/>
              <a:ext cx="23454501" cy="2772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1"/>
            <p:cNvSpPr/>
            <p:nvPr/>
          </p:nvSpPr>
          <p:spPr>
            <a:xfrm>
              <a:off x="0" y="-24217"/>
              <a:ext cx="292033" cy="27952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p:nvPr/>
          </p:nvSpPr>
          <p:spPr>
            <a:xfrm>
              <a:off x="7770499" y="0"/>
              <a:ext cx="292033" cy="2795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
            <p:cNvSpPr/>
            <p:nvPr/>
          </p:nvSpPr>
          <p:spPr>
            <a:xfrm>
              <a:off x="15540998" y="0"/>
              <a:ext cx="292033" cy="2795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6" name="Google Shape;96;p1"/>
          <p:cNvSpPr txBox="1"/>
          <p:nvPr/>
        </p:nvSpPr>
        <p:spPr>
          <a:xfrm>
            <a:off x="2494756" y="3824674"/>
            <a:ext cx="9697244" cy="2438232"/>
          </a:xfrm>
          <a:prstGeom prst="rect">
            <a:avLst/>
          </a:prstGeom>
          <a:noFill/>
          <a:ln>
            <a:noFill/>
          </a:ln>
        </p:spPr>
        <p:txBody>
          <a:bodyPr anchorCtr="0" anchor="t" bIns="0" lIns="0" spcFirstLastPara="1" rIns="0" wrap="square" tIns="0">
            <a:spAutoFit/>
          </a:bodyPr>
          <a:lstStyle/>
          <a:p>
            <a:pPr indent="0" lvl="0" marL="0" marR="0" rtl="0" algn="l">
              <a:lnSpc>
                <a:spcPct val="129500"/>
              </a:lnSpc>
              <a:spcBef>
                <a:spcPts val="0"/>
              </a:spcBef>
              <a:spcAft>
                <a:spcPts val="0"/>
              </a:spcAft>
              <a:buNone/>
            </a:pPr>
            <a:r>
              <a:rPr lang="en-US" sz="5000">
                <a:solidFill>
                  <a:schemeClr val="lt1"/>
                </a:solidFill>
                <a:latin typeface="Arial"/>
                <a:ea typeface="Arial"/>
                <a:cs typeface="Arial"/>
                <a:sym typeface="Arial"/>
              </a:rPr>
              <a:t>Manage IP, ethics and privacy in an ICT environment</a:t>
            </a:r>
            <a:endParaRPr/>
          </a:p>
        </p:txBody>
      </p:sp>
      <p:pic>
        <p:nvPicPr>
          <p:cNvPr descr="A screenshot of a cell phone&#10;&#10;Description automatically generated" id="97" name="Google Shape;97;p1"/>
          <p:cNvPicPr preferRelativeResize="0"/>
          <p:nvPr/>
        </p:nvPicPr>
        <p:blipFill rotWithShape="1">
          <a:blip r:embed="rId3">
            <a:alphaModFix/>
          </a:blip>
          <a:srcRect b="2490" l="27363" r="5014" t="46688"/>
          <a:stretch/>
        </p:blipFill>
        <p:spPr>
          <a:xfrm>
            <a:off x="11887200" y="1638300"/>
            <a:ext cx="5404100" cy="5747251"/>
          </a:xfrm>
          <a:prstGeom prst="rect">
            <a:avLst/>
          </a:prstGeom>
          <a:noFill/>
          <a:ln>
            <a:noFill/>
          </a:ln>
        </p:spPr>
      </p:pic>
      <p:pic>
        <p:nvPicPr>
          <p:cNvPr id="98" name="Google Shape;98;p1" title="MIC Logo.png"/>
          <p:cNvPicPr preferRelativeResize="0"/>
          <p:nvPr/>
        </p:nvPicPr>
        <p:blipFill>
          <a:blip r:embed="rId4">
            <a:alphaModFix/>
          </a:blip>
          <a:stretch>
            <a:fillRect/>
          </a:stretch>
        </p:blipFill>
        <p:spPr>
          <a:xfrm>
            <a:off x="10166750" y="8244986"/>
            <a:ext cx="7965875" cy="193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2"/>
          <p:cNvSpPr/>
          <p:nvPr/>
        </p:nvSpPr>
        <p:spPr>
          <a:xfrm>
            <a:off x="0" y="1290497"/>
            <a:ext cx="18288000" cy="8196478"/>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2"/>
          <p:cNvSpPr txBox="1"/>
          <p:nvPr/>
        </p:nvSpPr>
        <p:spPr>
          <a:xfrm>
            <a:off x="1044000" y="1866900"/>
            <a:ext cx="16655652" cy="17482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5200">
                <a:solidFill>
                  <a:schemeClr val="lt1"/>
                </a:solidFill>
                <a:latin typeface="Arial"/>
                <a:ea typeface="Arial"/>
                <a:cs typeface="Arial"/>
                <a:sym typeface="Arial"/>
              </a:rPr>
              <a:t>Topic 1: Intellectual property (IP), ethics and privacy in the ICT industry </a:t>
            </a:r>
            <a:endParaRPr/>
          </a:p>
        </p:txBody>
      </p:sp>
      <p:grpSp>
        <p:nvGrpSpPr>
          <p:cNvPr id="106" name="Google Shape;106;p2"/>
          <p:cNvGrpSpPr/>
          <p:nvPr/>
        </p:nvGrpSpPr>
        <p:grpSpPr>
          <a:xfrm>
            <a:off x="1028700" y="495300"/>
            <a:ext cx="17259300" cy="218203"/>
            <a:chOff x="1028700" y="723900"/>
            <a:chExt cx="17259300" cy="218203"/>
          </a:xfrm>
        </p:grpSpPr>
        <p:sp>
          <p:nvSpPr>
            <p:cNvPr id="107" name="Google Shape;107;p2"/>
            <p:cNvSpPr/>
            <p:nvPr/>
          </p:nvSpPr>
          <p:spPr>
            <a:xfrm>
              <a:off x="1044000" y="826884"/>
              <a:ext cx="17244000" cy="20795"/>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p:nvPr/>
          </p:nvSpPr>
          <p:spPr>
            <a:xfrm>
              <a:off x="1028700" y="72390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p:nvPr/>
          </p:nvSpPr>
          <p:spPr>
            <a:xfrm>
              <a:off x="6856574"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p:nvPr/>
          </p:nvSpPr>
          <p:spPr>
            <a:xfrm>
              <a:off x="12684448"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1" name="Google Shape;111;p2"/>
          <p:cNvSpPr txBox="1"/>
          <p:nvPr/>
        </p:nvSpPr>
        <p:spPr>
          <a:xfrm>
            <a:off x="15163800" y="9754387"/>
            <a:ext cx="2895600" cy="365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112" name="Google Shape;112;p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113" name="Google Shape;113;p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pic>
        <p:nvPicPr>
          <p:cNvPr descr="A circuit board&#10;&#10;Description automatically generated" id="114" name="Google Shape;114;p2"/>
          <p:cNvPicPr preferRelativeResize="0"/>
          <p:nvPr/>
        </p:nvPicPr>
        <p:blipFill rotWithShape="1">
          <a:blip r:embed="rId3">
            <a:alphaModFix/>
          </a:blip>
          <a:srcRect b="0" l="0" r="0" t="0"/>
          <a:stretch/>
        </p:blipFill>
        <p:spPr>
          <a:xfrm>
            <a:off x="5927686" y="4305300"/>
            <a:ext cx="6432627" cy="4287520"/>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3"/>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120" name="Google Shape;120;p3"/>
          <p:cNvGrpSpPr/>
          <p:nvPr/>
        </p:nvGrpSpPr>
        <p:grpSpPr>
          <a:xfrm>
            <a:off x="1028700" y="446788"/>
            <a:ext cx="17244000" cy="220041"/>
            <a:chOff x="0" y="0"/>
            <a:chExt cx="23454501" cy="293387"/>
          </a:xfrm>
        </p:grpSpPr>
        <p:sp>
          <p:nvSpPr>
            <p:cNvPr id="121" name="Google Shape;121;p3"/>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3"/>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3"/>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5" name="Google Shape;125;p3"/>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3"/>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127" name="Google Shape;127;p3"/>
          <p:cNvSpPr txBox="1"/>
          <p:nvPr/>
        </p:nvSpPr>
        <p:spPr>
          <a:xfrm>
            <a:off x="1028700" y="1676834"/>
            <a:ext cx="12687300" cy="206114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lang="en-US" sz="3000">
                <a:solidFill>
                  <a:srgbClr val="00667A"/>
                </a:solidFill>
                <a:latin typeface="Arial"/>
                <a:ea typeface="Arial"/>
                <a:cs typeface="Arial"/>
                <a:sym typeface="Arial"/>
              </a:rPr>
              <a:t>As an ICT professional it is important that you demonstrate professional and ethical conduct at all times. It’s also important to understand how to handle personal information in a confidential and professional manner whilst at work and dealing with a range of stakeholders. </a:t>
            </a:r>
            <a:endParaRPr sz="2500">
              <a:solidFill>
                <a:srgbClr val="00667A"/>
              </a:solidFill>
              <a:latin typeface="Arial"/>
              <a:ea typeface="Arial"/>
              <a:cs typeface="Arial"/>
              <a:sym typeface="Arial"/>
            </a:endParaRPr>
          </a:p>
        </p:txBody>
      </p:sp>
      <p:sp>
        <p:nvSpPr>
          <p:cNvPr id="128" name="Google Shape;128;p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129" name="Google Shape;129;p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130" name="Google Shape;130;p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136" name="Google Shape;136;p4"/>
          <p:cNvGrpSpPr/>
          <p:nvPr/>
        </p:nvGrpSpPr>
        <p:grpSpPr>
          <a:xfrm>
            <a:off x="1028700" y="446788"/>
            <a:ext cx="17244000" cy="220041"/>
            <a:chOff x="0" y="0"/>
            <a:chExt cx="23454501" cy="293387"/>
          </a:xfrm>
        </p:grpSpPr>
        <p:sp>
          <p:nvSpPr>
            <p:cNvPr id="137" name="Google Shape;137;p4"/>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4"/>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4"/>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4"/>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1" name="Google Shape;141;p4"/>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4"/>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143" name="Google Shape;143;p4"/>
          <p:cNvSpPr txBox="1"/>
          <p:nvPr/>
        </p:nvSpPr>
        <p:spPr>
          <a:xfrm>
            <a:off x="1028700" y="1676834"/>
            <a:ext cx="12687300" cy="51450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INTELLECTUAL PROPERTY </a:t>
            </a:r>
            <a:endParaRPr/>
          </a:p>
        </p:txBody>
      </p:sp>
      <p:sp>
        <p:nvSpPr>
          <p:cNvPr id="144" name="Google Shape;144;p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145" name="Google Shape;145;p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146" name="Google Shape;146;p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graphicFrame>
        <p:nvGraphicFramePr>
          <p:cNvPr id="147" name="Google Shape;147;p4"/>
          <p:cNvGraphicFramePr/>
          <p:nvPr/>
        </p:nvGraphicFramePr>
        <p:xfrm>
          <a:off x="2453005" y="3368975"/>
          <a:ext cx="3000000" cy="3000000"/>
        </p:xfrm>
        <a:graphic>
          <a:graphicData uri="http://schemas.openxmlformats.org/drawingml/2006/table">
            <a:tbl>
              <a:tblPr>
                <a:noFill/>
                <a:tableStyleId>{7D9F9660-000F-4380-9438-22D1764C2836}</a:tableStyleId>
              </a:tblPr>
              <a:tblGrid>
                <a:gridCol w="13382000"/>
              </a:tblGrid>
              <a:tr h="2094875">
                <a:tc>
                  <a:txBody>
                    <a:bodyPr/>
                    <a:lstStyle/>
                    <a:p>
                      <a:pPr indent="0" lvl="0" marL="0" marR="0" rtl="0" algn="ctr">
                        <a:lnSpc>
                          <a:spcPct val="120000"/>
                        </a:lnSpc>
                        <a:spcBef>
                          <a:spcPts val="0"/>
                        </a:spcBef>
                        <a:spcAft>
                          <a:spcPts val="0"/>
                        </a:spcAft>
                        <a:buNone/>
                      </a:pPr>
                      <a:r>
                        <a:rPr lang="en-US" sz="3000" u="none" cap="none" strike="noStrike">
                          <a:solidFill>
                            <a:srgbClr val="00667A"/>
                          </a:solidFill>
                          <a:latin typeface="Arial"/>
                          <a:ea typeface="Arial"/>
                          <a:cs typeface="Arial"/>
                          <a:sym typeface="Arial"/>
                        </a:rPr>
                        <a:t>Intellectual property (IP) is the property of your mind or proprietary knowledge. Basically, the productive new ideas you create. It can be an invention, trademark, design, brand, or the application of your idea.</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2E3E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152" name="Shape 152"/>
        <p:cNvGrpSpPr/>
        <p:nvPr/>
      </p:nvGrpSpPr>
      <p:grpSpPr>
        <a:xfrm>
          <a:off x="0" y="0"/>
          <a:ext cx="0" cy="0"/>
          <a:chOff x="0" y="0"/>
          <a:chExt cx="0" cy="0"/>
        </a:xfrm>
      </p:grpSpPr>
      <p:sp>
        <p:nvSpPr>
          <p:cNvPr id="153" name="Google Shape;153;p5"/>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5"/>
          <p:cNvSpPr txBox="1"/>
          <p:nvPr/>
        </p:nvSpPr>
        <p:spPr>
          <a:xfrm>
            <a:off x="2209800" y="1676834"/>
            <a:ext cx="14935200" cy="187769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 </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about Intellectual Property at: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https://www.ipaustralia.gov.au/understanding-ip</a:t>
            </a:r>
            <a:r>
              <a:rPr lang="en-US" sz="3000">
                <a:solidFill>
                  <a:schemeClr val="lt1"/>
                </a:solidFill>
                <a:latin typeface="Arial"/>
                <a:ea typeface="Arial"/>
                <a:cs typeface="Arial"/>
                <a:sym typeface="Arial"/>
              </a:rPr>
              <a:t> </a:t>
            </a:r>
            <a:endParaRPr/>
          </a:p>
        </p:txBody>
      </p:sp>
      <p:grpSp>
        <p:nvGrpSpPr>
          <p:cNvPr id="155" name="Google Shape;155;p5"/>
          <p:cNvGrpSpPr/>
          <p:nvPr/>
        </p:nvGrpSpPr>
        <p:grpSpPr>
          <a:xfrm>
            <a:off x="1028700" y="495300"/>
            <a:ext cx="17259300" cy="218203"/>
            <a:chOff x="1028700" y="723900"/>
            <a:chExt cx="17259300" cy="218203"/>
          </a:xfrm>
        </p:grpSpPr>
        <p:sp>
          <p:nvSpPr>
            <p:cNvPr id="156" name="Google Shape;156;p5"/>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5"/>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5"/>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5"/>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160" name="Google Shape;160;p5"/>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161" name="Google Shape;161;p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162" name="Google Shape;162;p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163" name="Google Shape;163;p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164" name="Google Shape;164;p5"/>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169" name="Shape 169"/>
        <p:cNvGrpSpPr/>
        <p:nvPr/>
      </p:nvGrpSpPr>
      <p:grpSpPr>
        <a:xfrm>
          <a:off x="0" y="0"/>
          <a:ext cx="0" cy="0"/>
          <a:chOff x="0" y="0"/>
          <a:chExt cx="0" cy="0"/>
        </a:xfrm>
      </p:grpSpPr>
      <p:sp>
        <p:nvSpPr>
          <p:cNvPr id="170" name="Google Shape;170;p6"/>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6"/>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WATCH</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IP basics</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https://www.communications.gov.au/file/22396/download?token=hkIjq8q1</a:t>
            </a:r>
            <a:r>
              <a:rPr lang="en-US" sz="3000">
                <a:solidFill>
                  <a:schemeClr val="lt1"/>
                </a:solidFill>
                <a:latin typeface="Arial"/>
                <a:ea typeface="Arial"/>
                <a:cs typeface="Arial"/>
                <a:sym typeface="Arial"/>
              </a:rPr>
              <a:t> (04:03)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Your trainer will discuss the outcomes of the video.  </a:t>
            </a:r>
            <a:endParaRPr/>
          </a:p>
        </p:txBody>
      </p:sp>
      <p:grpSp>
        <p:nvGrpSpPr>
          <p:cNvPr id="172" name="Google Shape;172;p6"/>
          <p:cNvGrpSpPr/>
          <p:nvPr/>
        </p:nvGrpSpPr>
        <p:grpSpPr>
          <a:xfrm>
            <a:off x="1028700" y="495300"/>
            <a:ext cx="17259300" cy="218203"/>
            <a:chOff x="1028700" y="723900"/>
            <a:chExt cx="17259300" cy="218203"/>
          </a:xfrm>
        </p:grpSpPr>
        <p:sp>
          <p:nvSpPr>
            <p:cNvPr id="173" name="Google Shape;173;p6"/>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6"/>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6"/>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177" name="Google Shape;177;p6"/>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178" name="Google Shape;178;p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179" name="Google Shape;179;p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180" name="Google Shape;180;p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181" name="Google Shape;181;p6"/>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187" name="Google Shape;187;p7"/>
          <p:cNvGrpSpPr/>
          <p:nvPr/>
        </p:nvGrpSpPr>
        <p:grpSpPr>
          <a:xfrm>
            <a:off x="1028700" y="446788"/>
            <a:ext cx="17244000" cy="220041"/>
            <a:chOff x="0" y="0"/>
            <a:chExt cx="23454501" cy="293387"/>
          </a:xfrm>
        </p:grpSpPr>
        <p:sp>
          <p:nvSpPr>
            <p:cNvPr id="188" name="Google Shape;188;p7"/>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7"/>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7"/>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2" name="Google Shape;192;p7"/>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7"/>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194" name="Google Shape;194;p7"/>
          <p:cNvSpPr txBox="1"/>
          <p:nvPr/>
        </p:nvSpPr>
        <p:spPr>
          <a:xfrm>
            <a:off x="1028700" y="1676834"/>
            <a:ext cx="12687300" cy="348884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INTELLECTUAL PROPERTY</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As you just learnt, intellectual property is the is the property of your mind or proprietary knowledge.</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Copyright is the actual protection extended to the creator of an original work. It provides the sole rights to the use and distribution of the work and can be for a specific time frame. </a:t>
            </a:r>
            <a:r>
              <a:rPr b="1" lang="en-US" sz="3200">
                <a:solidFill>
                  <a:srgbClr val="00667A"/>
                </a:solidFill>
                <a:latin typeface="Arial"/>
                <a:ea typeface="Arial"/>
                <a:cs typeface="Arial"/>
                <a:sym typeface="Arial"/>
              </a:rPr>
              <a:t> </a:t>
            </a:r>
            <a:endParaRPr/>
          </a:p>
        </p:txBody>
      </p:sp>
      <p:sp>
        <p:nvSpPr>
          <p:cNvPr id="195" name="Google Shape;195;p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196" name="Google Shape;196;p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197" name="Google Shape;197;p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02" name="Shape 202"/>
        <p:cNvGrpSpPr/>
        <p:nvPr/>
      </p:nvGrpSpPr>
      <p:grpSpPr>
        <a:xfrm>
          <a:off x="0" y="0"/>
          <a:ext cx="0" cy="0"/>
          <a:chOff x="0" y="0"/>
          <a:chExt cx="0" cy="0"/>
        </a:xfrm>
      </p:grpSpPr>
      <p:sp>
        <p:nvSpPr>
          <p:cNvPr id="203" name="Google Shape;203;p8"/>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8"/>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about Intellectual Property and Copyright legislation, as well as the rules on works considered as creative commons at: </a:t>
            </a:r>
            <a:r>
              <a:rPr lang="en-US" sz="3000" u="sng">
                <a:solidFill>
                  <a:schemeClr val="lt1"/>
                </a:solidFill>
                <a:latin typeface="Arial"/>
                <a:ea typeface="Arial"/>
                <a:cs typeface="Arial"/>
                <a:sym typeface="Arial"/>
                <a:hlinkClick r:id="rId3">
                  <a:extLst>
                    <a:ext uri="{A12FA001-AC4F-418D-AE19-62706E023703}">
                      <ahyp:hlinkClr val="tx"/>
                    </a:ext>
                  </a:extLst>
                </a:hlinkClick>
              </a:rPr>
              <a:t>https://creativecommons.org</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4">
                  <a:extLst>
                    <a:ext uri="{A12FA001-AC4F-418D-AE19-62706E023703}">
                      <ahyp:hlinkClr val="tx"/>
                    </a:ext>
                  </a:extLst>
                </a:hlinkClick>
              </a:rPr>
              <a:t>https://www.ipaustralia.gov.au/about-us/legislation/ip-legislation</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5">
                  <a:extLst>
                    <a:ext uri="{A12FA001-AC4F-418D-AE19-62706E023703}">
                      <ahyp:hlinkClr val="tx"/>
                    </a:ext>
                  </a:extLst>
                </a:hlinkClick>
              </a:rPr>
              <a:t>https://www.business.qld.gov.au/running-business/ip/types/copyright/defined</a:t>
            </a:r>
            <a:r>
              <a:rPr lang="en-US" sz="3000">
                <a:solidFill>
                  <a:schemeClr val="lt1"/>
                </a:solidFill>
                <a:latin typeface="Arial"/>
                <a:ea typeface="Arial"/>
                <a:cs typeface="Arial"/>
                <a:sym typeface="Arial"/>
              </a:rPr>
              <a:t> </a:t>
            </a:r>
            <a:endParaRPr/>
          </a:p>
        </p:txBody>
      </p:sp>
      <p:grpSp>
        <p:nvGrpSpPr>
          <p:cNvPr id="205" name="Google Shape;205;p8"/>
          <p:cNvGrpSpPr/>
          <p:nvPr/>
        </p:nvGrpSpPr>
        <p:grpSpPr>
          <a:xfrm>
            <a:off x="1028700" y="495300"/>
            <a:ext cx="17259300" cy="218203"/>
            <a:chOff x="1028700" y="723900"/>
            <a:chExt cx="17259300" cy="218203"/>
          </a:xfrm>
        </p:grpSpPr>
        <p:sp>
          <p:nvSpPr>
            <p:cNvPr id="206" name="Google Shape;206;p8"/>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8"/>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210" name="Google Shape;210;p8"/>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211" name="Google Shape;211;p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212" name="Google Shape;212;p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13" name="Google Shape;213;p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214" name="Google Shape;214;p8"/>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19" name="Shape 219"/>
        <p:cNvGrpSpPr/>
        <p:nvPr/>
      </p:nvGrpSpPr>
      <p:grpSpPr>
        <a:xfrm>
          <a:off x="0" y="0"/>
          <a:ext cx="0" cy="0"/>
          <a:chOff x="0" y="0"/>
          <a:chExt cx="0" cy="0"/>
        </a:xfrm>
      </p:grpSpPr>
      <p:sp>
        <p:nvSpPr>
          <p:cNvPr id="220" name="Google Shape;220;p9"/>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9"/>
          <p:cNvSpPr txBox="1"/>
          <p:nvPr/>
        </p:nvSpPr>
        <p:spPr>
          <a:xfrm>
            <a:off x="2209800" y="1676834"/>
            <a:ext cx="149352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Divide into small groups. The trainer/assessor will allocate each group with some questions to address. To ensure that you understand Australian IP and copyright law relating to ICT, research and discuss the questions.</a:t>
            </a:r>
            <a:endParaRPr/>
          </a:p>
        </p:txBody>
      </p:sp>
      <p:grpSp>
        <p:nvGrpSpPr>
          <p:cNvPr id="222" name="Google Shape;222;p9"/>
          <p:cNvGrpSpPr/>
          <p:nvPr/>
        </p:nvGrpSpPr>
        <p:grpSpPr>
          <a:xfrm>
            <a:off x="1028700" y="495300"/>
            <a:ext cx="17259300" cy="218203"/>
            <a:chOff x="1028700" y="723900"/>
            <a:chExt cx="17259300" cy="218203"/>
          </a:xfrm>
        </p:grpSpPr>
        <p:sp>
          <p:nvSpPr>
            <p:cNvPr id="223" name="Google Shape;223;p9"/>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9"/>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9"/>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227" name="Google Shape;227;p9"/>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28" name="Google Shape;228;p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229" name="Google Shape;229;p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30" name="Google Shape;230;p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231" name="Google Shape;231;p9"/>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37" name="Google Shape;237;p10"/>
          <p:cNvGrpSpPr/>
          <p:nvPr/>
        </p:nvGrpSpPr>
        <p:grpSpPr>
          <a:xfrm>
            <a:off x="1028700" y="446788"/>
            <a:ext cx="17244000" cy="220041"/>
            <a:chOff x="0" y="0"/>
            <a:chExt cx="23454501" cy="293387"/>
          </a:xfrm>
        </p:grpSpPr>
        <p:sp>
          <p:nvSpPr>
            <p:cNvPr id="238" name="Google Shape;238;p10"/>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0"/>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0"/>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0"/>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2" name="Google Shape;242;p10"/>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0"/>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244" name="Google Shape;244;p10"/>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IMPORTANT NOTE</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It’s important throughout this unit to check that all the sources of information you used are reliable sources. For example, using information from recognised bodies such as government agencies and peak bodies will ensure that information is reliable. </a:t>
            </a:r>
            <a:endParaRPr/>
          </a:p>
        </p:txBody>
      </p:sp>
      <p:sp>
        <p:nvSpPr>
          <p:cNvPr id="245" name="Google Shape;245;p1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246" name="Google Shape;246;p1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247" name="Google Shape;247;p1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53" name="Google Shape;253;p11"/>
          <p:cNvGrpSpPr/>
          <p:nvPr/>
        </p:nvGrpSpPr>
        <p:grpSpPr>
          <a:xfrm>
            <a:off x="1028700" y="446788"/>
            <a:ext cx="17244000" cy="220041"/>
            <a:chOff x="0" y="0"/>
            <a:chExt cx="23454501" cy="293387"/>
          </a:xfrm>
        </p:grpSpPr>
        <p:sp>
          <p:nvSpPr>
            <p:cNvPr id="254" name="Google Shape;254;p11"/>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1"/>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1"/>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1"/>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1"/>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260" name="Google Shape;260;p11"/>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IP LAW AND WORK PRACTICES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To manage adherence to IP regulations in the workplace, not only do you need to understand the law and how it relates to ICT, but you also need to be able to ensure that these have been aligned to organisational requirements and then complied with.</a:t>
            </a:r>
            <a:endParaRPr/>
          </a:p>
        </p:txBody>
      </p:sp>
      <p:sp>
        <p:nvSpPr>
          <p:cNvPr id="261" name="Google Shape;261;p1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262" name="Google Shape;262;p1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263" name="Google Shape;263;p1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68" name="Shape 268"/>
        <p:cNvGrpSpPr/>
        <p:nvPr/>
      </p:nvGrpSpPr>
      <p:grpSpPr>
        <a:xfrm>
          <a:off x="0" y="0"/>
          <a:ext cx="0" cy="0"/>
          <a:chOff x="0" y="0"/>
          <a:chExt cx="0" cy="0"/>
        </a:xfrm>
      </p:grpSpPr>
      <p:sp>
        <p:nvSpPr>
          <p:cNvPr id="269" name="Google Shape;269;p12"/>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2"/>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Find a policy and procedures on the Internet that is concerned with copyright or intellectual property.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down the name of the policy and what it covers.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trainer/assessor will facilitate a class discussion about the outcomes of the research.</a:t>
            </a:r>
            <a:endParaRPr/>
          </a:p>
        </p:txBody>
      </p:sp>
      <p:grpSp>
        <p:nvGrpSpPr>
          <p:cNvPr id="271" name="Google Shape;271;p12"/>
          <p:cNvGrpSpPr/>
          <p:nvPr/>
        </p:nvGrpSpPr>
        <p:grpSpPr>
          <a:xfrm>
            <a:off x="1028700" y="495300"/>
            <a:ext cx="17259300" cy="218203"/>
            <a:chOff x="1028700" y="723900"/>
            <a:chExt cx="17259300" cy="218203"/>
          </a:xfrm>
        </p:grpSpPr>
        <p:sp>
          <p:nvSpPr>
            <p:cNvPr id="272" name="Google Shape;272;p12"/>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2"/>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2"/>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2"/>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276" name="Google Shape;276;p12"/>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77" name="Google Shape;277;p1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278" name="Google Shape;278;p1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79" name="Google Shape;279;p1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280" name="Google Shape;280;p12"/>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85" name="Shape 285"/>
        <p:cNvGrpSpPr/>
        <p:nvPr/>
      </p:nvGrpSpPr>
      <p:grpSpPr>
        <a:xfrm>
          <a:off x="0" y="0"/>
          <a:ext cx="0" cy="0"/>
          <a:chOff x="0" y="0"/>
          <a:chExt cx="0" cy="0"/>
        </a:xfrm>
      </p:grpSpPr>
      <p:sp>
        <p:nvSpPr>
          <p:cNvPr id="286" name="Google Shape;286;p13"/>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3"/>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BRAINSTORM</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As a group brainstorm work practices that do and don’t meet intellectual property/copyright requirements.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Try and come up with at least five examples of each.</a:t>
            </a:r>
            <a:endParaRPr/>
          </a:p>
        </p:txBody>
      </p:sp>
      <p:grpSp>
        <p:nvGrpSpPr>
          <p:cNvPr id="288" name="Google Shape;288;p13"/>
          <p:cNvGrpSpPr/>
          <p:nvPr/>
        </p:nvGrpSpPr>
        <p:grpSpPr>
          <a:xfrm>
            <a:off x="1028700" y="495300"/>
            <a:ext cx="17259300" cy="218203"/>
            <a:chOff x="1028700" y="723900"/>
            <a:chExt cx="17259300" cy="218203"/>
          </a:xfrm>
        </p:grpSpPr>
        <p:sp>
          <p:nvSpPr>
            <p:cNvPr id="289" name="Google Shape;289;p13"/>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3"/>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3"/>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3"/>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293" name="Google Shape;293;p1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94" name="Google Shape;294;p1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295" name="Google Shape;295;p1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96" name="Google Shape;296;p1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297" name="Google Shape;297;p13"/>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302" name="Shape 302"/>
        <p:cNvGrpSpPr/>
        <p:nvPr/>
      </p:nvGrpSpPr>
      <p:grpSpPr>
        <a:xfrm>
          <a:off x="0" y="0"/>
          <a:ext cx="0" cy="0"/>
          <a:chOff x="0" y="0"/>
          <a:chExt cx="0" cy="0"/>
        </a:xfrm>
      </p:grpSpPr>
      <p:sp>
        <p:nvSpPr>
          <p:cNvPr id="303" name="Google Shape;303;p14"/>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4"/>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BRAINSTORM</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As a group, brainstorm other questions you could ask to check about understanding and work practices.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Try and come up with at least five examples of each.</a:t>
            </a:r>
            <a:endParaRPr/>
          </a:p>
        </p:txBody>
      </p:sp>
      <p:grpSp>
        <p:nvGrpSpPr>
          <p:cNvPr id="305" name="Google Shape;305;p14"/>
          <p:cNvGrpSpPr/>
          <p:nvPr/>
        </p:nvGrpSpPr>
        <p:grpSpPr>
          <a:xfrm>
            <a:off x="1028700" y="495300"/>
            <a:ext cx="17259300" cy="218203"/>
            <a:chOff x="1028700" y="723900"/>
            <a:chExt cx="17259300" cy="218203"/>
          </a:xfrm>
        </p:grpSpPr>
        <p:sp>
          <p:nvSpPr>
            <p:cNvPr id="306" name="Google Shape;306;p14"/>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4"/>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4"/>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4"/>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310" name="Google Shape;310;p14"/>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311" name="Google Shape;311;p1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312" name="Google Shape;312;p1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13" name="Google Shape;313;p1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314" name="Google Shape;314;p14"/>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20" name="Google Shape;320;p15"/>
          <p:cNvGrpSpPr/>
          <p:nvPr/>
        </p:nvGrpSpPr>
        <p:grpSpPr>
          <a:xfrm>
            <a:off x="1028700" y="446788"/>
            <a:ext cx="17244000" cy="220041"/>
            <a:chOff x="0" y="0"/>
            <a:chExt cx="23454501" cy="293387"/>
          </a:xfrm>
        </p:grpSpPr>
        <p:sp>
          <p:nvSpPr>
            <p:cNvPr id="321" name="Google Shape;321;p15"/>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5"/>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5"/>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5"/>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5" name="Google Shape;325;p15"/>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5"/>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327" name="Google Shape;327;p15"/>
          <p:cNvSpPr txBox="1"/>
          <p:nvPr/>
        </p:nvSpPr>
        <p:spPr>
          <a:xfrm>
            <a:off x="1028700" y="1676834"/>
            <a:ext cx="12687300" cy="281147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ORGANISATIONAL COPYRIGHT POLICY AND WORK PRACTICES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It is essential to ensure that your company's copyright/intellectual policy and procedures is current and up to date with current legislation and industry standards. </a:t>
            </a:r>
            <a:endParaRPr/>
          </a:p>
        </p:txBody>
      </p:sp>
      <p:sp>
        <p:nvSpPr>
          <p:cNvPr id="328" name="Google Shape;328;p1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29" name="Google Shape;329;p1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330" name="Google Shape;330;p1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335" name="Shape 335"/>
        <p:cNvGrpSpPr/>
        <p:nvPr/>
      </p:nvGrpSpPr>
      <p:grpSpPr>
        <a:xfrm>
          <a:off x="0" y="0"/>
          <a:ext cx="0" cy="0"/>
          <a:chOff x="0" y="0"/>
          <a:chExt cx="0" cy="0"/>
        </a:xfrm>
      </p:grpSpPr>
      <p:sp>
        <p:nvSpPr>
          <p:cNvPr id="336" name="Google Shape;336;p16"/>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6"/>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Go back to the policy and procedures on the Internet that you found that is concerned with copyright or intellectual property.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Is it up to date in your opinion? Why or why not?</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trainer/assessor will facilitate a class discussion about the outcomes of the research.</a:t>
            </a:r>
            <a:endParaRPr/>
          </a:p>
        </p:txBody>
      </p:sp>
      <p:grpSp>
        <p:nvGrpSpPr>
          <p:cNvPr id="338" name="Google Shape;338;p16"/>
          <p:cNvGrpSpPr/>
          <p:nvPr/>
        </p:nvGrpSpPr>
        <p:grpSpPr>
          <a:xfrm>
            <a:off x="1028700" y="495300"/>
            <a:ext cx="17259300" cy="218203"/>
            <a:chOff x="1028700" y="723900"/>
            <a:chExt cx="17259300" cy="218203"/>
          </a:xfrm>
        </p:grpSpPr>
        <p:sp>
          <p:nvSpPr>
            <p:cNvPr id="339" name="Google Shape;339;p16"/>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6"/>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6"/>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6"/>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343" name="Google Shape;343;p16"/>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344" name="Google Shape;344;p1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345" name="Google Shape;345;p1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46" name="Google Shape;346;p1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347" name="Google Shape;347;p16"/>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7"/>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53" name="Google Shape;353;p17"/>
          <p:cNvGrpSpPr/>
          <p:nvPr/>
        </p:nvGrpSpPr>
        <p:grpSpPr>
          <a:xfrm>
            <a:off x="1028700" y="446788"/>
            <a:ext cx="17244000" cy="220041"/>
            <a:chOff x="0" y="0"/>
            <a:chExt cx="23454501" cy="293387"/>
          </a:xfrm>
        </p:grpSpPr>
        <p:sp>
          <p:nvSpPr>
            <p:cNvPr id="354" name="Google Shape;354;p17"/>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7"/>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7"/>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7"/>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8" name="Google Shape;358;p17"/>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7"/>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360" name="Google Shape;360;p17"/>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PLANNING</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It’s also important to make sure you plan all activities associated with reviewing and updating policies and procedures. </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This may involve a detailed document that lists legislation, organisational activities, compliance and roles and responsibilities.  </a:t>
            </a:r>
            <a:endParaRPr/>
          </a:p>
        </p:txBody>
      </p:sp>
      <p:sp>
        <p:nvSpPr>
          <p:cNvPr id="361" name="Google Shape;361;p1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62" name="Google Shape;362;p1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363" name="Google Shape;363;p1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368" name="Shape 368"/>
        <p:cNvGrpSpPr/>
        <p:nvPr/>
      </p:nvGrpSpPr>
      <p:grpSpPr>
        <a:xfrm>
          <a:off x="0" y="0"/>
          <a:ext cx="0" cy="0"/>
          <a:chOff x="0" y="0"/>
          <a:chExt cx="0" cy="0"/>
        </a:xfrm>
      </p:grpSpPr>
      <p:sp>
        <p:nvSpPr>
          <p:cNvPr id="369" name="Google Shape;369;p18"/>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8"/>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the article about to create a simple action plan and makes notes for use as required:</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https://creately.com/blog/diagrams/how-to-write-an-action-plan/</a:t>
            </a:r>
            <a:r>
              <a:rPr lang="en-US" sz="3000">
                <a:solidFill>
                  <a:schemeClr val="lt1"/>
                </a:solidFill>
                <a:latin typeface="Arial"/>
                <a:ea typeface="Arial"/>
                <a:cs typeface="Arial"/>
                <a:sym typeface="Arial"/>
              </a:rPr>
              <a:t> </a:t>
            </a:r>
            <a:endParaRPr/>
          </a:p>
        </p:txBody>
      </p:sp>
      <p:grpSp>
        <p:nvGrpSpPr>
          <p:cNvPr id="371" name="Google Shape;371;p18"/>
          <p:cNvGrpSpPr/>
          <p:nvPr/>
        </p:nvGrpSpPr>
        <p:grpSpPr>
          <a:xfrm>
            <a:off x="1028700" y="495300"/>
            <a:ext cx="17259300" cy="218203"/>
            <a:chOff x="1028700" y="723900"/>
            <a:chExt cx="17259300" cy="218203"/>
          </a:xfrm>
        </p:grpSpPr>
        <p:sp>
          <p:nvSpPr>
            <p:cNvPr id="372" name="Google Shape;372;p18"/>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8"/>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8"/>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376" name="Google Shape;376;p18"/>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377" name="Google Shape;377;p1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378" name="Google Shape;378;p1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79" name="Google Shape;379;p1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380" name="Google Shape;380;p18"/>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Intellectual property (IP), ethics and privacy in the ICT industry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86" name="Google Shape;386;p19"/>
          <p:cNvGrpSpPr/>
          <p:nvPr/>
        </p:nvGrpSpPr>
        <p:grpSpPr>
          <a:xfrm>
            <a:off x="1028700" y="446788"/>
            <a:ext cx="17244000" cy="220041"/>
            <a:chOff x="0" y="0"/>
            <a:chExt cx="23454501" cy="293387"/>
          </a:xfrm>
        </p:grpSpPr>
        <p:sp>
          <p:nvSpPr>
            <p:cNvPr id="387" name="Google Shape;387;p19"/>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9"/>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9"/>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9"/>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1" name="Google Shape;391;p19"/>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9"/>
          <p:cNvSpPr txBox="1"/>
          <p:nvPr/>
        </p:nvSpPr>
        <p:spPr>
          <a:xfrm>
            <a:off x="990600" y="7962900"/>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Intellectual property (IP), ethics and privacy in the ICT industry </a:t>
            </a:r>
            <a:endParaRPr/>
          </a:p>
        </p:txBody>
      </p:sp>
      <p:sp>
        <p:nvSpPr>
          <p:cNvPr id="393" name="Google Shape;393;p19"/>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SEEKING AND RESPONDING TO FEEDBACK</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Every employee or stakeholder in an organisation, including senior management, consultants and clients, should have the opportunity to review any documents that relate to adherence to IP regulations.</a:t>
            </a:r>
            <a:endParaRPr/>
          </a:p>
        </p:txBody>
      </p:sp>
      <p:sp>
        <p:nvSpPr>
          <p:cNvPr id="394" name="Google Shape;394;p1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95" name="Google Shape;395;p1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396" name="Google Shape;396;p1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0"/>
          <p:cNvSpPr/>
          <p:nvPr/>
        </p:nvSpPr>
        <p:spPr>
          <a:xfrm>
            <a:off x="0" y="1290497"/>
            <a:ext cx="18288000" cy="8196478"/>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0"/>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5200">
                <a:solidFill>
                  <a:schemeClr val="lt1"/>
                </a:solidFill>
                <a:latin typeface="Arial"/>
                <a:ea typeface="Arial"/>
                <a:cs typeface="Arial"/>
                <a:sym typeface="Arial"/>
              </a:rPr>
              <a:t>Topic 2: Ethical behaviour</a:t>
            </a:r>
            <a:endParaRPr b="1" sz="5200">
              <a:solidFill>
                <a:schemeClr val="lt1"/>
              </a:solidFill>
              <a:latin typeface="Arial"/>
              <a:ea typeface="Arial"/>
              <a:cs typeface="Arial"/>
              <a:sym typeface="Arial"/>
            </a:endParaRPr>
          </a:p>
        </p:txBody>
      </p:sp>
      <p:grpSp>
        <p:nvGrpSpPr>
          <p:cNvPr id="404" name="Google Shape;404;p20"/>
          <p:cNvGrpSpPr/>
          <p:nvPr/>
        </p:nvGrpSpPr>
        <p:grpSpPr>
          <a:xfrm>
            <a:off x="1028700" y="495300"/>
            <a:ext cx="17259300" cy="218203"/>
            <a:chOff x="1028700" y="723900"/>
            <a:chExt cx="17259300" cy="218203"/>
          </a:xfrm>
        </p:grpSpPr>
        <p:sp>
          <p:nvSpPr>
            <p:cNvPr id="405" name="Google Shape;405;p20"/>
            <p:cNvSpPr/>
            <p:nvPr/>
          </p:nvSpPr>
          <p:spPr>
            <a:xfrm>
              <a:off x="1044000" y="826884"/>
              <a:ext cx="17244000" cy="20795"/>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20"/>
            <p:cNvSpPr/>
            <p:nvPr/>
          </p:nvSpPr>
          <p:spPr>
            <a:xfrm>
              <a:off x="1028700" y="72390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20"/>
            <p:cNvSpPr/>
            <p:nvPr/>
          </p:nvSpPr>
          <p:spPr>
            <a:xfrm>
              <a:off x="6856574"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0"/>
            <p:cNvSpPr/>
            <p:nvPr/>
          </p:nvSpPr>
          <p:spPr>
            <a:xfrm>
              <a:off x="12684448"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9" name="Google Shape;409;p2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410" name="Google Shape;410;p2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11" name="Google Shape;411;p2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pic>
        <p:nvPicPr>
          <p:cNvPr descr="A picture containing icon&#10;&#10;Description automatically generated" id="412" name="Google Shape;412;p20"/>
          <p:cNvPicPr preferRelativeResize="0"/>
          <p:nvPr/>
        </p:nvPicPr>
        <p:blipFill rotWithShape="1">
          <a:blip r:embed="rId3">
            <a:alphaModFix/>
          </a:blip>
          <a:srcRect b="0" l="0" r="0" t="0"/>
          <a:stretch/>
        </p:blipFill>
        <p:spPr>
          <a:xfrm>
            <a:off x="6827676" y="3787452"/>
            <a:ext cx="4632648" cy="4632648"/>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418" name="Google Shape;418;p21"/>
          <p:cNvGrpSpPr/>
          <p:nvPr/>
        </p:nvGrpSpPr>
        <p:grpSpPr>
          <a:xfrm>
            <a:off x="1028700" y="446788"/>
            <a:ext cx="17244000" cy="220041"/>
            <a:chOff x="0" y="0"/>
            <a:chExt cx="23454501" cy="293387"/>
          </a:xfrm>
        </p:grpSpPr>
        <p:sp>
          <p:nvSpPr>
            <p:cNvPr id="419" name="Google Shape;419;p21"/>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1"/>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1"/>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1"/>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3" name="Google Shape;423;p2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1"/>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Ethical behaviour</a:t>
            </a:r>
            <a:endParaRPr sz="4600">
              <a:solidFill>
                <a:schemeClr val="lt1"/>
              </a:solidFill>
              <a:latin typeface="Arial"/>
              <a:ea typeface="Arial"/>
              <a:cs typeface="Arial"/>
              <a:sym typeface="Arial"/>
            </a:endParaRPr>
          </a:p>
        </p:txBody>
      </p:sp>
      <p:sp>
        <p:nvSpPr>
          <p:cNvPr id="425" name="Google Shape;425;p21"/>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ETHICS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Ethics at work is concerned with ensuring specific standards of behaviour.</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A code of ethics can be adopted by an organisation to provide a formal or informal set of standards. </a:t>
            </a:r>
            <a:endParaRPr/>
          </a:p>
        </p:txBody>
      </p:sp>
      <p:sp>
        <p:nvSpPr>
          <p:cNvPr id="426" name="Google Shape;426;p2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27" name="Google Shape;427;p2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428" name="Google Shape;428;p2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434" name="Google Shape;434;p22"/>
          <p:cNvGrpSpPr/>
          <p:nvPr/>
        </p:nvGrpSpPr>
        <p:grpSpPr>
          <a:xfrm>
            <a:off x="1028700" y="446788"/>
            <a:ext cx="17244000" cy="220041"/>
            <a:chOff x="0" y="0"/>
            <a:chExt cx="23454501" cy="293387"/>
          </a:xfrm>
        </p:grpSpPr>
        <p:sp>
          <p:nvSpPr>
            <p:cNvPr id="435" name="Google Shape;435;p22"/>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22"/>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2"/>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2"/>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9" name="Google Shape;439;p22"/>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2"/>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Ethical behaviour</a:t>
            </a:r>
            <a:endParaRPr sz="4600">
              <a:solidFill>
                <a:schemeClr val="lt1"/>
              </a:solidFill>
              <a:latin typeface="Arial"/>
              <a:ea typeface="Arial"/>
              <a:cs typeface="Arial"/>
              <a:sym typeface="Arial"/>
            </a:endParaRPr>
          </a:p>
        </p:txBody>
      </p:sp>
      <p:sp>
        <p:nvSpPr>
          <p:cNvPr id="441" name="Google Shape;441;p22"/>
          <p:cNvSpPr txBox="1"/>
          <p:nvPr/>
        </p:nvSpPr>
        <p:spPr>
          <a:xfrm>
            <a:off x="1028700" y="1676834"/>
            <a:ext cx="12687300" cy="293028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REVIEWING ICT CODE OF ETHICS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It is essential to review codes of conduct and in particular ethics in ICT due to the changing nature of the industry.</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The outcomes of the review should be summarised for senior management so that they can make decisions on the way forward. </a:t>
            </a:r>
            <a:endParaRPr/>
          </a:p>
        </p:txBody>
      </p:sp>
      <p:sp>
        <p:nvSpPr>
          <p:cNvPr id="442" name="Google Shape;442;p2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43" name="Google Shape;443;p2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444" name="Google Shape;444;p2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49" name="Shape 449"/>
        <p:cNvGrpSpPr/>
        <p:nvPr/>
      </p:nvGrpSpPr>
      <p:grpSpPr>
        <a:xfrm>
          <a:off x="0" y="0"/>
          <a:ext cx="0" cy="0"/>
          <a:chOff x="0" y="0"/>
          <a:chExt cx="0" cy="0"/>
        </a:xfrm>
      </p:grpSpPr>
      <p:sp>
        <p:nvSpPr>
          <p:cNvPr id="450" name="Google Shape;450;p23"/>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3"/>
          <p:cNvSpPr txBox="1"/>
          <p:nvPr/>
        </p:nvSpPr>
        <p:spPr>
          <a:xfrm>
            <a:off x="2209800" y="1676834"/>
            <a:ext cx="14935200" cy="119750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examples of codes of ethics.</a:t>
            </a:r>
            <a:endParaRPr/>
          </a:p>
        </p:txBody>
      </p:sp>
      <p:grpSp>
        <p:nvGrpSpPr>
          <p:cNvPr id="452" name="Google Shape;452;p23"/>
          <p:cNvGrpSpPr/>
          <p:nvPr/>
        </p:nvGrpSpPr>
        <p:grpSpPr>
          <a:xfrm>
            <a:off x="1028700" y="495300"/>
            <a:ext cx="17259300" cy="218203"/>
            <a:chOff x="1028700" y="723900"/>
            <a:chExt cx="17259300" cy="218203"/>
          </a:xfrm>
        </p:grpSpPr>
        <p:sp>
          <p:nvSpPr>
            <p:cNvPr id="453" name="Google Shape;453;p23"/>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3"/>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3"/>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23"/>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457" name="Google Shape;457;p2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458" name="Google Shape;458;p2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459" name="Google Shape;459;p2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60" name="Google Shape;460;p2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461" name="Google Shape;461;p23"/>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Ethical behaviour</a:t>
            </a:r>
            <a:endParaRPr sz="4600">
              <a:solidFill>
                <a:srgbClr val="00667A"/>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467" name="Google Shape;467;p24"/>
          <p:cNvGrpSpPr/>
          <p:nvPr/>
        </p:nvGrpSpPr>
        <p:grpSpPr>
          <a:xfrm>
            <a:off x="1028700" y="446788"/>
            <a:ext cx="17244000" cy="220041"/>
            <a:chOff x="0" y="0"/>
            <a:chExt cx="23454501" cy="293387"/>
          </a:xfrm>
        </p:grpSpPr>
        <p:sp>
          <p:nvSpPr>
            <p:cNvPr id="468" name="Google Shape;468;p24"/>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4"/>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24"/>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4"/>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2" name="Google Shape;472;p24"/>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4"/>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Ethical behaviour</a:t>
            </a:r>
            <a:endParaRPr sz="4600">
              <a:solidFill>
                <a:schemeClr val="lt1"/>
              </a:solidFill>
              <a:latin typeface="Arial"/>
              <a:ea typeface="Arial"/>
              <a:cs typeface="Arial"/>
              <a:sym typeface="Arial"/>
            </a:endParaRPr>
          </a:p>
        </p:txBody>
      </p:sp>
      <p:sp>
        <p:nvSpPr>
          <p:cNvPr id="474" name="Google Shape;474;p24"/>
          <p:cNvSpPr txBox="1"/>
          <p:nvPr/>
        </p:nvSpPr>
        <p:spPr>
          <a:xfrm>
            <a:off x="1028700" y="1676834"/>
            <a:ext cx="126873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GRIEVANCE REPORTING PROCEDURES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ICT related business risks can either emerge from internal or external non-compliance. </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Therefore, it is recommended that businesses have robust and supportive grievance reporting procedures and that all employees are aware of the company’s grievance reporting procedures.</a:t>
            </a:r>
            <a:endParaRPr/>
          </a:p>
        </p:txBody>
      </p:sp>
      <p:sp>
        <p:nvSpPr>
          <p:cNvPr id="475" name="Google Shape;475;p2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76" name="Google Shape;476;p2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477" name="Google Shape;477;p2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82" name="Shape 482"/>
        <p:cNvGrpSpPr/>
        <p:nvPr/>
      </p:nvGrpSpPr>
      <p:grpSpPr>
        <a:xfrm>
          <a:off x="0" y="0"/>
          <a:ext cx="0" cy="0"/>
          <a:chOff x="0" y="0"/>
          <a:chExt cx="0" cy="0"/>
        </a:xfrm>
      </p:grpSpPr>
      <p:sp>
        <p:nvSpPr>
          <p:cNvPr id="483" name="Google Shape;483;p25"/>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5"/>
          <p:cNvSpPr txBox="1"/>
          <p:nvPr/>
        </p:nvSpPr>
        <p:spPr>
          <a:xfrm>
            <a:off x="2209800" y="1676834"/>
            <a:ext cx="14935200" cy="527862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Some examples of reporting ethical issues: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Bentley University Ethics Complaint Procedures: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https://www.bentley.edu/offices/human-resources/ethics-complaint-procedures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EthicsPoint: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4">
                  <a:extLst>
                    <a:ext uri="{A12FA001-AC4F-418D-AE19-62706E023703}">
                      <ahyp:hlinkClr val="tx"/>
                    </a:ext>
                  </a:extLst>
                </a:hlinkClick>
              </a:rPr>
              <a:t>https://secure.ethicspoint.com/domain/media/en/gui/2265/faq.pdf</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How to speak up about ethics at work:</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5">
                  <a:extLst>
                    <a:ext uri="{A12FA001-AC4F-418D-AE19-62706E023703}">
                      <ahyp:hlinkClr val="tx"/>
                    </a:ext>
                  </a:extLst>
                </a:hlinkClick>
              </a:rPr>
              <a:t>https://hbr.org/2015/06/how-to-speak-up-about-ethical-issues-at-work</a:t>
            </a:r>
            <a:r>
              <a:rPr lang="en-US" sz="3000">
                <a:solidFill>
                  <a:schemeClr val="lt1"/>
                </a:solidFill>
                <a:latin typeface="Arial"/>
                <a:ea typeface="Arial"/>
                <a:cs typeface="Arial"/>
                <a:sym typeface="Arial"/>
              </a:rPr>
              <a:t> </a:t>
            </a:r>
            <a:endParaRPr/>
          </a:p>
        </p:txBody>
      </p:sp>
      <p:grpSp>
        <p:nvGrpSpPr>
          <p:cNvPr id="485" name="Google Shape;485;p25"/>
          <p:cNvGrpSpPr/>
          <p:nvPr/>
        </p:nvGrpSpPr>
        <p:grpSpPr>
          <a:xfrm>
            <a:off x="1028700" y="495300"/>
            <a:ext cx="17259300" cy="218203"/>
            <a:chOff x="1028700" y="723900"/>
            <a:chExt cx="17259300" cy="218203"/>
          </a:xfrm>
        </p:grpSpPr>
        <p:sp>
          <p:nvSpPr>
            <p:cNvPr id="486" name="Google Shape;486;p25"/>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25"/>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5"/>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5"/>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490" name="Google Shape;490;p25"/>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491" name="Google Shape;491;p2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492" name="Google Shape;492;p2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93" name="Google Shape;493;p2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494" name="Google Shape;494;p25"/>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Ethical behaviour</a:t>
            </a:r>
            <a:endParaRPr sz="4600">
              <a:solidFill>
                <a:srgbClr val="00667A"/>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500" name="Google Shape;500;p26"/>
          <p:cNvGrpSpPr/>
          <p:nvPr/>
        </p:nvGrpSpPr>
        <p:grpSpPr>
          <a:xfrm>
            <a:off x="1028700" y="446788"/>
            <a:ext cx="17244000" cy="220041"/>
            <a:chOff x="0" y="0"/>
            <a:chExt cx="23454501" cy="293387"/>
          </a:xfrm>
        </p:grpSpPr>
        <p:sp>
          <p:nvSpPr>
            <p:cNvPr id="501" name="Google Shape;501;p26"/>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26"/>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6"/>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6"/>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5" name="Google Shape;505;p26"/>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26"/>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Ethical behaviour</a:t>
            </a:r>
            <a:endParaRPr sz="4600">
              <a:solidFill>
                <a:schemeClr val="lt1"/>
              </a:solidFill>
              <a:latin typeface="Arial"/>
              <a:ea typeface="Arial"/>
              <a:cs typeface="Arial"/>
              <a:sym typeface="Arial"/>
            </a:endParaRPr>
          </a:p>
        </p:txBody>
      </p:sp>
      <p:sp>
        <p:nvSpPr>
          <p:cNvPr id="507" name="Google Shape;507;p26"/>
          <p:cNvSpPr txBox="1"/>
          <p:nvPr/>
        </p:nvSpPr>
        <p:spPr>
          <a:xfrm>
            <a:off x="1028700" y="1676834"/>
            <a:ext cx="126873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RESPOND TO REVIEW AND FEEDBACK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After you have completed the review, this should be submitted to the relevant personnel so that you can seek and respond to their feedback. </a:t>
            </a:r>
            <a:endParaRPr/>
          </a:p>
        </p:txBody>
      </p:sp>
      <p:sp>
        <p:nvSpPr>
          <p:cNvPr id="508" name="Google Shape;508;p2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09" name="Google Shape;509;p2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510" name="Google Shape;510;p2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pic>
        <p:nvPicPr>
          <p:cNvPr descr="Logo&#10;&#10;Description automatically generated" id="511" name="Google Shape;511;p26"/>
          <p:cNvPicPr preferRelativeResize="0"/>
          <p:nvPr/>
        </p:nvPicPr>
        <p:blipFill rotWithShape="1">
          <a:blip r:embed="rId3">
            <a:alphaModFix/>
          </a:blip>
          <a:srcRect b="0" l="0" r="0" t="0"/>
          <a:stretch/>
        </p:blipFill>
        <p:spPr>
          <a:xfrm>
            <a:off x="13309600" y="3789614"/>
            <a:ext cx="3302000" cy="2971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16" name="Shape 516"/>
        <p:cNvGrpSpPr/>
        <p:nvPr/>
      </p:nvGrpSpPr>
      <p:grpSpPr>
        <a:xfrm>
          <a:off x="0" y="0"/>
          <a:ext cx="0" cy="0"/>
          <a:chOff x="0" y="0"/>
          <a:chExt cx="0" cy="0"/>
        </a:xfrm>
      </p:grpSpPr>
      <p:sp>
        <p:nvSpPr>
          <p:cNvPr id="517" name="Google Shape;517;p27"/>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27"/>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Work in groups. Ensure you divide the work equally.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Your trainer will provide you with the RTO’s privacy policy, grievance procedure code of ethics and any related documents to the grievance procedure.</a:t>
            </a:r>
            <a:endParaRPr/>
          </a:p>
        </p:txBody>
      </p:sp>
      <p:grpSp>
        <p:nvGrpSpPr>
          <p:cNvPr id="519" name="Google Shape;519;p27"/>
          <p:cNvGrpSpPr/>
          <p:nvPr/>
        </p:nvGrpSpPr>
        <p:grpSpPr>
          <a:xfrm>
            <a:off x="1028700" y="495300"/>
            <a:ext cx="17259300" cy="218203"/>
            <a:chOff x="1028700" y="723900"/>
            <a:chExt cx="17259300" cy="218203"/>
          </a:xfrm>
        </p:grpSpPr>
        <p:sp>
          <p:nvSpPr>
            <p:cNvPr id="520" name="Google Shape;520;p27"/>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27"/>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7"/>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27"/>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524" name="Google Shape;524;p27"/>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525" name="Google Shape;525;p2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526" name="Google Shape;526;p2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27" name="Google Shape;527;p2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528" name="Google Shape;528;p27"/>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Ethical behaviour</a:t>
            </a:r>
            <a:endParaRPr sz="4600">
              <a:solidFill>
                <a:srgbClr val="00667A"/>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33" name="Shape 533"/>
        <p:cNvGrpSpPr/>
        <p:nvPr/>
      </p:nvGrpSpPr>
      <p:grpSpPr>
        <a:xfrm>
          <a:off x="0" y="0"/>
          <a:ext cx="0" cy="0"/>
          <a:chOff x="0" y="0"/>
          <a:chExt cx="0" cy="0"/>
        </a:xfrm>
      </p:grpSpPr>
      <p:sp>
        <p:nvSpPr>
          <p:cNvPr id="534" name="Google Shape;534;p28"/>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8"/>
          <p:cNvSpPr txBox="1"/>
          <p:nvPr/>
        </p:nvSpPr>
        <p:spPr>
          <a:xfrm>
            <a:off x="2209800" y="1676834"/>
            <a:ext cx="14935200" cy="429066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Divide into small groups of 3-4.</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following:</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An organisation may provide employees with a set of ethical frameworks and decision making processes to use, such as the following from UC San Diego:  </a:t>
            </a:r>
            <a:r>
              <a:rPr lang="en-US" sz="3000" u="sng">
                <a:solidFill>
                  <a:schemeClr val="lt1"/>
                </a:solidFill>
                <a:latin typeface="Arial"/>
                <a:ea typeface="Arial"/>
                <a:cs typeface="Arial"/>
                <a:sym typeface="Arial"/>
                <a:hlinkClick r:id="rId3">
                  <a:extLst>
                    <a:ext uri="{A12FA001-AC4F-418D-AE19-62706E023703}">
                      <ahyp:hlinkClr val="tx"/>
                    </a:ext>
                  </a:extLst>
                </a:hlinkClick>
              </a:rPr>
              <a:t>https://blink.ucsd.edu/finance/accountability/ethics/path.html</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Undertake the tasks that follow.</a:t>
            </a:r>
            <a:endParaRPr/>
          </a:p>
        </p:txBody>
      </p:sp>
      <p:grpSp>
        <p:nvGrpSpPr>
          <p:cNvPr id="536" name="Google Shape;536;p28"/>
          <p:cNvGrpSpPr/>
          <p:nvPr/>
        </p:nvGrpSpPr>
        <p:grpSpPr>
          <a:xfrm>
            <a:off x="1028700" y="495300"/>
            <a:ext cx="17259300" cy="218203"/>
            <a:chOff x="1028700" y="723900"/>
            <a:chExt cx="17259300" cy="218203"/>
          </a:xfrm>
        </p:grpSpPr>
        <p:sp>
          <p:nvSpPr>
            <p:cNvPr id="537" name="Google Shape;537;p28"/>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8"/>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8"/>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28"/>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541" name="Google Shape;541;p28"/>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542" name="Google Shape;542;p2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543" name="Google Shape;543;p2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44" name="Google Shape;544;p2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545" name="Google Shape;545;p28"/>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Ethical behaviour</a:t>
            </a:r>
            <a:endParaRPr sz="4600">
              <a:solidFill>
                <a:srgbClr val="00667A"/>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50" name="Shape 550"/>
        <p:cNvGrpSpPr/>
        <p:nvPr/>
      </p:nvGrpSpPr>
      <p:grpSpPr>
        <a:xfrm>
          <a:off x="0" y="0"/>
          <a:ext cx="0" cy="0"/>
          <a:chOff x="0" y="0"/>
          <a:chExt cx="0" cy="0"/>
        </a:xfrm>
      </p:grpSpPr>
      <p:sp>
        <p:nvSpPr>
          <p:cNvPr id="551" name="Google Shape;551;p29"/>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29"/>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Work in groups.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Your trainer will provide you with the code of ethics for the RTO or another business they know. Analyse the code of ethics. </a:t>
            </a:r>
            <a:endParaRPr/>
          </a:p>
        </p:txBody>
      </p:sp>
      <p:grpSp>
        <p:nvGrpSpPr>
          <p:cNvPr id="553" name="Google Shape;553;p29"/>
          <p:cNvGrpSpPr/>
          <p:nvPr/>
        </p:nvGrpSpPr>
        <p:grpSpPr>
          <a:xfrm>
            <a:off x="1028700" y="495300"/>
            <a:ext cx="17259300" cy="218203"/>
            <a:chOff x="1028700" y="723900"/>
            <a:chExt cx="17259300" cy="218203"/>
          </a:xfrm>
        </p:grpSpPr>
        <p:sp>
          <p:nvSpPr>
            <p:cNvPr id="554" name="Google Shape;554;p29"/>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29"/>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29"/>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29"/>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558" name="Google Shape;558;p29"/>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559" name="Google Shape;559;p2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560" name="Google Shape;560;p2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61" name="Google Shape;561;p2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562" name="Google Shape;562;p29"/>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Ethical behaviour</a:t>
            </a:r>
            <a:endParaRPr sz="4600">
              <a:solidFill>
                <a:srgbClr val="00667A"/>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0"/>
          <p:cNvSpPr/>
          <p:nvPr/>
        </p:nvSpPr>
        <p:spPr>
          <a:xfrm>
            <a:off x="0" y="1290497"/>
            <a:ext cx="18288000" cy="8196478"/>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30"/>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5200">
                <a:solidFill>
                  <a:schemeClr val="lt1"/>
                </a:solidFill>
                <a:latin typeface="Arial"/>
                <a:ea typeface="Arial"/>
                <a:cs typeface="Arial"/>
                <a:sym typeface="Arial"/>
              </a:rPr>
              <a:t>Topic 3: Privacy</a:t>
            </a:r>
            <a:endParaRPr/>
          </a:p>
        </p:txBody>
      </p:sp>
      <p:grpSp>
        <p:nvGrpSpPr>
          <p:cNvPr id="570" name="Google Shape;570;p30"/>
          <p:cNvGrpSpPr/>
          <p:nvPr/>
        </p:nvGrpSpPr>
        <p:grpSpPr>
          <a:xfrm>
            <a:off x="1028700" y="495300"/>
            <a:ext cx="17259300" cy="218203"/>
            <a:chOff x="1028700" y="723900"/>
            <a:chExt cx="17259300" cy="218203"/>
          </a:xfrm>
        </p:grpSpPr>
        <p:sp>
          <p:nvSpPr>
            <p:cNvPr id="571" name="Google Shape;571;p30"/>
            <p:cNvSpPr/>
            <p:nvPr/>
          </p:nvSpPr>
          <p:spPr>
            <a:xfrm>
              <a:off x="1044000" y="826884"/>
              <a:ext cx="17244000" cy="20795"/>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30"/>
            <p:cNvSpPr/>
            <p:nvPr/>
          </p:nvSpPr>
          <p:spPr>
            <a:xfrm>
              <a:off x="1028700" y="72390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30"/>
            <p:cNvSpPr/>
            <p:nvPr/>
          </p:nvSpPr>
          <p:spPr>
            <a:xfrm>
              <a:off x="6856574"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30"/>
            <p:cNvSpPr/>
            <p:nvPr/>
          </p:nvSpPr>
          <p:spPr>
            <a:xfrm>
              <a:off x="12684448" y="732460"/>
              <a:ext cx="219025" cy="209643"/>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5" name="Google Shape;575;p3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576" name="Google Shape;576;p3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77" name="Google Shape;577;p3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pic>
        <p:nvPicPr>
          <p:cNvPr descr="A close up of a sign&#10;&#10;Description automatically generated" id="578" name="Google Shape;578;p30"/>
          <p:cNvPicPr preferRelativeResize="0"/>
          <p:nvPr/>
        </p:nvPicPr>
        <p:blipFill rotWithShape="1">
          <a:blip r:embed="rId3">
            <a:alphaModFix/>
          </a:blip>
          <a:srcRect b="0" l="0" r="0" t="0"/>
          <a:stretch/>
        </p:blipFill>
        <p:spPr>
          <a:xfrm>
            <a:off x="5502116" y="3581558"/>
            <a:ext cx="7283767" cy="4852579"/>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584" name="Google Shape;584;p31"/>
          <p:cNvGrpSpPr/>
          <p:nvPr/>
        </p:nvGrpSpPr>
        <p:grpSpPr>
          <a:xfrm>
            <a:off x="1028700" y="446788"/>
            <a:ext cx="17244000" cy="220041"/>
            <a:chOff x="0" y="0"/>
            <a:chExt cx="23454501" cy="293387"/>
          </a:xfrm>
        </p:grpSpPr>
        <p:sp>
          <p:nvSpPr>
            <p:cNvPr id="585" name="Google Shape;585;p31"/>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31"/>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31"/>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31"/>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9" name="Google Shape;589;p3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31"/>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591" name="Google Shape;591;p31"/>
          <p:cNvSpPr txBox="1"/>
          <p:nvPr/>
        </p:nvSpPr>
        <p:spPr>
          <a:xfrm>
            <a:off x="1028700" y="1676834"/>
            <a:ext cx="12687300" cy="2215030"/>
          </a:xfrm>
          <a:prstGeom prst="rect">
            <a:avLst/>
          </a:prstGeom>
          <a:noFill/>
          <a:ln>
            <a:noFill/>
          </a:ln>
        </p:spPr>
        <p:txBody>
          <a:bodyPr anchorCtr="0" anchor="t" bIns="0" lIns="0" spcFirstLastPara="1" rIns="0" wrap="square" tIns="0">
            <a:spAutoFit/>
          </a:bodyPr>
          <a:lstStyle/>
          <a:p>
            <a:pPr indent="-457200" lvl="0" marL="457200" marR="0" rtl="0" algn="l">
              <a:lnSpc>
                <a:spcPct val="114000"/>
              </a:lnSpc>
              <a:spcBef>
                <a:spcPts val="0"/>
              </a:spcBef>
              <a:spcAft>
                <a:spcPts val="0"/>
              </a:spcAft>
              <a:buClr>
                <a:srgbClr val="00667A"/>
              </a:buClr>
              <a:buSzPts val="3000"/>
              <a:buFont typeface="Arial"/>
              <a:buChar char="•"/>
            </a:pPr>
            <a:r>
              <a:rPr lang="en-US" sz="3000">
                <a:solidFill>
                  <a:srgbClr val="00667A"/>
                </a:solidFill>
                <a:latin typeface="Arial"/>
                <a:ea typeface="Arial"/>
                <a:cs typeface="Arial"/>
                <a:sym typeface="Arial"/>
              </a:rPr>
              <a:t>Privacy relates to respecting the rights of an individual to have their personal information collected, stored and maintained appropriately.</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Privacy is particularly significant in this digital era whereby large amounts of data is captured, held and extrapolated for analysis.</a:t>
            </a:r>
            <a:endParaRPr/>
          </a:p>
        </p:txBody>
      </p:sp>
      <p:sp>
        <p:nvSpPr>
          <p:cNvPr id="592" name="Google Shape;592;p3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93" name="Google Shape;593;p3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594" name="Google Shape;594;p3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99" name="Shape 599"/>
        <p:cNvGrpSpPr/>
        <p:nvPr/>
      </p:nvGrpSpPr>
      <p:grpSpPr>
        <a:xfrm>
          <a:off x="0" y="0"/>
          <a:ext cx="0" cy="0"/>
          <a:chOff x="0" y="0"/>
          <a:chExt cx="0" cy="0"/>
        </a:xfrm>
      </p:grpSpPr>
      <p:sp>
        <p:nvSpPr>
          <p:cNvPr id="600" name="Google Shape;600;p32"/>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32"/>
          <p:cNvSpPr txBox="1"/>
          <p:nvPr/>
        </p:nvSpPr>
        <p:spPr>
          <a:xfrm>
            <a:off x="2209800" y="1676834"/>
            <a:ext cx="14935200" cy="497084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Why privacy matters</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https://www.ted.com/talks/alessandro_acquisti_why_privacy_matters</a:t>
            </a:r>
            <a:r>
              <a:rPr lang="en-US" sz="3000">
                <a:solidFill>
                  <a:schemeClr val="lt1"/>
                </a:solidFill>
                <a:latin typeface="Arial"/>
                <a:ea typeface="Arial"/>
                <a:cs typeface="Arial"/>
                <a:sym typeface="Arial"/>
              </a:rPr>
              <a:t> (13:02)</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NSA</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4">
                  <a:extLst>
                    <a:ext uri="{A12FA001-AC4F-418D-AE19-62706E023703}">
                      <ahyp:hlinkClr val="tx"/>
                    </a:ext>
                  </a:extLst>
                </a:hlinkClick>
              </a:rPr>
              <a:t>https://www.ted.com/talks/catherine_crump_the_small_and_surprisingly_dangerous_detail_the_police_track_about_you</a:t>
            </a:r>
            <a:r>
              <a:rPr lang="en-US" sz="3000">
                <a:solidFill>
                  <a:schemeClr val="lt1"/>
                </a:solidFill>
                <a:latin typeface="Arial"/>
                <a:ea typeface="Arial"/>
                <a:cs typeface="Arial"/>
                <a:sym typeface="Arial"/>
              </a:rPr>
              <a:t> (11:13)</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trainer/assessor will facilitate a class discussion about the outcomes from the video. </a:t>
            </a:r>
            <a:endParaRPr/>
          </a:p>
        </p:txBody>
      </p:sp>
      <p:grpSp>
        <p:nvGrpSpPr>
          <p:cNvPr id="602" name="Google Shape;602;p32"/>
          <p:cNvGrpSpPr/>
          <p:nvPr/>
        </p:nvGrpSpPr>
        <p:grpSpPr>
          <a:xfrm>
            <a:off x="1028700" y="495300"/>
            <a:ext cx="17259300" cy="218203"/>
            <a:chOff x="1028700" y="723900"/>
            <a:chExt cx="17259300" cy="218203"/>
          </a:xfrm>
        </p:grpSpPr>
        <p:sp>
          <p:nvSpPr>
            <p:cNvPr id="603" name="Google Shape;603;p32"/>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32"/>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32"/>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32"/>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607" name="Google Shape;607;p32"/>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608" name="Google Shape;608;p3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609" name="Google Shape;609;p3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10" name="Google Shape;610;p3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611" name="Google Shape;611;p32"/>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16" name="Shape 616"/>
        <p:cNvGrpSpPr/>
        <p:nvPr/>
      </p:nvGrpSpPr>
      <p:grpSpPr>
        <a:xfrm>
          <a:off x="0" y="0"/>
          <a:ext cx="0" cy="0"/>
          <a:chOff x="0" y="0"/>
          <a:chExt cx="0" cy="0"/>
        </a:xfrm>
      </p:grpSpPr>
      <p:sp>
        <p:nvSpPr>
          <p:cNvPr id="617" name="Google Shape;617;p33"/>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33"/>
          <p:cNvSpPr txBox="1"/>
          <p:nvPr/>
        </p:nvSpPr>
        <p:spPr>
          <a:xfrm>
            <a:off x="2209800" y="1676834"/>
            <a:ext cx="14935200" cy="119750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Privacy policies.</a:t>
            </a:r>
            <a:endParaRPr/>
          </a:p>
        </p:txBody>
      </p:sp>
      <p:grpSp>
        <p:nvGrpSpPr>
          <p:cNvPr id="619" name="Google Shape;619;p33"/>
          <p:cNvGrpSpPr/>
          <p:nvPr/>
        </p:nvGrpSpPr>
        <p:grpSpPr>
          <a:xfrm>
            <a:off x="1028700" y="495300"/>
            <a:ext cx="17259300" cy="218203"/>
            <a:chOff x="1028700" y="723900"/>
            <a:chExt cx="17259300" cy="218203"/>
          </a:xfrm>
        </p:grpSpPr>
        <p:sp>
          <p:nvSpPr>
            <p:cNvPr id="620" name="Google Shape;620;p33"/>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33"/>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33"/>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33"/>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624" name="Google Shape;624;p3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25" name="Google Shape;625;p3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626" name="Google Shape;626;p3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27" name="Google Shape;627;p3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628" name="Google Shape;628;p33"/>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33" name="Shape 633"/>
        <p:cNvGrpSpPr/>
        <p:nvPr/>
      </p:nvGrpSpPr>
      <p:grpSpPr>
        <a:xfrm>
          <a:off x="0" y="0"/>
          <a:ext cx="0" cy="0"/>
          <a:chOff x="0" y="0"/>
          <a:chExt cx="0" cy="0"/>
        </a:xfrm>
      </p:grpSpPr>
      <p:sp>
        <p:nvSpPr>
          <p:cNvPr id="634" name="Google Shape;634;p34"/>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34"/>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Find a policy and procedures on the Internet that is concerned with privacy.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down the name of the policy and what it covers.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trainer/assessor will facilitate a class discussion about the outcomes of the research. </a:t>
            </a:r>
            <a:endParaRPr/>
          </a:p>
        </p:txBody>
      </p:sp>
      <p:grpSp>
        <p:nvGrpSpPr>
          <p:cNvPr id="636" name="Google Shape;636;p34"/>
          <p:cNvGrpSpPr/>
          <p:nvPr/>
        </p:nvGrpSpPr>
        <p:grpSpPr>
          <a:xfrm>
            <a:off x="1028700" y="495300"/>
            <a:ext cx="17259300" cy="218203"/>
            <a:chOff x="1028700" y="723900"/>
            <a:chExt cx="17259300" cy="218203"/>
          </a:xfrm>
        </p:grpSpPr>
        <p:sp>
          <p:nvSpPr>
            <p:cNvPr id="637" name="Google Shape;637;p34"/>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34"/>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34"/>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34"/>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641" name="Google Shape;641;p34"/>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42" name="Google Shape;642;p3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643" name="Google Shape;643;p3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44" name="Google Shape;644;p3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645" name="Google Shape;645;p34"/>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651" name="Google Shape;651;p35"/>
          <p:cNvGrpSpPr/>
          <p:nvPr/>
        </p:nvGrpSpPr>
        <p:grpSpPr>
          <a:xfrm>
            <a:off x="1028700" y="446788"/>
            <a:ext cx="17244000" cy="220041"/>
            <a:chOff x="0" y="0"/>
            <a:chExt cx="23454501" cy="293387"/>
          </a:xfrm>
        </p:grpSpPr>
        <p:sp>
          <p:nvSpPr>
            <p:cNvPr id="652" name="Google Shape;652;p35"/>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35"/>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35"/>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35"/>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6" name="Google Shape;656;p35"/>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35"/>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658" name="Google Shape;658;p35"/>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REVIEW OF PRIVACY POLICY AND PROCEDURES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Implementing regular reviews to ensure that the organisation is following legislation and standards can be carried out by aligning these to the organisation’s privacy policy and procedures.</a:t>
            </a:r>
            <a:endParaRPr/>
          </a:p>
        </p:txBody>
      </p:sp>
      <p:sp>
        <p:nvSpPr>
          <p:cNvPr id="659" name="Google Shape;659;p3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660" name="Google Shape;660;p3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661" name="Google Shape;661;p3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667" name="Google Shape;667;p36"/>
          <p:cNvGrpSpPr/>
          <p:nvPr/>
        </p:nvGrpSpPr>
        <p:grpSpPr>
          <a:xfrm>
            <a:off x="1028700" y="446788"/>
            <a:ext cx="17244000" cy="220041"/>
            <a:chOff x="0" y="0"/>
            <a:chExt cx="23454501" cy="293387"/>
          </a:xfrm>
        </p:grpSpPr>
        <p:sp>
          <p:nvSpPr>
            <p:cNvPr id="668" name="Google Shape;668;p36"/>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36"/>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36"/>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36"/>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2" name="Google Shape;672;p36"/>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36"/>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674" name="Google Shape;674;p36"/>
          <p:cNvSpPr txBox="1"/>
          <p:nvPr/>
        </p:nvSpPr>
        <p:spPr>
          <a:xfrm>
            <a:off x="1028700" y="1676834"/>
            <a:ext cx="12687300" cy="401795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INTEGRITY, CONFIDENTIALITY, SECURITY AND AVAILABILITY OF INFORMATION</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It is important to determine and document the integrity, confidentiality, security and availability of information as required by the organisation.</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This may require safeguards and control measures, performance criteria and key performance indicators to ensure that the policies are being followed. </a:t>
            </a:r>
            <a:endParaRPr/>
          </a:p>
        </p:txBody>
      </p:sp>
      <p:sp>
        <p:nvSpPr>
          <p:cNvPr id="675" name="Google Shape;675;p3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676" name="Google Shape;676;p3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677" name="Google Shape;677;p3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82" name="Shape 682"/>
        <p:cNvGrpSpPr/>
        <p:nvPr/>
      </p:nvGrpSpPr>
      <p:grpSpPr>
        <a:xfrm>
          <a:off x="0" y="0"/>
          <a:ext cx="0" cy="0"/>
          <a:chOff x="0" y="0"/>
          <a:chExt cx="0" cy="0"/>
        </a:xfrm>
      </p:grpSpPr>
      <p:sp>
        <p:nvSpPr>
          <p:cNvPr id="683" name="Google Shape;683;p37"/>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37"/>
          <p:cNvSpPr txBox="1"/>
          <p:nvPr/>
        </p:nvSpPr>
        <p:spPr>
          <a:xfrm>
            <a:off x="2209800" y="1676834"/>
            <a:ext cx="14935200" cy="51247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Brainstorm:</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What measures can you put in place to ensure the integrity of information?</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How can this be monitored?</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Consider the following: security and confidentiality </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List down all measures that can be taken to ensure that information is kept secure and confidential.</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trainer/assessor will facilitate a class discussion. </a:t>
            </a:r>
            <a:endParaRPr/>
          </a:p>
        </p:txBody>
      </p:sp>
      <p:grpSp>
        <p:nvGrpSpPr>
          <p:cNvPr id="685" name="Google Shape;685;p37"/>
          <p:cNvGrpSpPr/>
          <p:nvPr/>
        </p:nvGrpSpPr>
        <p:grpSpPr>
          <a:xfrm>
            <a:off x="1028700" y="495300"/>
            <a:ext cx="17259300" cy="218203"/>
            <a:chOff x="1028700" y="723900"/>
            <a:chExt cx="17259300" cy="218203"/>
          </a:xfrm>
        </p:grpSpPr>
        <p:sp>
          <p:nvSpPr>
            <p:cNvPr id="686" name="Google Shape;686;p37"/>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37"/>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37"/>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37"/>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690" name="Google Shape;690;p37"/>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91" name="Google Shape;691;p3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692" name="Google Shape;692;p3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93" name="Google Shape;693;p3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694" name="Google Shape;694;p37"/>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99" name="Shape 699"/>
        <p:cNvGrpSpPr/>
        <p:nvPr/>
      </p:nvGrpSpPr>
      <p:grpSpPr>
        <a:xfrm>
          <a:off x="0" y="0"/>
          <a:ext cx="0" cy="0"/>
          <a:chOff x="0" y="0"/>
          <a:chExt cx="0" cy="0"/>
        </a:xfrm>
      </p:grpSpPr>
      <p:sp>
        <p:nvSpPr>
          <p:cNvPr id="700" name="Google Shape;700;p38"/>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38"/>
          <p:cNvSpPr txBox="1"/>
          <p:nvPr/>
        </p:nvSpPr>
        <p:spPr>
          <a:xfrm>
            <a:off x="2209800" y="1676834"/>
            <a:ext cx="14935200" cy="51247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RTO Privacy Policy supplied to you by the trainer/assessor.</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Services Australia policy.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For each policy:</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Identify the related legislation.</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Do they meet the privacy principles set out in the Privacy Act? Provide examples.</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Assuming that the RTO will engage in social media, what standards should be followed by employees?</a:t>
            </a:r>
            <a:endParaRPr/>
          </a:p>
        </p:txBody>
      </p:sp>
      <p:grpSp>
        <p:nvGrpSpPr>
          <p:cNvPr id="702" name="Google Shape;702;p38"/>
          <p:cNvGrpSpPr/>
          <p:nvPr/>
        </p:nvGrpSpPr>
        <p:grpSpPr>
          <a:xfrm>
            <a:off x="1028700" y="495300"/>
            <a:ext cx="17259300" cy="218203"/>
            <a:chOff x="1028700" y="723900"/>
            <a:chExt cx="17259300" cy="218203"/>
          </a:xfrm>
        </p:grpSpPr>
        <p:sp>
          <p:nvSpPr>
            <p:cNvPr id="703" name="Google Shape;703;p38"/>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38"/>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38"/>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38"/>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707" name="Google Shape;707;p38"/>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08" name="Google Shape;708;p3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709" name="Google Shape;709;p3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10" name="Google Shape;710;p3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711" name="Google Shape;711;p38"/>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717" name="Google Shape;717;p39"/>
          <p:cNvGrpSpPr/>
          <p:nvPr/>
        </p:nvGrpSpPr>
        <p:grpSpPr>
          <a:xfrm>
            <a:off x="1028700" y="446788"/>
            <a:ext cx="17244000" cy="220041"/>
            <a:chOff x="0" y="0"/>
            <a:chExt cx="23454501" cy="293387"/>
          </a:xfrm>
        </p:grpSpPr>
        <p:sp>
          <p:nvSpPr>
            <p:cNvPr id="718" name="Google Shape;718;p39"/>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39"/>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39"/>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39"/>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2" name="Google Shape;722;p39"/>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39"/>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724" name="Google Shape;724;p39"/>
          <p:cNvSpPr txBox="1"/>
          <p:nvPr/>
        </p:nvSpPr>
        <p:spPr>
          <a:xfrm>
            <a:off x="1028700" y="1676834"/>
            <a:ext cx="12687300" cy="281147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REVIEWING CONTINUED CONFIDENTIALITY AND RIGHTS OF STAKEHOLDERS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Due to the changing nature of ICT, the industry and legislation surrounding it, to ensure the continued confidentiality and propriety rights of stakeholder’s interests, this should also be continually reviewed.</a:t>
            </a:r>
            <a:endParaRPr/>
          </a:p>
        </p:txBody>
      </p:sp>
      <p:sp>
        <p:nvSpPr>
          <p:cNvPr id="725" name="Google Shape;725;p3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726" name="Google Shape;726;p3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727" name="Google Shape;727;p3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733" name="Google Shape;733;p40"/>
          <p:cNvGrpSpPr/>
          <p:nvPr/>
        </p:nvGrpSpPr>
        <p:grpSpPr>
          <a:xfrm>
            <a:off x="1028700" y="446788"/>
            <a:ext cx="17244000" cy="220041"/>
            <a:chOff x="0" y="0"/>
            <a:chExt cx="23454501" cy="293387"/>
          </a:xfrm>
        </p:grpSpPr>
        <p:sp>
          <p:nvSpPr>
            <p:cNvPr id="734" name="Google Shape;734;p40"/>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40"/>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40"/>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40"/>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8" name="Google Shape;738;p40"/>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40"/>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740" name="Google Shape;740;p40"/>
          <p:cNvSpPr txBox="1"/>
          <p:nvPr/>
        </p:nvSpPr>
        <p:spPr>
          <a:xfrm>
            <a:off x="1028700" y="1676834"/>
            <a:ext cx="126873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FEEDBACK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Feedback can be used to respond to any issues, additions or modifications or approvals that may be required.</a:t>
            </a:r>
            <a:endParaRPr/>
          </a:p>
        </p:txBody>
      </p:sp>
      <p:sp>
        <p:nvSpPr>
          <p:cNvPr id="741" name="Google Shape;741;p4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742" name="Google Shape;742;p4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743" name="Google Shape;743;p4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pic>
        <p:nvPicPr>
          <p:cNvPr descr="A picture containing drawing, room&#10;&#10;Description automatically generated" id="744" name="Google Shape;744;p40"/>
          <p:cNvPicPr preferRelativeResize="0"/>
          <p:nvPr/>
        </p:nvPicPr>
        <p:blipFill rotWithShape="1">
          <a:blip r:embed="rId3">
            <a:alphaModFix/>
          </a:blip>
          <a:srcRect b="0" l="0" r="0" t="0"/>
          <a:stretch/>
        </p:blipFill>
        <p:spPr>
          <a:xfrm>
            <a:off x="11125200" y="3730348"/>
            <a:ext cx="5181600" cy="2906346"/>
          </a:xfrm>
          <a:prstGeom prst="rect">
            <a:avLst/>
          </a:prstGeom>
          <a:noFill/>
          <a:ln cap="flat" cmpd="sng" w="38100">
            <a:solidFill>
              <a:srgbClr val="00667A"/>
            </a:solidFill>
            <a:prstDash val="solid"/>
            <a:round/>
            <a:headEnd len="sm" w="sm" type="none"/>
            <a:tailEnd len="sm" w="sm" type="none"/>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749" name="Shape 749"/>
        <p:cNvGrpSpPr/>
        <p:nvPr/>
      </p:nvGrpSpPr>
      <p:grpSpPr>
        <a:xfrm>
          <a:off x="0" y="0"/>
          <a:ext cx="0" cy="0"/>
          <a:chOff x="0" y="0"/>
          <a:chExt cx="0" cy="0"/>
        </a:xfrm>
      </p:grpSpPr>
      <p:sp>
        <p:nvSpPr>
          <p:cNvPr id="750" name="Google Shape;750;p41"/>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41"/>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Research and discuss the following:</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How can you ensure that stakeholders review new policies or understand revisions and updates?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Present your findings to the rest of the class in a group discussion facilitated by the trainer/assessor.</a:t>
            </a:r>
            <a:endParaRPr/>
          </a:p>
        </p:txBody>
      </p:sp>
      <p:grpSp>
        <p:nvGrpSpPr>
          <p:cNvPr id="752" name="Google Shape;752;p41"/>
          <p:cNvGrpSpPr/>
          <p:nvPr/>
        </p:nvGrpSpPr>
        <p:grpSpPr>
          <a:xfrm>
            <a:off x="1028700" y="495300"/>
            <a:ext cx="17259300" cy="218203"/>
            <a:chOff x="1028700" y="723900"/>
            <a:chExt cx="17259300" cy="218203"/>
          </a:xfrm>
        </p:grpSpPr>
        <p:sp>
          <p:nvSpPr>
            <p:cNvPr id="753" name="Google Shape;753;p41"/>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41"/>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41"/>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41"/>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757" name="Google Shape;757;p41"/>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58" name="Google Shape;758;p4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759" name="Google Shape;759;p4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60" name="Google Shape;760;p4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761" name="Google Shape;761;p41"/>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767" name="Google Shape;767;p42"/>
          <p:cNvGrpSpPr/>
          <p:nvPr/>
        </p:nvGrpSpPr>
        <p:grpSpPr>
          <a:xfrm>
            <a:off x="1028700" y="446788"/>
            <a:ext cx="17244000" cy="220041"/>
            <a:chOff x="0" y="0"/>
            <a:chExt cx="23454501" cy="293387"/>
          </a:xfrm>
        </p:grpSpPr>
        <p:sp>
          <p:nvSpPr>
            <p:cNvPr id="768" name="Google Shape;768;p42"/>
            <p:cNvSpPr/>
            <p:nvPr/>
          </p:nvSpPr>
          <p:spPr>
            <a:xfrm>
              <a:off x="0" y="125899"/>
              <a:ext cx="23454501" cy="27726"/>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42"/>
            <p:cNvSpPr/>
            <p:nvPr/>
          </p:nvSpPr>
          <p:spPr>
            <a:xfrm>
              <a:off x="0" y="13863"/>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42"/>
            <p:cNvSpPr/>
            <p:nvPr/>
          </p:nvSpPr>
          <p:spPr>
            <a:xfrm>
              <a:off x="7770499"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42"/>
            <p:cNvSpPr/>
            <p:nvPr/>
          </p:nvSpPr>
          <p:spPr>
            <a:xfrm>
              <a:off x="15540998" y="0"/>
              <a:ext cx="292033" cy="279524"/>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2" name="Google Shape;772;p42"/>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42"/>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Privacy</a:t>
            </a:r>
            <a:endParaRPr/>
          </a:p>
        </p:txBody>
      </p:sp>
      <p:sp>
        <p:nvSpPr>
          <p:cNvPr id="774" name="Google Shape;774;p42"/>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IMPLEMENTING NEW WORK PROCEDURES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The point of a review plan is to find out what needs to be implemented in order to be compliant and also to meet any organisational outcomes. This could mean changing, adding and implementing new policies and procedures.</a:t>
            </a:r>
            <a:endParaRPr/>
          </a:p>
        </p:txBody>
      </p:sp>
      <p:sp>
        <p:nvSpPr>
          <p:cNvPr id="775" name="Google Shape;775;p4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776" name="Google Shape;776;p4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rgbClr val="00667A"/>
              </a:solidFill>
              <a:latin typeface="Arial"/>
              <a:ea typeface="Arial"/>
              <a:cs typeface="Arial"/>
              <a:sym typeface="Arial"/>
            </a:endParaRPr>
          </a:p>
        </p:txBody>
      </p:sp>
      <p:sp>
        <p:nvSpPr>
          <p:cNvPr id="777" name="Google Shape;777;p4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ICTICT618 </a:t>
            </a:r>
            <a:r>
              <a:rPr lang="en-US">
                <a:solidFill>
                  <a:srgbClr val="00667A"/>
                </a:solidFill>
                <a:latin typeface="Arial"/>
                <a:ea typeface="Arial"/>
                <a:cs typeface="Arial"/>
                <a:sym typeface="Arial"/>
              </a:rPr>
              <a:t>Manage IP, ethics and privacy in an ICT environment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782" name="Shape 782"/>
        <p:cNvGrpSpPr/>
        <p:nvPr/>
      </p:nvGrpSpPr>
      <p:grpSpPr>
        <a:xfrm>
          <a:off x="0" y="0"/>
          <a:ext cx="0" cy="0"/>
          <a:chOff x="0" y="0"/>
          <a:chExt cx="0" cy="0"/>
        </a:xfrm>
      </p:grpSpPr>
      <p:sp>
        <p:nvSpPr>
          <p:cNvPr id="783" name="Google Shape;783;p43"/>
          <p:cNvSpPr/>
          <p:nvPr/>
        </p:nvSpPr>
        <p:spPr>
          <a:xfrm>
            <a:off x="0" y="7886700"/>
            <a:ext cx="18288000" cy="162107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43"/>
          <p:cNvSpPr txBox="1"/>
          <p:nvPr/>
        </p:nvSpPr>
        <p:spPr>
          <a:xfrm>
            <a:off x="2209800" y="1676834"/>
            <a:ext cx="14935200" cy="119750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GROUP WORK</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Refer to the RTO privacy policy that your trainer provided to you for the past activity.</a:t>
            </a:r>
            <a:endParaRPr/>
          </a:p>
        </p:txBody>
      </p:sp>
      <p:grpSp>
        <p:nvGrpSpPr>
          <p:cNvPr id="785" name="Google Shape;785;p43"/>
          <p:cNvGrpSpPr/>
          <p:nvPr/>
        </p:nvGrpSpPr>
        <p:grpSpPr>
          <a:xfrm>
            <a:off x="1028700" y="495300"/>
            <a:ext cx="17259300" cy="218203"/>
            <a:chOff x="1028700" y="723900"/>
            <a:chExt cx="17259300" cy="218203"/>
          </a:xfrm>
        </p:grpSpPr>
        <p:sp>
          <p:nvSpPr>
            <p:cNvPr id="786" name="Google Shape;786;p43"/>
            <p:cNvSpPr/>
            <p:nvPr/>
          </p:nvSpPr>
          <p:spPr>
            <a:xfrm>
              <a:off x="1044000" y="826884"/>
              <a:ext cx="17244000" cy="2079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43"/>
            <p:cNvSpPr/>
            <p:nvPr/>
          </p:nvSpPr>
          <p:spPr>
            <a:xfrm>
              <a:off x="1028700" y="72390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43"/>
            <p:cNvSpPr/>
            <p:nvPr/>
          </p:nvSpPr>
          <p:spPr>
            <a:xfrm>
              <a:off x="6856574"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43"/>
            <p:cNvSpPr/>
            <p:nvPr/>
          </p:nvSpPr>
          <p:spPr>
            <a:xfrm>
              <a:off x="12684448" y="732460"/>
              <a:ext cx="219025" cy="20964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Head with gears" id="790" name="Google Shape;790;p4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91" name="Google Shape;791;p4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200">
              <a:solidFill>
                <a:schemeClr val="lt1"/>
              </a:solidFill>
              <a:latin typeface="Arial"/>
              <a:ea typeface="Arial"/>
              <a:cs typeface="Arial"/>
              <a:sym typeface="Arial"/>
            </a:endParaRPr>
          </a:p>
        </p:txBody>
      </p:sp>
      <p:sp>
        <p:nvSpPr>
          <p:cNvPr id="792" name="Google Shape;792;p4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93" name="Google Shape;793;p4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ICTICT618 </a:t>
            </a:r>
            <a:r>
              <a:rPr lang="en-US">
                <a:solidFill>
                  <a:schemeClr val="lt1"/>
                </a:solidFill>
                <a:latin typeface="Arial"/>
                <a:ea typeface="Arial"/>
                <a:cs typeface="Arial"/>
                <a:sym typeface="Arial"/>
              </a:rPr>
              <a:t>Manage IP, ethics and privacy in an ICT environment</a:t>
            </a:r>
            <a:endParaRPr/>
          </a:p>
        </p:txBody>
      </p:sp>
      <p:sp>
        <p:nvSpPr>
          <p:cNvPr id="794" name="Google Shape;794;p43"/>
          <p:cNvSpPr txBox="1"/>
          <p:nvPr/>
        </p:nvSpPr>
        <p:spPr>
          <a:xfrm>
            <a:off x="968154"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Privacy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FD0F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0x01010055C80B126816A9409F2C6B4A1A06B318</vt:lpwstr>
  </property>
  <property fmtid="{D5CDD505-2E9C-101B-9397-08002B2CF9AE}" pid="3" name="Order">
    <vt:r8>3085000.0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